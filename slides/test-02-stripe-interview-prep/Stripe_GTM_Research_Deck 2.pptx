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Lst>
  <p:sldSz cx="9144000" cy="51435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457200" y="69056"/>
            <a:ext cx="8229600" cy="1131094"/>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457200" y="1200150"/>
            <a:ext cx="8229600" cy="394335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4419600" y="4627562"/>
            <a:ext cx="2133600" cy="2794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A1F36"/>
        </a:solidFill>
      </p:bgPr>
    </p:bg>
    <p:spTree>
      <p:nvGrpSpPr>
        <p:cNvPr id="1" name=""/>
        <p:cNvGrpSpPr/>
        <p:nvPr/>
      </p:nvGrpSpPr>
      <p:grpSpPr>
        <a:xfrm>
          <a:off x="0" y="0"/>
          <a:ext cx="0" cy="0"/>
          <a:chOff x="0" y="0"/>
          <a:chExt cx="0" cy="0"/>
        </a:xfrm>
      </p:grpSpPr>
      <p:sp>
        <p:nvSpPr>
          <p:cNvPr id="20" name="Text 0"/>
          <p:cNvSpPr txBox="1"/>
          <p:nvPr/>
        </p:nvSpPr>
        <p:spPr>
          <a:xfrm>
            <a:off x="640079" y="1017904"/>
            <a:ext cx="7863842" cy="125603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15000"/>
              </a:lnSpc>
              <a:defRPr b="1" sz="4000">
                <a:solidFill>
                  <a:srgbClr val="FFFFFF"/>
                </a:solidFill>
                <a:latin typeface="Georgia"/>
                <a:ea typeface="Georgia"/>
                <a:cs typeface="Georgia"/>
                <a:sym typeface="Georgia"/>
              </a:defRPr>
            </a:pPr>
            <a:r>
              <a:t>Stripe GTM</a:t>
            </a:r>
          </a:p>
          <a:p>
            <a:pPr>
              <a:lnSpc>
                <a:spcPct val="115000"/>
              </a:lnSpc>
              <a:defRPr b="1" sz="4000">
                <a:solidFill>
                  <a:srgbClr val="FFFFFF"/>
                </a:solidFill>
                <a:latin typeface="Georgia"/>
                <a:ea typeface="Georgia"/>
                <a:cs typeface="Georgia"/>
                <a:sym typeface="Georgia"/>
              </a:defRPr>
            </a:pPr>
            <a:r>
              <a:t>Writing Assignment</a:t>
            </a:r>
          </a:p>
        </p:txBody>
      </p:sp>
      <p:sp>
        <p:nvSpPr>
          <p:cNvPr id="21" name="Text 2"/>
          <p:cNvSpPr txBox="1"/>
          <p:nvPr/>
        </p:nvSpPr>
        <p:spPr>
          <a:xfrm>
            <a:off x="640079" y="3033856"/>
            <a:ext cx="7863842"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a:solidFill>
                  <a:srgbClr val="8898AA"/>
                </a:solidFill>
              </a:defRPr>
            </a:lvl1pPr>
          </a:lstStyle>
          <a:p>
            <a:pPr/>
            <a:r>
              <a:t>Research Foundation &amp; Opportunity Analysis</a:t>
            </a:r>
          </a:p>
        </p:txBody>
      </p:sp>
      <p:sp>
        <p:nvSpPr>
          <p:cNvPr id="22" name="Text 3"/>
          <p:cNvSpPr txBox="1"/>
          <p:nvPr/>
        </p:nvSpPr>
        <p:spPr>
          <a:xfrm>
            <a:off x="685799" y="3975538"/>
            <a:ext cx="7772402" cy="4614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b="1" sz="1300">
                <a:solidFill>
                  <a:srgbClr val="635BFF"/>
                </a:solidFill>
              </a:defRPr>
            </a:pPr>
            <a:r>
              <a:t>Built with Claude Cowork</a:t>
            </a:r>
          </a:p>
          <a:p>
            <a:pPr>
              <a:defRPr sz="1300">
                <a:solidFill>
                  <a:srgbClr val="8898AA"/>
                </a:solidFill>
              </a:defRPr>
            </a:pPr>
            <a:r>
              <a:t>February 2026</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A1F36"/>
        </a:solidFill>
      </p:bgPr>
    </p:bg>
    <p:spTree>
      <p:nvGrpSpPr>
        <p:cNvPr id="1" name=""/>
        <p:cNvGrpSpPr/>
        <p:nvPr/>
      </p:nvGrpSpPr>
      <p:grpSpPr>
        <a:xfrm>
          <a:off x="0" y="0"/>
          <a:ext cx="0" cy="0"/>
          <a:chOff x="0" y="0"/>
          <a:chExt cx="0" cy="0"/>
        </a:xfrm>
      </p:grpSpPr>
      <p:sp>
        <p:nvSpPr>
          <p:cNvPr id="24" name="Text 0"/>
          <p:cNvSpPr txBox="1"/>
          <p:nvPr/>
        </p:nvSpPr>
        <p:spPr>
          <a:xfrm>
            <a:off x="640079" y="390066"/>
            <a:ext cx="7863842"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400" sz="1100">
                <a:solidFill>
                  <a:srgbClr val="635BFF"/>
                </a:solidFill>
              </a:defRPr>
            </a:lvl1pPr>
          </a:lstStyle>
          <a:p>
            <a:pPr/>
            <a:r>
              <a:t>THE OPENING PROMPT</a:t>
            </a:r>
          </a:p>
        </p:txBody>
      </p:sp>
      <p:sp>
        <p:nvSpPr>
          <p:cNvPr id="25" name="Text 1"/>
          <p:cNvSpPr txBox="1"/>
          <p:nvPr/>
        </p:nvSpPr>
        <p:spPr>
          <a:xfrm>
            <a:off x="685799" y="605594"/>
            <a:ext cx="7772402" cy="43473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30000"/>
              </a:lnSpc>
              <a:defRPr sz="1000">
                <a:solidFill>
                  <a:srgbClr val="8898AA"/>
                </a:solidFill>
              </a:defRPr>
            </a:lvl1pPr>
          </a:lstStyle>
          <a:p>
            <a:pPr/>
            <a:r>
              <a:t>This is the exact prompt that kicked off the research session. It defined the goal, broke the work into parallel workstreams, and stated the intent behind each one.</a:t>
            </a:r>
          </a:p>
        </p:txBody>
      </p:sp>
      <p:sp>
        <p:nvSpPr>
          <p:cNvPr id="26" name="Text 3"/>
          <p:cNvSpPr txBox="1"/>
          <p:nvPr/>
        </p:nvSpPr>
        <p:spPr>
          <a:xfrm>
            <a:off x="960119" y="1234439"/>
            <a:ext cx="7223762" cy="297171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125000"/>
              </a:lnSpc>
              <a:defRPr i="1" sz="800">
                <a:solidFill>
                  <a:srgbClr val="F6F9FC"/>
                </a:solidFill>
                <a:latin typeface="Georgia"/>
                <a:ea typeface="Georgia"/>
                <a:cs typeface="Georgia"/>
                <a:sym typeface="Georgia"/>
              </a:defRPr>
            </a:pPr>
            <a:r>
              <a:t>"My friend is interviewing at Stripe and received this writing assignment. I thought it would be fun to try alongside him. I don’t expect you to do the work, but I do want you to help me do some prep.</a:t>
            </a:r>
          </a:p>
          <a:p>
            <a:pPr>
              <a:lnSpc>
                <a:spcPct val="125000"/>
              </a:lnSpc>
              <a:defRPr sz="800"/>
            </a:pPr>
          </a:p>
          <a:p>
            <a:pPr>
              <a:lnSpc>
                <a:spcPct val="125000"/>
              </a:lnSpc>
              <a:defRPr i="1" sz="800">
                <a:solidFill>
                  <a:srgbClr val="F6F9FC"/>
                </a:solidFill>
                <a:latin typeface="Georgia"/>
                <a:ea typeface="Georgia"/>
                <a:cs typeface="Georgia"/>
                <a:sym typeface="Georgia"/>
              </a:defRPr>
            </a:pPr>
            <a:r>
              <a:t>We are nowhere close to the actual writing assignment — for now we are just in research and documentation mode. You have access to a local folder, please generate the assets in the below research tasks that we will need access to when we begin actually ideating and writing.</a:t>
            </a:r>
          </a:p>
          <a:p>
            <a:pPr>
              <a:lnSpc>
                <a:spcPct val="125000"/>
              </a:lnSpc>
              <a:defRPr sz="800"/>
            </a:pPr>
          </a:p>
          <a:p>
            <a:pPr>
              <a:lnSpc>
                <a:spcPct val="125000"/>
              </a:lnSpc>
              <a:defRPr i="1" sz="800">
                <a:solidFill>
                  <a:srgbClr val="F6F9FC"/>
                </a:solidFill>
                <a:latin typeface="Georgia"/>
                <a:ea typeface="Georgia"/>
                <a:cs typeface="Georgia"/>
                <a:sym typeface="Georgia"/>
              </a:defRPr>
            </a:pPr>
            <a:r>
              <a:t>First, I want you to do EXHAUSTIVE research about mental models and communications approaches that are used at Stripe. Do they have a standard format for a three-page memo? Do stripe memos always cover the same topics (like an amazon 3-pager)? Is there a standard framework/mental model that stripe employees use for decision analysis? Explore both primary sources and secondary sources (e.g. what has claire hughes johnson written about memo culture and mental models at stripe).</a:t>
            </a:r>
          </a:p>
          <a:p>
            <a:pPr>
              <a:lnSpc>
                <a:spcPct val="125000"/>
              </a:lnSpc>
              <a:defRPr sz="800"/>
            </a:pPr>
          </a:p>
          <a:p>
            <a:pPr>
              <a:lnSpc>
                <a:spcPct val="125000"/>
              </a:lnSpc>
              <a:defRPr i="1" sz="800">
                <a:solidFill>
                  <a:srgbClr val="F6F9FC"/>
                </a:solidFill>
                <a:latin typeface="Georgia"/>
                <a:ea typeface="Georgia"/>
                <a:cs typeface="Georgia"/>
                <a:sym typeface="Georgia"/>
              </a:defRPr>
            </a:pPr>
            <a:r>
              <a:t>Next I want your help compiling a comprehensive map of stripe’s current business — both the core (e.g. payments processing), side businesses (e.g. atlas), and nascent investments (e.g. stablecoins). my goal: I don’t want to recommend anything they are doing.</a:t>
            </a:r>
          </a:p>
          <a:p>
            <a:pPr>
              <a:lnSpc>
                <a:spcPct val="125000"/>
              </a:lnSpc>
              <a:defRPr sz="800"/>
            </a:pPr>
          </a:p>
          <a:p>
            <a:pPr>
              <a:lnSpc>
                <a:spcPct val="125000"/>
              </a:lnSpc>
              <a:defRPr i="1" sz="800">
                <a:solidFill>
                  <a:srgbClr val="F6F9FC"/>
                </a:solidFill>
                <a:latin typeface="Georgia"/>
                <a:ea typeface="Georgia"/>
                <a:cs typeface="Georgia"/>
                <a:sym typeface="Georgia"/>
              </a:defRPr>
            </a:pPr>
            <a:r>
              <a:t>Next I want your help compiling a list of attractive business opportunities that the collisons have stated interest in, e.g. in the recent stripe sessions keynotes, or even just in interviews on the cheeky pint show. use my chrome browser if helpful to pull episodes and inspect their transcripts (compile locally). my goal: I want to be aware of but not captive to where the collisons say the puck is going.</a:t>
            </a:r>
          </a:p>
          <a:p>
            <a:pPr>
              <a:lnSpc>
                <a:spcPct val="125000"/>
              </a:lnSpc>
              <a:defRPr sz="800"/>
            </a:pPr>
          </a:p>
          <a:p>
            <a:pPr>
              <a:lnSpc>
                <a:spcPct val="125000"/>
              </a:lnSpc>
              <a:defRPr i="1" sz="800">
                <a:solidFill>
                  <a:srgbClr val="F6F9FC"/>
                </a:solidFill>
                <a:latin typeface="Georgia"/>
                <a:ea typeface="Georgia"/>
                <a:cs typeface="Georgia"/>
                <a:sym typeface="Georgia"/>
              </a:defRPr>
            </a:pPr>
            <a:r>
              <a:t>Last, please state what the most obvious customer segment growth opportunities are. I want this to be a deep and rigorous, MBA-worthy analysis based on your prior research. my goal: I don’t want to recommend anything that is too consensus/obvious."</a:t>
            </a:r>
          </a:p>
        </p:txBody>
      </p:sp>
      <p:sp>
        <p:nvSpPr>
          <p:cNvPr id="27" name="Text 4"/>
          <p:cNvSpPr txBox="1"/>
          <p:nvPr/>
        </p:nvSpPr>
        <p:spPr>
          <a:xfrm>
            <a:off x="7818119" y="4789083"/>
            <a:ext cx="100584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8898AA"/>
                </a:solidFill>
              </a:defRPr>
            </a:lvl1pPr>
          </a:lstStyle>
          <a:p>
            <a:pPr/>
            <a:r>
              <a:t>2 / 34</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A1F36"/>
        </a:solidFill>
      </p:bgPr>
    </p:bg>
    <p:spTree>
      <p:nvGrpSpPr>
        <p:cNvPr id="1" name=""/>
        <p:cNvGrpSpPr/>
        <p:nvPr/>
      </p:nvGrpSpPr>
      <p:grpSpPr>
        <a:xfrm>
          <a:off x="0" y="0"/>
          <a:ext cx="0" cy="0"/>
          <a:chOff x="0" y="0"/>
          <a:chExt cx="0" cy="0"/>
        </a:xfrm>
      </p:grpSpPr>
      <p:sp>
        <p:nvSpPr>
          <p:cNvPr id="29" name="Text 0"/>
          <p:cNvSpPr txBox="1"/>
          <p:nvPr/>
        </p:nvSpPr>
        <p:spPr>
          <a:xfrm>
            <a:off x="640079" y="358140"/>
            <a:ext cx="7863842"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600">
                <a:solidFill>
                  <a:srgbClr val="FFFFFF"/>
                </a:solidFill>
                <a:latin typeface="Georgia"/>
                <a:ea typeface="Georgia"/>
                <a:cs typeface="Georgia"/>
                <a:sym typeface="Georgia"/>
              </a:defRPr>
            </a:lvl1pPr>
          </a:lstStyle>
          <a:p>
            <a:pPr/>
            <a:r>
              <a:t>Research Arc: Flare → Focus</a:t>
            </a:r>
          </a:p>
        </p:txBody>
      </p:sp>
      <p:sp>
        <p:nvSpPr>
          <p:cNvPr id="30" name="Text 1"/>
          <p:cNvSpPr txBox="1"/>
          <p:nvPr/>
        </p:nvSpPr>
        <p:spPr>
          <a:xfrm>
            <a:off x="685799" y="863772"/>
            <a:ext cx="7772402" cy="64989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35000"/>
              </a:lnSpc>
              <a:defRPr sz="1100">
                <a:solidFill>
                  <a:srgbClr val="E3E8EE"/>
                </a:solidFill>
              </a:defRPr>
            </a:lvl1pPr>
          </a:lstStyle>
          <a:p>
            <a:pPr/>
            <a:r>
              <a:t>The project was designed as a diverge-then-converge research process. Broad, parallel exploration first. Synthesis and scoring second. The goal was never to arrive at an answer in one shot — it was to build the knowledge base required to write something genuinely differentiated.</a:t>
            </a:r>
          </a:p>
        </p:txBody>
      </p:sp>
      <p:sp>
        <p:nvSpPr>
          <p:cNvPr id="31" name="Text 3"/>
          <p:cNvSpPr txBox="1"/>
          <p:nvPr/>
        </p:nvSpPr>
        <p:spPr>
          <a:xfrm>
            <a:off x="822960" y="1853106"/>
            <a:ext cx="34290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300" sz="1100">
                <a:solidFill>
                  <a:srgbClr val="635BFF"/>
                </a:solidFill>
              </a:defRPr>
            </a:lvl1pPr>
          </a:lstStyle>
          <a:p>
            <a:pPr/>
            <a:r>
              <a:t>DIVERGE</a:t>
            </a:r>
          </a:p>
        </p:txBody>
      </p:sp>
      <p:sp>
        <p:nvSpPr>
          <p:cNvPr id="32" name="Text 4"/>
          <p:cNvSpPr txBox="1"/>
          <p:nvPr/>
        </p:nvSpPr>
        <p:spPr>
          <a:xfrm>
            <a:off x="822960" y="2093267"/>
            <a:ext cx="342900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FFFFFF"/>
                </a:solidFill>
              </a:defRPr>
            </a:lvl1pPr>
          </a:lstStyle>
          <a:p>
            <a:pPr/>
            <a:r>
              <a:t>Broad, parallel exploration</a:t>
            </a:r>
          </a:p>
        </p:txBody>
      </p:sp>
      <p:sp>
        <p:nvSpPr>
          <p:cNvPr id="33" name="Text 5"/>
          <p:cNvSpPr txBox="1"/>
          <p:nvPr/>
        </p:nvSpPr>
        <p:spPr>
          <a:xfrm>
            <a:off x="822960" y="2487676"/>
            <a:ext cx="34290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marL="342900" indent="-342900">
              <a:buSzPct val="100000"/>
              <a:buChar char="•"/>
              <a:defRPr sz="900">
                <a:solidFill>
                  <a:srgbClr val="E3E8EE"/>
                </a:solidFill>
              </a:defRPr>
            </a:lvl1pPr>
          </a:lstStyle>
          <a:p>
            <a:pPr/>
            <a:r>
              <a:t>3 research agents running simultaneously</a:t>
            </a:r>
          </a:p>
        </p:txBody>
      </p:sp>
      <p:sp>
        <p:nvSpPr>
          <p:cNvPr id="34" name="Text 6"/>
          <p:cNvSpPr txBox="1"/>
          <p:nvPr/>
        </p:nvSpPr>
        <p:spPr>
          <a:xfrm>
            <a:off x="822960" y="2761995"/>
            <a:ext cx="34290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marL="342900" indent="-342900">
              <a:buSzPct val="100000"/>
              <a:buChar char="•"/>
              <a:defRPr sz="900">
                <a:solidFill>
                  <a:srgbClr val="E3E8EE"/>
                </a:solidFill>
              </a:defRPr>
            </a:lvl1pPr>
          </a:lstStyle>
          <a:p>
            <a:pPr/>
            <a:r>
              <a:t>40+ web sources across primary &amp; secondary</a:t>
            </a:r>
          </a:p>
        </p:txBody>
      </p:sp>
      <p:sp>
        <p:nvSpPr>
          <p:cNvPr id="35" name="Text 7"/>
          <p:cNvSpPr txBox="1"/>
          <p:nvPr/>
        </p:nvSpPr>
        <p:spPr>
          <a:xfrm>
            <a:off x="822960" y="3036315"/>
            <a:ext cx="34290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marL="342900" indent="-342900">
              <a:buSzPct val="100000"/>
              <a:buChar char="•"/>
              <a:defRPr sz="900">
                <a:solidFill>
                  <a:srgbClr val="E3E8EE"/>
                </a:solidFill>
              </a:defRPr>
            </a:lvl1pPr>
          </a:lstStyle>
          <a:p>
            <a:pPr/>
            <a:r>
              <a:t>Chrome browser extracting podcast transcripts</a:t>
            </a:r>
          </a:p>
        </p:txBody>
      </p:sp>
      <p:sp>
        <p:nvSpPr>
          <p:cNvPr id="36" name="Text 8"/>
          <p:cNvSpPr txBox="1"/>
          <p:nvPr/>
        </p:nvSpPr>
        <p:spPr>
          <a:xfrm>
            <a:off x="822960" y="3310636"/>
            <a:ext cx="34290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marL="342900" indent="-342900">
              <a:buSzPct val="100000"/>
              <a:buChar char="•"/>
              <a:defRPr sz="900">
                <a:solidFill>
                  <a:srgbClr val="E3E8EE"/>
                </a:solidFill>
              </a:defRPr>
            </a:lvl1pPr>
          </a:lstStyle>
          <a:p>
            <a:pPr/>
            <a:r>
              <a:t>Stripe newsroom, product pages, annual letters</a:t>
            </a:r>
          </a:p>
        </p:txBody>
      </p:sp>
      <p:sp>
        <p:nvSpPr>
          <p:cNvPr id="37" name="Text 9"/>
          <p:cNvSpPr txBox="1"/>
          <p:nvPr/>
        </p:nvSpPr>
        <p:spPr>
          <a:xfrm>
            <a:off x="822960" y="3584956"/>
            <a:ext cx="34290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marL="342900" indent="-342900">
              <a:buSzPct val="100000"/>
              <a:buChar char="•"/>
              <a:defRPr sz="900">
                <a:solidFill>
                  <a:srgbClr val="E3E8EE"/>
                </a:solidFill>
              </a:defRPr>
            </a:lvl1pPr>
          </a:lstStyle>
          <a:p>
            <a:pPr/>
            <a:r>
              <a:t>Claire Hughes Johnson interviews &amp; book</a:t>
            </a:r>
          </a:p>
        </p:txBody>
      </p:sp>
      <p:sp>
        <p:nvSpPr>
          <p:cNvPr id="38" name="Text 10"/>
          <p:cNvSpPr txBox="1"/>
          <p:nvPr/>
        </p:nvSpPr>
        <p:spPr>
          <a:xfrm>
            <a:off x="822960" y="3859275"/>
            <a:ext cx="34290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marL="342900" indent="-342900">
              <a:buSzPct val="100000"/>
              <a:buChar char="•"/>
              <a:defRPr sz="900">
                <a:solidFill>
                  <a:srgbClr val="E3E8EE"/>
                </a:solidFill>
              </a:defRPr>
            </a:lvl1pPr>
          </a:lstStyle>
          <a:p>
            <a:pPr/>
            <a:r>
              <a:t>Collison keynotes, AMAs, fireside chats</a:t>
            </a:r>
          </a:p>
        </p:txBody>
      </p:sp>
      <p:sp>
        <p:nvSpPr>
          <p:cNvPr id="39" name="Text 11"/>
          <p:cNvSpPr txBox="1"/>
          <p:nvPr/>
        </p:nvSpPr>
        <p:spPr>
          <a:xfrm>
            <a:off x="4480560" y="2612261"/>
            <a:ext cx="182881" cy="44475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2800">
                <a:solidFill>
                  <a:srgbClr val="635BFF"/>
                </a:solidFill>
              </a:defRPr>
            </a:lvl1pPr>
          </a:lstStyle>
          <a:p>
            <a:pPr/>
            <a:r>
              <a:t>→</a:t>
            </a:r>
          </a:p>
        </p:txBody>
      </p:sp>
      <p:sp>
        <p:nvSpPr>
          <p:cNvPr id="40" name="Text 13"/>
          <p:cNvSpPr txBox="1"/>
          <p:nvPr/>
        </p:nvSpPr>
        <p:spPr>
          <a:xfrm>
            <a:off x="4892040" y="1853106"/>
            <a:ext cx="34290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300" sz="1100">
                <a:solidFill>
                  <a:srgbClr val="10B981"/>
                </a:solidFill>
              </a:defRPr>
            </a:lvl1pPr>
          </a:lstStyle>
          <a:p>
            <a:pPr/>
            <a:r>
              <a:t>CONVERGE</a:t>
            </a:r>
          </a:p>
        </p:txBody>
      </p:sp>
      <p:sp>
        <p:nvSpPr>
          <p:cNvPr id="41" name="Text 14"/>
          <p:cNvSpPr txBox="1"/>
          <p:nvPr/>
        </p:nvSpPr>
        <p:spPr>
          <a:xfrm>
            <a:off x="4892040" y="2093267"/>
            <a:ext cx="342900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FFFFFF"/>
                </a:solidFill>
              </a:defRPr>
            </a:lvl1pPr>
          </a:lstStyle>
          <a:p>
            <a:pPr/>
            <a:r>
              <a:t>Synthesis, scoring, elimination</a:t>
            </a:r>
          </a:p>
        </p:txBody>
      </p:sp>
      <p:sp>
        <p:nvSpPr>
          <p:cNvPr id="42" name="Text 15"/>
          <p:cNvSpPr txBox="1"/>
          <p:nvPr/>
        </p:nvSpPr>
        <p:spPr>
          <a:xfrm>
            <a:off x="4892040" y="2487676"/>
            <a:ext cx="34290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marL="342900" indent="-342900">
              <a:buSzPct val="100000"/>
              <a:buChar char="•"/>
              <a:defRPr sz="900">
                <a:solidFill>
                  <a:srgbClr val="E3E8EE"/>
                </a:solidFill>
              </a:defRPr>
            </a:lvl1pPr>
          </a:lstStyle>
          <a:p>
            <a:pPr/>
            <a:r>
              <a:t>Cross-reference findings into exclusion zone</a:t>
            </a:r>
          </a:p>
        </p:txBody>
      </p:sp>
      <p:sp>
        <p:nvSpPr>
          <p:cNvPr id="43" name="Text 16"/>
          <p:cNvSpPr txBox="1"/>
          <p:nvPr/>
        </p:nvSpPr>
        <p:spPr>
          <a:xfrm>
            <a:off x="4892040" y="2761995"/>
            <a:ext cx="34290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marL="342900" indent="-342900">
              <a:buSzPct val="100000"/>
              <a:buChar char="•"/>
              <a:defRPr sz="900">
                <a:solidFill>
                  <a:srgbClr val="E3E8EE"/>
                </a:solidFill>
              </a:defRPr>
            </a:lvl1pPr>
          </a:lstStyle>
          <a:p>
            <a:pPr/>
            <a:r>
              <a:t>Score 10 consensus opportunities (7–10/10)</a:t>
            </a:r>
          </a:p>
        </p:txBody>
      </p:sp>
      <p:sp>
        <p:nvSpPr>
          <p:cNvPr id="44" name="Text 17"/>
          <p:cNvSpPr txBox="1"/>
          <p:nvPr/>
        </p:nvSpPr>
        <p:spPr>
          <a:xfrm>
            <a:off x="4892040" y="3036315"/>
            <a:ext cx="34290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marL="342900" indent="-342900">
              <a:buSzPct val="100000"/>
              <a:buChar char="•"/>
              <a:defRPr sz="900">
                <a:solidFill>
                  <a:srgbClr val="E3E8EE"/>
                </a:solidFill>
              </a:defRPr>
            </a:lvl1pPr>
          </a:lstStyle>
          <a:p>
            <a:pPr/>
            <a:r>
              <a:t>Generate 20 non-consensus alternatives</a:t>
            </a:r>
          </a:p>
        </p:txBody>
      </p:sp>
      <p:sp>
        <p:nvSpPr>
          <p:cNvPr id="45" name="Text 18"/>
          <p:cNvSpPr txBox="1"/>
          <p:nvPr/>
        </p:nvSpPr>
        <p:spPr>
          <a:xfrm>
            <a:off x="4892040" y="3310636"/>
            <a:ext cx="34290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marL="342900" indent="-342900">
              <a:buSzPct val="100000"/>
              <a:buChar char="•"/>
              <a:defRPr sz="900">
                <a:solidFill>
                  <a:srgbClr val="E3E8EE"/>
                </a:solidFill>
              </a:defRPr>
            </a:lvl1pPr>
          </a:lstStyle>
          <a:p>
            <a:pPr/>
            <a:r>
              <a:t>Filter to 6 through Stripe philosophy lens</a:t>
            </a:r>
          </a:p>
        </p:txBody>
      </p:sp>
      <p:sp>
        <p:nvSpPr>
          <p:cNvPr id="46" name="Text 19"/>
          <p:cNvSpPr txBox="1"/>
          <p:nvPr/>
        </p:nvSpPr>
        <p:spPr>
          <a:xfrm>
            <a:off x="4892040" y="3584956"/>
            <a:ext cx="34290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marL="342900" indent="-342900">
              <a:buSzPct val="100000"/>
              <a:buChar char="•"/>
              <a:defRPr sz="900">
                <a:solidFill>
                  <a:srgbClr val="E3E8EE"/>
                </a:solidFill>
              </a:defRPr>
            </a:lvl1pPr>
          </a:lstStyle>
          <a:p>
            <a:pPr/>
            <a:r>
              <a:t>Score on 4 structural dimensions</a:t>
            </a:r>
          </a:p>
        </p:txBody>
      </p:sp>
      <p:sp>
        <p:nvSpPr>
          <p:cNvPr id="47" name="Text 20"/>
          <p:cNvSpPr txBox="1"/>
          <p:nvPr/>
        </p:nvSpPr>
        <p:spPr>
          <a:xfrm>
            <a:off x="4892040" y="3859275"/>
            <a:ext cx="34290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marL="342900" indent="-342900">
              <a:buSzPct val="100000"/>
              <a:buChar char="•"/>
              <a:defRPr sz="900">
                <a:solidFill>
                  <a:srgbClr val="E3E8EE"/>
                </a:solidFill>
              </a:defRPr>
            </a:lvl1pPr>
          </a:lstStyle>
          <a:p>
            <a:pPr/>
            <a:r>
              <a:t>Rank to identify top recommendations</a:t>
            </a:r>
          </a:p>
        </p:txBody>
      </p:sp>
      <p:sp>
        <p:nvSpPr>
          <p:cNvPr id="48" name="Text 22"/>
          <p:cNvSpPr txBox="1"/>
          <p:nvPr/>
        </p:nvSpPr>
        <p:spPr>
          <a:xfrm>
            <a:off x="685799" y="4549184"/>
            <a:ext cx="7772402"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000">
                <a:solidFill>
                  <a:srgbClr val="8898AA"/>
                </a:solidFill>
              </a:defRPr>
            </a:lvl1pPr>
          </a:lstStyle>
          <a:p>
            <a:pPr/>
            <a:r>
              <a:t>6 conversational turns  ·  4 research deliverables  ·  ~20 minutes start to finish</a:t>
            </a:r>
          </a:p>
        </p:txBody>
      </p:sp>
      <p:sp>
        <p:nvSpPr>
          <p:cNvPr id="49" name="Text 23"/>
          <p:cNvSpPr txBox="1"/>
          <p:nvPr/>
        </p:nvSpPr>
        <p:spPr>
          <a:xfrm>
            <a:off x="7818119" y="4789083"/>
            <a:ext cx="100584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8898AA"/>
                </a:solidFill>
              </a:defRPr>
            </a:lvl1pPr>
          </a:lstStyle>
          <a:p>
            <a:pPr/>
            <a:r>
              <a:t>3 / 34</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A1F36"/>
        </a:solidFill>
      </p:bgPr>
    </p:bg>
    <p:spTree>
      <p:nvGrpSpPr>
        <p:cNvPr id="1" name=""/>
        <p:cNvGrpSpPr/>
        <p:nvPr/>
      </p:nvGrpSpPr>
      <p:grpSpPr>
        <a:xfrm>
          <a:off x="0" y="0"/>
          <a:ext cx="0" cy="0"/>
          <a:chOff x="0" y="0"/>
          <a:chExt cx="0" cy="0"/>
        </a:xfrm>
      </p:grpSpPr>
      <p:sp>
        <p:nvSpPr>
          <p:cNvPr id="51" name="Text 0"/>
          <p:cNvSpPr txBox="1"/>
          <p:nvPr/>
        </p:nvSpPr>
        <p:spPr>
          <a:xfrm>
            <a:off x="640079" y="436879"/>
            <a:ext cx="7863842"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800">
                <a:solidFill>
                  <a:srgbClr val="FFFFFF"/>
                </a:solidFill>
                <a:latin typeface="Georgia"/>
                <a:ea typeface="Georgia"/>
                <a:cs typeface="Georgia"/>
                <a:sym typeface="Georgia"/>
              </a:defRPr>
            </a:lvl1pPr>
          </a:lstStyle>
          <a:p>
            <a:pPr/>
            <a:r>
              <a:t>How We Got Here</a:t>
            </a:r>
          </a:p>
        </p:txBody>
      </p:sp>
      <p:sp>
        <p:nvSpPr>
          <p:cNvPr id="52" name="Text 1"/>
          <p:cNvSpPr txBox="1"/>
          <p:nvPr/>
        </p:nvSpPr>
        <p:spPr>
          <a:xfrm>
            <a:off x="640080" y="1188719"/>
            <a:ext cx="54864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a:solidFill>
                  <a:srgbClr val="635BFF"/>
                </a:solidFill>
                <a:latin typeface="Georgia"/>
                <a:ea typeface="Georgia"/>
                <a:cs typeface="Georgia"/>
                <a:sym typeface="Georgia"/>
              </a:defRPr>
            </a:lvl1pPr>
          </a:lstStyle>
          <a:p>
            <a:pPr/>
            <a:r>
              <a:t>01</a:t>
            </a:r>
          </a:p>
        </p:txBody>
      </p:sp>
      <p:sp>
        <p:nvSpPr>
          <p:cNvPr id="53" name="Text 2"/>
          <p:cNvSpPr txBox="1"/>
          <p:nvPr/>
        </p:nvSpPr>
        <p:spPr>
          <a:xfrm>
            <a:off x="1371600" y="1188719"/>
            <a:ext cx="7132319" cy="3628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500">
                <a:solidFill>
                  <a:srgbClr val="FFFFFF"/>
                </a:solidFill>
              </a:defRPr>
            </a:pPr>
            <a:r>
              <a:t>Memo Culture &amp; Mental Models</a:t>
            </a:r>
          </a:p>
          <a:p>
            <a:pPr>
              <a:defRPr sz="1100">
                <a:solidFill>
                  <a:srgbClr val="8898AA"/>
                </a:solidFill>
              </a:defRPr>
            </a:pPr>
            <a:r>
              <a:t>How Stripe thinks, writes, and decides</a:t>
            </a:r>
          </a:p>
        </p:txBody>
      </p:sp>
      <p:sp>
        <p:nvSpPr>
          <p:cNvPr id="54" name="Text 4"/>
          <p:cNvSpPr txBox="1"/>
          <p:nvPr/>
        </p:nvSpPr>
        <p:spPr>
          <a:xfrm>
            <a:off x="640080" y="1901951"/>
            <a:ext cx="54864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a:solidFill>
                  <a:srgbClr val="0A9396"/>
                </a:solidFill>
                <a:latin typeface="Georgia"/>
                <a:ea typeface="Georgia"/>
                <a:cs typeface="Georgia"/>
                <a:sym typeface="Georgia"/>
              </a:defRPr>
            </a:lvl1pPr>
          </a:lstStyle>
          <a:p>
            <a:pPr/>
            <a:r>
              <a:t>02</a:t>
            </a:r>
          </a:p>
        </p:txBody>
      </p:sp>
      <p:sp>
        <p:nvSpPr>
          <p:cNvPr id="55" name="Text 5"/>
          <p:cNvSpPr txBox="1"/>
          <p:nvPr/>
        </p:nvSpPr>
        <p:spPr>
          <a:xfrm>
            <a:off x="1371600" y="1901951"/>
            <a:ext cx="7132319" cy="3628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500">
                <a:solidFill>
                  <a:srgbClr val="FFFFFF"/>
                </a:solidFill>
              </a:defRPr>
            </a:pPr>
            <a:r>
              <a:t>Business Landscape Map</a:t>
            </a:r>
          </a:p>
          <a:p>
            <a:pPr>
              <a:defRPr sz="1100">
                <a:solidFill>
                  <a:srgbClr val="8898AA"/>
                </a:solidFill>
              </a:defRPr>
            </a:pPr>
            <a:r>
              <a:t>Everything Stripe does today — core, side, nascent</a:t>
            </a:r>
          </a:p>
        </p:txBody>
      </p:sp>
      <p:sp>
        <p:nvSpPr>
          <p:cNvPr id="56" name="Text 7"/>
          <p:cNvSpPr txBox="1"/>
          <p:nvPr/>
        </p:nvSpPr>
        <p:spPr>
          <a:xfrm>
            <a:off x="640080" y="2615183"/>
            <a:ext cx="54864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a:solidFill>
                  <a:srgbClr val="F59E0B"/>
                </a:solidFill>
                <a:latin typeface="Georgia"/>
                <a:ea typeface="Georgia"/>
                <a:cs typeface="Georgia"/>
                <a:sym typeface="Georgia"/>
              </a:defRPr>
            </a:lvl1pPr>
          </a:lstStyle>
          <a:p>
            <a:pPr/>
            <a:r>
              <a:t>03</a:t>
            </a:r>
          </a:p>
        </p:txBody>
      </p:sp>
      <p:sp>
        <p:nvSpPr>
          <p:cNvPr id="57" name="Text 8"/>
          <p:cNvSpPr txBox="1"/>
          <p:nvPr/>
        </p:nvSpPr>
        <p:spPr>
          <a:xfrm>
            <a:off x="1371600" y="2615183"/>
            <a:ext cx="7132319" cy="3628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500">
                <a:solidFill>
                  <a:srgbClr val="FFFFFF"/>
                </a:solidFill>
              </a:defRPr>
            </a:pPr>
            <a:r>
              <a:t>Collison Strategic Vision</a:t>
            </a:r>
          </a:p>
          <a:p>
            <a:pPr>
              <a:defRPr sz="1100">
                <a:solidFill>
                  <a:srgbClr val="8898AA"/>
                </a:solidFill>
              </a:defRPr>
            </a:pPr>
            <a:r>
              <a:t>Primary sources: keynotes, podcasts, transcripts</a:t>
            </a:r>
          </a:p>
        </p:txBody>
      </p:sp>
      <p:sp>
        <p:nvSpPr>
          <p:cNvPr id="58" name="Text 10"/>
          <p:cNvSpPr txBox="1"/>
          <p:nvPr/>
        </p:nvSpPr>
        <p:spPr>
          <a:xfrm>
            <a:off x="640080" y="3328415"/>
            <a:ext cx="54864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a:solidFill>
                  <a:srgbClr val="EF4444"/>
                </a:solidFill>
                <a:latin typeface="Georgia"/>
                <a:ea typeface="Georgia"/>
                <a:cs typeface="Georgia"/>
                <a:sym typeface="Georgia"/>
              </a:defRPr>
            </a:lvl1pPr>
          </a:lstStyle>
          <a:p>
            <a:pPr/>
            <a:r>
              <a:t>04</a:t>
            </a:r>
          </a:p>
        </p:txBody>
      </p:sp>
      <p:sp>
        <p:nvSpPr>
          <p:cNvPr id="59" name="Text 11"/>
          <p:cNvSpPr txBox="1"/>
          <p:nvPr/>
        </p:nvSpPr>
        <p:spPr>
          <a:xfrm>
            <a:off x="1371600" y="3328415"/>
            <a:ext cx="7132319" cy="3628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500">
                <a:solidFill>
                  <a:srgbClr val="FFFFFF"/>
                </a:solidFill>
              </a:defRPr>
            </a:pPr>
            <a:r>
              <a:t>Consensus Exclusion Zone</a:t>
            </a:r>
          </a:p>
          <a:p>
            <a:pPr>
              <a:defRPr sz="1100">
                <a:solidFill>
                  <a:srgbClr val="8898AA"/>
                </a:solidFill>
              </a:defRPr>
            </a:pPr>
            <a:r>
              <a:t>Obvious opportunities we should NOT recommend</a:t>
            </a:r>
          </a:p>
        </p:txBody>
      </p:sp>
      <p:sp>
        <p:nvSpPr>
          <p:cNvPr id="60" name="Text 13"/>
          <p:cNvSpPr txBox="1"/>
          <p:nvPr/>
        </p:nvSpPr>
        <p:spPr>
          <a:xfrm>
            <a:off x="640080" y="4041647"/>
            <a:ext cx="54864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a:solidFill>
                  <a:srgbClr val="10B981"/>
                </a:solidFill>
                <a:latin typeface="Georgia"/>
                <a:ea typeface="Georgia"/>
                <a:cs typeface="Georgia"/>
                <a:sym typeface="Georgia"/>
              </a:defRPr>
            </a:lvl1pPr>
          </a:lstStyle>
          <a:p>
            <a:pPr/>
            <a:r>
              <a:t>05</a:t>
            </a:r>
          </a:p>
        </p:txBody>
      </p:sp>
      <p:sp>
        <p:nvSpPr>
          <p:cNvPr id="61" name="Text 14"/>
          <p:cNvSpPr txBox="1"/>
          <p:nvPr/>
        </p:nvSpPr>
        <p:spPr>
          <a:xfrm>
            <a:off x="1371600" y="4041647"/>
            <a:ext cx="7132319" cy="3628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500">
                <a:solidFill>
                  <a:srgbClr val="FFFFFF"/>
                </a:solidFill>
              </a:defRPr>
            </a:pPr>
            <a:r>
              <a:t>Non-Consensus Opportunities</a:t>
            </a:r>
          </a:p>
          <a:p>
            <a:pPr>
              <a:defRPr sz="1100">
                <a:solidFill>
                  <a:srgbClr val="8898AA"/>
                </a:solidFill>
              </a:defRPr>
            </a:pPr>
            <a:r>
              <a:t>Six genuinely novel market entries scored on four dimensions</a:t>
            </a:r>
          </a:p>
        </p:txBody>
      </p:sp>
      <p:sp>
        <p:nvSpPr>
          <p:cNvPr id="62" name="Text 15"/>
          <p:cNvSpPr txBox="1"/>
          <p:nvPr/>
        </p:nvSpPr>
        <p:spPr>
          <a:xfrm>
            <a:off x="7818119" y="4789083"/>
            <a:ext cx="100584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8898AA"/>
                </a:solidFill>
              </a:defRPr>
            </a:lvl1pPr>
          </a:lstStyle>
          <a:p>
            <a:pPr/>
            <a:r>
              <a:t>4 / 34</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A1F36"/>
        </a:solidFill>
      </p:bgPr>
    </p:bg>
    <p:spTree>
      <p:nvGrpSpPr>
        <p:cNvPr id="1" name=""/>
        <p:cNvGrpSpPr/>
        <p:nvPr/>
      </p:nvGrpSpPr>
      <p:grpSpPr>
        <a:xfrm>
          <a:off x="0" y="0"/>
          <a:ext cx="0" cy="0"/>
          <a:chOff x="0" y="0"/>
          <a:chExt cx="0" cy="0"/>
        </a:xfrm>
      </p:grpSpPr>
      <p:sp>
        <p:nvSpPr>
          <p:cNvPr id="64" name="Text 0"/>
          <p:cNvSpPr txBox="1"/>
          <p:nvPr/>
        </p:nvSpPr>
        <p:spPr>
          <a:xfrm>
            <a:off x="640079" y="550086"/>
            <a:ext cx="7863842"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400" sz="1100">
                <a:solidFill>
                  <a:srgbClr val="635BFF"/>
                </a:solidFill>
              </a:defRPr>
            </a:lvl1pPr>
          </a:lstStyle>
          <a:p>
            <a:pPr/>
            <a:r>
              <a:t>SECTION 1 — MEMO CULTURE &amp; MENTAL MODELS</a:t>
            </a:r>
          </a:p>
        </p:txBody>
      </p:sp>
      <p:sp>
        <p:nvSpPr>
          <p:cNvPr id="65" name="Text 2"/>
          <p:cNvSpPr txBox="1"/>
          <p:nvPr/>
        </p:nvSpPr>
        <p:spPr>
          <a:xfrm>
            <a:off x="1051560" y="1142999"/>
            <a:ext cx="7040879" cy="9931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pc="300" sz="900">
                <a:solidFill>
                  <a:srgbClr val="635BFF"/>
                </a:solidFill>
              </a:defRPr>
            </a:pPr>
            <a:r>
              <a:t>VERBATIM PROMPT</a:t>
            </a:r>
          </a:p>
          <a:p>
            <a:pPr>
              <a:defRPr sz="900"/>
            </a:pPr>
          </a:p>
          <a:p>
            <a:pPr>
              <a:lnSpc>
                <a:spcPct val="130000"/>
              </a:lnSpc>
              <a:defRPr i="1" sz="900">
                <a:solidFill>
                  <a:srgbClr val="F6F9FC"/>
                </a:solidFill>
                <a:latin typeface="Georgia"/>
                <a:ea typeface="Georgia"/>
                <a:cs typeface="Georgia"/>
                <a:sym typeface="Georgia"/>
              </a:defRPr>
            </a:pPr>
            <a:r>
              <a:t>"I want you to do EXHAUSTIVE research about mental models and communications approaches that are used at Stripe. Do they have a standard format for a three-page memo? Do stripe memos always cover the same topics (like an amazon 3-pager)? Is there a standard framework/mental model that stripe employees use for decision analysis? Explore both primary sources and secondary sources (e.g. what has claire hughes johnson written about memo culture and mental models at stripe)."</a:t>
            </a:r>
          </a:p>
        </p:txBody>
      </p:sp>
      <p:sp>
        <p:nvSpPr>
          <p:cNvPr id="66" name="Text 3"/>
          <p:cNvSpPr txBox="1"/>
          <p:nvPr/>
        </p:nvSpPr>
        <p:spPr>
          <a:xfrm>
            <a:off x="685799" y="3931920"/>
            <a:ext cx="7772402" cy="92035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pc="300" sz="900">
                <a:solidFill>
                  <a:srgbClr val="0A9396"/>
                </a:solidFill>
              </a:defRPr>
            </a:pPr>
            <a:r>
              <a:t>WHAT CLAUDE DID</a:t>
            </a:r>
          </a:p>
          <a:p>
            <a:pPr>
              <a:defRPr sz="900"/>
            </a:pPr>
          </a:p>
          <a:p>
            <a:pPr>
              <a:lnSpc>
                <a:spcPct val="130000"/>
              </a:lnSpc>
              <a:defRPr sz="1000">
                <a:solidFill>
                  <a:srgbClr val="E3E8EE"/>
                </a:solidFill>
              </a:defRPr>
            </a:pPr>
            <a:r>
              <a:t>Ran parallel web research agents across 40+ sources: Claire Hughes Johnson interviews, Stripe Atlas guides, First Round Review, the Pragmatic Engineer, Slab’s documentation on Stripe’s writing culture, the High Growth Handbook, Lenny’s Newsletter, and Stripe’s own operating principles page. All findings compiled into a 900-line reference document.</a:t>
            </a:r>
          </a:p>
        </p:txBody>
      </p:sp>
      <p:sp>
        <p:nvSpPr>
          <p:cNvPr id="67" name="Text 4"/>
          <p:cNvSpPr txBox="1"/>
          <p:nvPr/>
        </p:nvSpPr>
        <p:spPr>
          <a:xfrm>
            <a:off x="7818119" y="4789083"/>
            <a:ext cx="100584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8898AA"/>
                </a:solidFill>
              </a:defRPr>
            </a:lvl1pPr>
          </a:lstStyle>
          <a:p>
            <a:pPr/>
            <a:r>
              <a:t>5 / 34</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6F9FC"/>
        </a:solidFill>
      </p:bgPr>
    </p:bg>
    <p:spTree>
      <p:nvGrpSpPr>
        <p:cNvPr id="1" name=""/>
        <p:cNvGrpSpPr/>
        <p:nvPr/>
      </p:nvGrpSpPr>
      <p:grpSpPr>
        <a:xfrm>
          <a:off x="0" y="0"/>
          <a:ext cx="0" cy="0"/>
          <a:chOff x="0" y="0"/>
          <a:chExt cx="0" cy="0"/>
        </a:xfrm>
      </p:grpSpPr>
      <p:sp>
        <p:nvSpPr>
          <p:cNvPr id="69" name="Text 1"/>
          <p:cNvSpPr txBox="1"/>
          <p:nvPr/>
        </p:nvSpPr>
        <p:spPr>
          <a:xfrm>
            <a:off x="640079" y="298450"/>
            <a:ext cx="7863842"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200">
                <a:solidFill>
                  <a:srgbClr val="1A1F36"/>
                </a:solidFill>
                <a:latin typeface="Georgia"/>
                <a:ea typeface="Georgia"/>
                <a:cs typeface="Georgia"/>
                <a:sym typeface="Georgia"/>
              </a:defRPr>
            </a:lvl1pPr>
          </a:lstStyle>
          <a:p>
            <a:pPr/>
            <a:r>
              <a:t>Stripe's Memo Format</a:t>
            </a:r>
          </a:p>
        </p:txBody>
      </p:sp>
      <p:sp>
        <p:nvSpPr>
          <p:cNvPr id="70" name="Text 4"/>
          <p:cNvSpPr txBox="1"/>
          <p:nvPr/>
        </p:nvSpPr>
        <p:spPr>
          <a:xfrm>
            <a:off x="502919" y="4919761"/>
            <a:ext cx="8138162" cy="19601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800">
                <a:solidFill>
                  <a:srgbClr val="8898AA"/>
                </a:solidFill>
              </a:defRPr>
            </a:lvl1pPr>
          </a:lstStyle>
          <a:p>
            <a:pPr/>
            <a:r>
              <a:t>Stripe GTM Research  |  Cowork Mode Demo  |  February 2026</a:t>
            </a:r>
          </a:p>
        </p:txBody>
      </p:sp>
      <p:sp>
        <p:nvSpPr>
          <p:cNvPr id="71" name="Text 5"/>
          <p:cNvSpPr txBox="1"/>
          <p:nvPr/>
        </p:nvSpPr>
        <p:spPr>
          <a:xfrm>
            <a:off x="7818119" y="4789083"/>
            <a:ext cx="100584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8898AA"/>
                </a:solidFill>
              </a:defRPr>
            </a:lvl1pPr>
          </a:lstStyle>
          <a:p>
            <a:pPr/>
            <a:r>
              <a:t>6 / 34</a:t>
            </a:r>
          </a:p>
        </p:txBody>
      </p:sp>
      <p:sp>
        <p:nvSpPr>
          <p:cNvPr id="72" name="Text 6"/>
          <p:cNvSpPr txBox="1"/>
          <p:nvPr/>
        </p:nvSpPr>
        <p:spPr>
          <a:xfrm>
            <a:off x="685799" y="1087427"/>
            <a:ext cx="7772402"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30000"/>
              </a:lnSpc>
              <a:defRPr sz="1200">
                <a:solidFill>
                  <a:srgbClr val="525F7F"/>
                </a:solidFill>
              </a:defRPr>
            </a:lvl1pPr>
          </a:lstStyle>
          <a:p>
            <a:pPr/>
            <a:r>
              <a:t>Stripe does NOT use the Amazon 6-pager. They have a flexible narrative memo framework with four standard components:</a:t>
            </a:r>
          </a:p>
        </p:txBody>
      </p:sp>
      <p:sp>
        <p:nvSpPr>
          <p:cNvPr id="73" name="Text 9"/>
          <p:cNvSpPr txBox="1"/>
          <p:nvPr/>
        </p:nvSpPr>
        <p:spPr>
          <a:xfrm>
            <a:off x="777239" y="1974019"/>
            <a:ext cx="1554482"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1A1F36"/>
                </a:solidFill>
              </a:defRPr>
            </a:lvl1pPr>
          </a:lstStyle>
          <a:p>
            <a:pPr/>
            <a:r>
              <a:t>Problem Statement</a:t>
            </a:r>
          </a:p>
        </p:txBody>
      </p:sp>
      <p:sp>
        <p:nvSpPr>
          <p:cNvPr id="74" name="Text 10"/>
          <p:cNvSpPr txBox="1"/>
          <p:nvPr/>
        </p:nvSpPr>
        <p:spPr>
          <a:xfrm>
            <a:off x="777239" y="2644469"/>
            <a:ext cx="1554482" cy="56322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5000"/>
              </a:lnSpc>
              <a:defRPr sz="1000">
                <a:solidFill>
                  <a:srgbClr val="525F7F"/>
                </a:solidFill>
              </a:defRPr>
            </a:lvl1pPr>
          </a:lstStyle>
          <a:p>
            <a:pPr/>
            <a:r>
              <a:t>Clear articulation of the challenge or opportunity in 2–3 paragraphs</a:t>
            </a:r>
          </a:p>
        </p:txBody>
      </p:sp>
      <p:sp>
        <p:nvSpPr>
          <p:cNvPr id="75" name="Text 13"/>
          <p:cNvSpPr txBox="1"/>
          <p:nvPr/>
        </p:nvSpPr>
        <p:spPr>
          <a:xfrm>
            <a:off x="2788920" y="1974019"/>
            <a:ext cx="1554481"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1A1F36"/>
                </a:solidFill>
              </a:defRPr>
            </a:lvl1pPr>
          </a:lstStyle>
          <a:p>
            <a:pPr/>
            <a:r>
              <a:t>Proposed Solution</a:t>
            </a:r>
          </a:p>
        </p:txBody>
      </p:sp>
      <p:sp>
        <p:nvSpPr>
          <p:cNvPr id="76" name="Text 14"/>
          <p:cNvSpPr txBox="1"/>
          <p:nvPr/>
        </p:nvSpPr>
        <p:spPr>
          <a:xfrm>
            <a:off x="2788920" y="2751007"/>
            <a:ext cx="1554481" cy="3501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5000"/>
              </a:lnSpc>
              <a:defRPr sz="1000">
                <a:solidFill>
                  <a:srgbClr val="525F7F"/>
                </a:solidFill>
              </a:defRPr>
            </a:lvl1pPr>
          </a:lstStyle>
          <a:p>
            <a:pPr/>
            <a:r>
              <a:t>How the team plans to tackle it and why this approach</a:t>
            </a:r>
          </a:p>
        </p:txBody>
      </p:sp>
      <p:sp>
        <p:nvSpPr>
          <p:cNvPr id="77" name="Text 17"/>
          <p:cNvSpPr txBox="1"/>
          <p:nvPr/>
        </p:nvSpPr>
        <p:spPr>
          <a:xfrm>
            <a:off x="4800599" y="1974019"/>
            <a:ext cx="1554482"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1A1F36"/>
                </a:solidFill>
              </a:defRPr>
            </a:lvl1pPr>
          </a:lstStyle>
          <a:p>
            <a:pPr/>
            <a:r>
              <a:t>Open Questions</a:t>
            </a:r>
          </a:p>
        </p:txBody>
      </p:sp>
      <p:sp>
        <p:nvSpPr>
          <p:cNvPr id="78" name="Text 18"/>
          <p:cNvSpPr txBox="1"/>
          <p:nvPr/>
        </p:nvSpPr>
        <p:spPr>
          <a:xfrm>
            <a:off x="4800599" y="2751007"/>
            <a:ext cx="1554482" cy="3501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5000"/>
              </a:lnSpc>
              <a:defRPr sz="1000">
                <a:solidFill>
                  <a:srgbClr val="525F7F"/>
                </a:solidFill>
              </a:defRPr>
            </a:lvl1pPr>
          </a:lstStyle>
          <a:p>
            <a:pPr/>
            <a:r>
              <a:t>Areas of uncertainty requiring stakeholder input</a:t>
            </a:r>
          </a:p>
        </p:txBody>
      </p:sp>
      <p:sp>
        <p:nvSpPr>
          <p:cNvPr id="79" name="Text 21"/>
          <p:cNvSpPr txBox="1"/>
          <p:nvPr/>
        </p:nvSpPr>
        <p:spPr>
          <a:xfrm>
            <a:off x="6812280" y="1974019"/>
            <a:ext cx="1554481"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1A1F36"/>
                </a:solidFill>
              </a:defRPr>
            </a:lvl1pPr>
          </a:lstStyle>
          <a:p>
            <a:pPr/>
            <a:r>
              <a:t>Supporting Context</a:t>
            </a:r>
          </a:p>
        </p:txBody>
      </p:sp>
      <p:sp>
        <p:nvSpPr>
          <p:cNvPr id="80" name="Text 22"/>
          <p:cNvSpPr txBox="1"/>
          <p:nvPr/>
        </p:nvSpPr>
        <p:spPr>
          <a:xfrm>
            <a:off x="6812280" y="2751007"/>
            <a:ext cx="1554481" cy="3501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5000"/>
              </a:lnSpc>
              <a:defRPr sz="1000">
                <a:solidFill>
                  <a:srgbClr val="525F7F"/>
                </a:solidFill>
              </a:defRPr>
            </a:lvl1pPr>
          </a:lstStyle>
          <a:p>
            <a:pPr/>
            <a:r>
              <a:t>Data, research, or precedent for informed decisions</a:t>
            </a:r>
          </a:p>
        </p:txBody>
      </p:sp>
      <p:sp>
        <p:nvSpPr>
          <p:cNvPr id="81" name="Text 23"/>
          <p:cNvSpPr txBox="1"/>
          <p:nvPr/>
        </p:nvSpPr>
        <p:spPr>
          <a:xfrm>
            <a:off x="685799" y="4184826"/>
            <a:ext cx="7772402"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1100">
                <a:solidFill>
                  <a:srgbClr val="525F7F"/>
                </a:solidFill>
              </a:defRPr>
            </a:lvl1pPr>
          </a:lstStyle>
          <a:p>
            <a:pPr/>
            <a:r>
              <a:t>Memos are circulated before meetings. The meeting is for discussion, not information transfer.</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6F9FC"/>
        </a:solidFill>
      </p:bgPr>
    </p:bg>
    <p:spTree>
      <p:nvGrpSpPr>
        <p:cNvPr id="1" name=""/>
        <p:cNvGrpSpPr/>
        <p:nvPr/>
      </p:nvGrpSpPr>
      <p:grpSpPr>
        <a:xfrm>
          <a:off x="0" y="0"/>
          <a:ext cx="0" cy="0"/>
          <a:chOff x="0" y="0"/>
          <a:chExt cx="0" cy="0"/>
        </a:xfrm>
      </p:grpSpPr>
      <p:sp>
        <p:nvSpPr>
          <p:cNvPr id="83" name="Text 1"/>
          <p:cNvSpPr txBox="1"/>
          <p:nvPr/>
        </p:nvSpPr>
        <p:spPr>
          <a:xfrm>
            <a:off x="640079" y="298450"/>
            <a:ext cx="7863842"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200">
                <a:solidFill>
                  <a:srgbClr val="1A1F36"/>
                </a:solidFill>
                <a:latin typeface="Georgia"/>
                <a:ea typeface="Georgia"/>
                <a:cs typeface="Georgia"/>
                <a:sym typeface="Georgia"/>
              </a:defRPr>
            </a:lvl1pPr>
          </a:lstStyle>
          <a:p>
            <a:pPr/>
            <a:r>
              <a:t>The Trapdoor Decision Framework</a:t>
            </a:r>
          </a:p>
        </p:txBody>
      </p:sp>
      <p:sp>
        <p:nvSpPr>
          <p:cNvPr id="84" name="Text 4"/>
          <p:cNvSpPr txBox="1"/>
          <p:nvPr/>
        </p:nvSpPr>
        <p:spPr>
          <a:xfrm>
            <a:off x="502919" y="4919761"/>
            <a:ext cx="8138162" cy="19601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800">
                <a:solidFill>
                  <a:srgbClr val="8898AA"/>
                </a:solidFill>
              </a:defRPr>
            </a:lvl1pPr>
          </a:lstStyle>
          <a:p>
            <a:pPr/>
            <a:r>
              <a:t>Stripe GTM Research  |  Cowork Mode Demo  |  February 2026</a:t>
            </a:r>
          </a:p>
        </p:txBody>
      </p:sp>
      <p:sp>
        <p:nvSpPr>
          <p:cNvPr id="85" name="Text 5"/>
          <p:cNvSpPr txBox="1"/>
          <p:nvPr/>
        </p:nvSpPr>
        <p:spPr>
          <a:xfrm>
            <a:off x="7818119" y="4789083"/>
            <a:ext cx="100584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8898AA"/>
                </a:solidFill>
              </a:defRPr>
            </a:lvl1pPr>
          </a:lstStyle>
          <a:p>
            <a:pPr/>
            <a:r>
              <a:t>7 / 34</a:t>
            </a:r>
          </a:p>
        </p:txBody>
      </p:sp>
      <p:sp>
        <p:nvSpPr>
          <p:cNvPr id="86" name="Text 6"/>
          <p:cNvSpPr txBox="1"/>
          <p:nvPr/>
        </p:nvSpPr>
        <p:spPr>
          <a:xfrm>
            <a:off x="685799" y="1041707"/>
            <a:ext cx="7772402"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525F7F"/>
                </a:solidFill>
              </a:defRPr>
            </a:lvl1pPr>
          </a:lstStyle>
          <a:p>
            <a:pPr/>
            <a:r>
              <a:t>Stripe's core mental model for resource allocation and deliberation speed.</a:t>
            </a:r>
          </a:p>
        </p:txBody>
      </p:sp>
      <p:sp>
        <p:nvSpPr>
          <p:cNvPr id="87" name="Text 8"/>
          <p:cNvSpPr txBox="1"/>
          <p:nvPr/>
        </p:nvSpPr>
        <p:spPr>
          <a:xfrm>
            <a:off x="822960" y="1794423"/>
            <a:ext cx="1965961" cy="8917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b="1" sz="1400">
                <a:solidFill>
                  <a:srgbClr val="10B981"/>
                </a:solidFill>
              </a:defRPr>
            </a:pPr>
            <a:r>
              <a:t>Delegate</a:t>
            </a:r>
          </a:p>
          <a:p>
            <a:pPr>
              <a:defRPr b="1" sz="1400">
                <a:solidFill>
                  <a:srgbClr val="10B981"/>
                </a:solidFill>
              </a:defRPr>
            </a:pPr>
            <a:r>
              <a:t>Aggressively</a:t>
            </a:r>
          </a:p>
          <a:p>
            <a:pPr>
              <a:defRPr sz="1400"/>
            </a:pPr>
          </a:p>
          <a:p>
            <a:pPr>
              <a:defRPr sz="900">
                <a:solidFill>
                  <a:srgbClr val="525F7F"/>
                </a:solidFill>
              </a:defRPr>
            </a:pPr>
            <a:r>
              <a:t>Low impact, easy to reverse</a:t>
            </a:r>
          </a:p>
        </p:txBody>
      </p:sp>
      <p:sp>
        <p:nvSpPr>
          <p:cNvPr id="88" name="Text 10"/>
          <p:cNvSpPr txBox="1"/>
          <p:nvPr/>
        </p:nvSpPr>
        <p:spPr>
          <a:xfrm>
            <a:off x="3200399" y="1794423"/>
            <a:ext cx="1965961" cy="8917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b="1" sz="1400">
                <a:solidFill>
                  <a:srgbClr val="1976D2"/>
                </a:solidFill>
              </a:defRPr>
            </a:pPr>
            <a:r>
              <a:t>Move Fast,</a:t>
            </a:r>
          </a:p>
          <a:p>
            <a:pPr>
              <a:defRPr b="1" sz="1400">
                <a:solidFill>
                  <a:srgbClr val="1976D2"/>
                </a:solidFill>
              </a:defRPr>
            </a:pPr>
            <a:r>
              <a:t>Monitor</a:t>
            </a:r>
          </a:p>
          <a:p>
            <a:pPr>
              <a:defRPr sz="1400"/>
            </a:pPr>
          </a:p>
          <a:p>
            <a:pPr>
              <a:defRPr sz="900">
                <a:solidFill>
                  <a:srgbClr val="525F7F"/>
                </a:solidFill>
              </a:defRPr>
            </a:pPr>
            <a:r>
              <a:t>High impact, easy to reverse</a:t>
            </a:r>
          </a:p>
        </p:txBody>
      </p:sp>
      <p:sp>
        <p:nvSpPr>
          <p:cNvPr id="89" name="Text 12"/>
          <p:cNvSpPr txBox="1"/>
          <p:nvPr/>
        </p:nvSpPr>
        <p:spPr>
          <a:xfrm>
            <a:off x="822960" y="3257463"/>
            <a:ext cx="1965961" cy="8917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b="1" sz="1400">
                <a:solidFill>
                  <a:srgbClr val="F59E0B"/>
                </a:solidFill>
              </a:defRPr>
            </a:pPr>
            <a:r>
              <a:t>Small</a:t>
            </a:r>
          </a:p>
          <a:p>
            <a:pPr>
              <a:defRPr b="1" sz="1400">
                <a:solidFill>
                  <a:srgbClr val="F59E0B"/>
                </a:solidFill>
              </a:defRPr>
            </a:pPr>
            <a:r>
              <a:t>Downside</a:t>
            </a:r>
          </a:p>
          <a:p>
            <a:pPr>
              <a:defRPr sz="1400"/>
            </a:pPr>
          </a:p>
          <a:p>
            <a:pPr>
              <a:defRPr sz="900">
                <a:solidFill>
                  <a:srgbClr val="525F7F"/>
                </a:solidFill>
              </a:defRPr>
            </a:pPr>
            <a:r>
              <a:t>Low impact, hard to reverse</a:t>
            </a:r>
          </a:p>
        </p:txBody>
      </p:sp>
      <p:sp>
        <p:nvSpPr>
          <p:cNvPr id="90" name="Text 14"/>
          <p:cNvSpPr txBox="1"/>
          <p:nvPr/>
        </p:nvSpPr>
        <p:spPr>
          <a:xfrm>
            <a:off x="3200399" y="3301913"/>
            <a:ext cx="1965961" cy="8028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b="1" sz="1400">
                <a:solidFill>
                  <a:srgbClr val="EF4444"/>
                </a:solidFill>
              </a:defRPr>
            </a:pPr>
            <a:r>
              <a:t>TRAPDOOR</a:t>
            </a:r>
          </a:p>
          <a:p>
            <a:pPr>
              <a:defRPr sz="1400"/>
            </a:pPr>
          </a:p>
          <a:p>
            <a:pPr>
              <a:defRPr sz="900">
                <a:solidFill>
                  <a:srgbClr val="525F7F"/>
                </a:solidFill>
              </a:defRPr>
            </a:pPr>
            <a:r>
              <a:t>High impact, hard to reverse</a:t>
            </a:r>
            <a:endParaRPr sz="1400"/>
          </a:p>
          <a:p>
            <a:pPr>
              <a:defRPr sz="900">
                <a:solidFill>
                  <a:srgbClr val="525F7F"/>
                </a:solidFill>
              </a:defRPr>
            </a:pPr>
            <a:r>
              <a:t>Max deliberation required</a:t>
            </a:r>
          </a:p>
        </p:txBody>
      </p:sp>
      <p:sp>
        <p:nvSpPr>
          <p:cNvPr id="91" name="Text 15"/>
          <p:cNvSpPr txBox="1"/>
          <p:nvPr/>
        </p:nvSpPr>
        <p:spPr>
          <a:xfrm>
            <a:off x="685800" y="1264071"/>
            <a:ext cx="4663440"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pc="200" sz="900">
                <a:solidFill>
                  <a:srgbClr val="8898AA"/>
                </a:solidFill>
              </a:defRPr>
            </a:lvl1pPr>
          </a:lstStyle>
          <a:p>
            <a:pPr/>
            <a:r>
              <a:t>REVERSIBILITY →</a:t>
            </a:r>
          </a:p>
        </p:txBody>
      </p:sp>
      <p:sp>
        <p:nvSpPr>
          <p:cNvPr id="92" name="Text 16"/>
          <p:cNvSpPr txBox="1"/>
          <p:nvPr/>
        </p:nvSpPr>
        <p:spPr>
          <a:xfrm rot="16200000">
            <a:off x="182880" y="2659293"/>
            <a:ext cx="320041" cy="6250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pc="200" sz="900">
                <a:solidFill>
                  <a:srgbClr val="8898AA"/>
                </a:solidFill>
              </a:defRPr>
            </a:lvl1pPr>
          </a:lstStyle>
          <a:p>
            <a:pPr/>
            <a:r>
              <a:t>IMPACT →</a:t>
            </a:r>
          </a:p>
        </p:txBody>
      </p:sp>
      <p:sp>
        <p:nvSpPr>
          <p:cNvPr id="93" name="Text 17"/>
          <p:cNvSpPr txBox="1"/>
          <p:nvPr/>
        </p:nvSpPr>
        <p:spPr>
          <a:xfrm>
            <a:off x="5760720" y="1574100"/>
            <a:ext cx="301752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1A1F36"/>
                </a:solidFill>
              </a:defRPr>
            </a:lvl1pPr>
          </a:lstStyle>
          <a:p>
            <a:pPr/>
            <a:r>
              <a:t>Key Principles</a:t>
            </a:r>
          </a:p>
        </p:txBody>
      </p:sp>
      <p:sp>
        <p:nvSpPr>
          <p:cNvPr id="94" name="Text 18"/>
          <p:cNvSpPr txBox="1"/>
          <p:nvPr/>
        </p:nvSpPr>
        <p:spPr>
          <a:xfrm>
            <a:off x="5760720" y="2126024"/>
            <a:ext cx="301752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marL="342900" indent="-342900">
              <a:lnSpc>
                <a:spcPct val="125000"/>
              </a:lnSpc>
              <a:buSzPct val="100000"/>
              <a:buChar char="•"/>
              <a:defRPr sz="1000">
                <a:solidFill>
                  <a:srgbClr val="525F7F"/>
                </a:solidFill>
              </a:defRPr>
            </a:lvl1pPr>
          </a:lstStyle>
          <a:p>
            <a:pPr/>
            <a:r>
              <a:t>Speed beats precision for most decisions</a:t>
            </a:r>
          </a:p>
        </p:txBody>
      </p:sp>
      <p:sp>
        <p:nvSpPr>
          <p:cNvPr id="95" name="Text 19"/>
          <p:cNvSpPr txBox="1"/>
          <p:nvPr/>
        </p:nvSpPr>
        <p:spPr>
          <a:xfrm>
            <a:off x="5760720" y="2628944"/>
            <a:ext cx="301752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marL="342900" indent="-342900">
              <a:lnSpc>
                <a:spcPct val="125000"/>
              </a:lnSpc>
              <a:buSzPct val="100000"/>
              <a:buChar char="•"/>
              <a:defRPr sz="1000">
                <a:solidFill>
                  <a:srgbClr val="525F7F"/>
                </a:solidFill>
              </a:defRPr>
            </a:lvl1pPr>
          </a:lstStyle>
          <a:p>
            <a:pPr/>
            <a:r>
              <a:t>If you can reverse it, decision quality matters less</a:t>
            </a:r>
          </a:p>
        </p:txBody>
      </p:sp>
      <p:sp>
        <p:nvSpPr>
          <p:cNvPr id="96" name="Text 20"/>
          <p:cNvSpPr txBox="1"/>
          <p:nvPr/>
        </p:nvSpPr>
        <p:spPr>
          <a:xfrm>
            <a:off x="5760720" y="3032180"/>
            <a:ext cx="3017521" cy="33644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marL="342900" indent="-342900">
              <a:lnSpc>
                <a:spcPct val="125000"/>
              </a:lnSpc>
              <a:buSzPct val="100000"/>
              <a:buChar char="•"/>
              <a:defRPr sz="1000">
                <a:solidFill>
                  <a:srgbClr val="525F7F"/>
                </a:solidFill>
              </a:defRPr>
            </a:lvl1pPr>
          </a:lstStyle>
          <a:p>
            <a:pPr/>
            <a:r>
              <a:t>Invest in feedback mechanisms over perfect planning</a:t>
            </a:r>
          </a:p>
        </p:txBody>
      </p:sp>
      <p:sp>
        <p:nvSpPr>
          <p:cNvPr id="97" name="Text 21"/>
          <p:cNvSpPr txBox="1"/>
          <p:nvPr/>
        </p:nvSpPr>
        <p:spPr>
          <a:xfrm>
            <a:off x="5760720" y="3634784"/>
            <a:ext cx="301752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marL="342900" indent="-342900">
              <a:lnSpc>
                <a:spcPct val="125000"/>
              </a:lnSpc>
              <a:buSzPct val="100000"/>
              <a:buChar char="•"/>
              <a:defRPr sz="1000">
                <a:solidFill>
                  <a:srgbClr val="525F7F"/>
                </a:solidFill>
              </a:defRPr>
            </a:lvl1pPr>
          </a:lstStyle>
          <a:p>
            <a:pPr/>
            <a:r>
              <a:t>Foundational agreement &gt; consensus on details</a:t>
            </a:r>
          </a:p>
        </p:txBody>
      </p:sp>
      <p:sp>
        <p:nvSpPr>
          <p:cNvPr id="98" name="Text 22"/>
          <p:cNvSpPr txBox="1"/>
          <p:nvPr/>
        </p:nvSpPr>
        <p:spPr>
          <a:xfrm>
            <a:off x="5806440" y="3817619"/>
            <a:ext cx="2926081" cy="59436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30000"/>
              </a:lnSpc>
              <a:defRPr i="1" sz="1000">
                <a:solidFill>
                  <a:srgbClr val="635BFF"/>
                </a:solidFill>
                <a:latin typeface="Georgia"/>
                <a:ea typeface="Georgia"/>
                <a:cs typeface="Georgia"/>
                <a:sym typeface="Georgia"/>
              </a:defRPr>
            </a:lvl1pPr>
          </a:lstStyle>
          <a:p>
            <a:pPr/>
            <a:r>
              <a:t>“If you can make twice as many decisions at half the precision, that’s often better.”  — Patrick Collison</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6F9FC"/>
        </a:solidFill>
      </p:bgPr>
    </p:bg>
    <p:spTree>
      <p:nvGrpSpPr>
        <p:cNvPr id="1" name=""/>
        <p:cNvGrpSpPr/>
        <p:nvPr/>
      </p:nvGrpSpPr>
      <p:grpSpPr>
        <a:xfrm>
          <a:off x="0" y="0"/>
          <a:ext cx="0" cy="0"/>
          <a:chOff x="0" y="0"/>
          <a:chExt cx="0" cy="0"/>
        </a:xfrm>
      </p:grpSpPr>
      <p:sp>
        <p:nvSpPr>
          <p:cNvPr id="100" name="Text 1"/>
          <p:cNvSpPr txBox="1"/>
          <p:nvPr/>
        </p:nvSpPr>
        <p:spPr>
          <a:xfrm>
            <a:off x="640079" y="298450"/>
            <a:ext cx="7863842"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200">
                <a:solidFill>
                  <a:srgbClr val="1A1F36"/>
                </a:solidFill>
                <a:latin typeface="Georgia"/>
                <a:ea typeface="Georgia"/>
                <a:cs typeface="Georgia"/>
                <a:sym typeface="Georgia"/>
              </a:defRPr>
            </a:lvl1pPr>
          </a:lstStyle>
          <a:p>
            <a:pPr/>
            <a:r>
              <a:t>Writing Culture &amp; Claire Hughes Johnson</a:t>
            </a:r>
          </a:p>
        </p:txBody>
      </p:sp>
      <p:sp>
        <p:nvSpPr>
          <p:cNvPr id="101" name="Text 4"/>
          <p:cNvSpPr txBox="1"/>
          <p:nvPr/>
        </p:nvSpPr>
        <p:spPr>
          <a:xfrm>
            <a:off x="502919" y="4919761"/>
            <a:ext cx="8138162" cy="19601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800">
                <a:solidFill>
                  <a:srgbClr val="8898AA"/>
                </a:solidFill>
              </a:defRPr>
            </a:lvl1pPr>
          </a:lstStyle>
          <a:p>
            <a:pPr/>
            <a:r>
              <a:t>Stripe GTM Research  |  Cowork Mode Demo  |  February 2026</a:t>
            </a:r>
          </a:p>
        </p:txBody>
      </p:sp>
      <p:sp>
        <p:nvSpPr>
          <p:cNvPr id="102" name="Text 5"/>
          <p:cNvSpPr txBox="1"/>
          <p:nvPr/>
        </p:nvSpPr>
        <p:spPr>
          <a:xfrm>
            <a:off x="7818119" y="4789083"/>
            <a:ext cx="100584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8898AA"/>
                </a:solidFill>
              </a:defRPr>
            </a:lvl1pPr>
          </a:lstStyle>
          <a:p>
            <a:pPr/>
            <a:r>
              <a:t>8 / 34</a:t>
            </a:r>
          </a:p>
        </p:txBody>
      </p:sp>
      <p:sp>
        <p:nvSpPr>
          <p:cNvPr id="103" name="Text 6"/>
          <p:cNvSpPr txBox="1"/>
          <p:nvPr/>
        </p:nvSpPr>
        <p:spPr>
          <a:xfrm>
            <a:off x="640080" y="1071180"/>
            <a:ext cx="3840480"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1A1F36"/>
                </a:solidFill>
              </a:defRPr>
            </a:lvl1pPr>
          </a:lstStyle>
          <a:p>
            <a:pPr/>
            <a:r>
              <a:t>Writing as Default Medium</a:t>
            </a:r>
          </a:p>
        </p:txBody>
      </p:sp>
      <p:sp>
        <p:nvSpPr>
          <p:cNvPr id="104" name="Text 7"/>
          <p:cNvSpPr txBox="1"/>
          <p:nvPr/>
        </p:nvSpPr>
        <p:spPr>
          <a:xfrm>
            <a:off x="685800" y="1653716"/>
            <a:ext cx="3749040" cy="13560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marL="342900" indent="-342900">
              <a:spcBef>
                <a:spcPts val="800"/>
              </a:spcBef>
              <a:buSzPct val="100000"/>
              <a:buChar char="•"/>
              <a:defRPr sz="1100">
                <a:solidFill>
                  <a:srgbClr val="525F7F"/>
                </a:solidFill>
              </a:defRPr>
            </a:pPr>
            <a:r>
              <a:t>Narrative memos replace PowerPoint</a:t>
            </a:r>
          </a:p>
          <a:p>
            <a:pPr marL="342900" indent="-342900">
              <a:spcBef>
                <a:spcPts val="800"/>
              </a:spcBef>
              <a:buSzPct val="100000"/>
              <a:buChar char="•"/>
              <a:defRPr sz="1100">
                <a:solidFill>
                  <a:srgbClr val="525F7F"/>
                </a:solidFill>
              </a:defRPr>
            </a:pPr>
            <a:r>
              <a:t>Patrick's emails structured like research papers with footnotes</a:t>
            </a:r>
          </a:p>
          <a:p>
            <a:pPr marL="342900" indent="-342900">
              <a:spcBef>
                <a:spcPts val="800"/>
              </a:spcBef>
              <a:buSzPct val="100000"/>
              <a:buChar char="•"/>
              <a:defRPr sz="1100">
                <a:solidFill>
                  <a:srgbClr val="525F7F"/>
                </a:solidFill>
              </a:defRPr>
            </a:pPr>
            <a:r>
              <a:t>Decision logs posted to team Slack channels</a:t>
            </a:r>
          </a:p>
          <a:p>
            <a:pPr marL="342900" indent="-342900">
              <a:spcBef>
                <a:spcPts val="800"/>
              </a:spcBef>
              <a:buSzPct val="100000"/>
              <a:buChar char="•"/>
              <a:defRPr sz="1100">
                <a:solidFill>
                  <a:srgbClr val="525F7F"/>
                </a:solidFill>
              </a:defRPr>
            </a:pPr>
            <a:r>
              <a:t>Writing persists, can be revised, provides clarity speaking cannot</a:t>
            </a:r>
          </a:p>
        </p:txBody>
      </p:sp>
      <p:sp>
        <p:nvSpPr>
          <p:cNvPr id="105" name="Text 8"/>
          <p:cNvSpPr txBox="1"/>
          <p:nvPr/>
        </p:nvSpPr>
        <p:spPr>
          <a:xfrm>
            <a:off x="4846320" y="1071180"/>
            <a:ext cx="384048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1A1F36"/>
                </a:solidFill>
              </a:defRPr>
            </a:lvl1pPr>
          </a:lstStyle>
          <a:p>
            <a:pPr/>
            <a:r>
              <a:t>CHJ's Contributions</a:t>
            </a:r>
          </a:p>
        </p:txBody>
      </p:sp>
      <p:sp>
        <p:nvSpPr>
          <p:cNvPr id="106" name="Text 10"/>
          <p:cNvSpPr txBox="1"/>
          <p:nvPr/>
        </p:nvSpPr>
        <p:spPr>
          <a:xfrm>
            <a:off x="5074920" y="1417319"/>
            <a:ext cx="3657601" cy="3021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100">
                <a:solidFill>
                  <a:srgbClr val="1A1F36"/>
                </a:solidFill>
              </a:defRPr>
            </a:pPr>
            <a:r>
              <a:t>"How to Work with Me"</a:t>
            </a:r>
          </a:p>
          <a:p>
            <a:pPr>
              <a:defRPr sz="1000">
                <a:solidFill>
                  <a:srgbClr val="525F7F"/>
                </a:solidFill>
              </a:defRPr>
            </a:pPr>
            <a:r>
              <a:t>Personal operating manuals shared org-wide</a:t>
            </a:r>
          </a:p>
        </p:txBody>
      </p:sp>
      <p:sp>
        <p:nvSpPr>
          <p:cNvPr id="107" name="Text 12"/>
          <p:cNvSpPr txBox="1"/>
          <p:nvPr/>
        </p:nvSpPr>
        <p:spPr>
          <a:xfrm>
            <a:off x="5074920" y="2057399"/>
            <a:ext cx="3657601" cy="3021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100">
                <a:solidFill>
                  <a:srgbClr val="1A1F36"/>
                </a:solidFill>
              </a:defRPr>
            </a:pPr>
            <a:r>
              <a:t>Team Charters</a:t>
            </a:r>
          </a:p>
          <a:p>
            <a:pPr>
              <a:defRPr sz="1000">
                <a:solidFill>
                  <a:srgbClr val="525F7F"/>
                </a:solidFill>
              </a:defRPr>
            </a:pPr>
            <a:r>
              <a:t>Why each team exists, their mission, customers, metrics</a:t>
            </a:r>
          </a:p>
        </p:txBody>
      </p:sp>
      <p:sp>
        <p:nvSpPr>
          <p:cNvPr id="108" name="Text 14"/>
          <p:cNvSpPr txBox="1"/>
          <p:nvPr/>
        </p:nvSpPr>
        <p:spPr>
          <a:xfrm>
            <a:off x="5074920" y="2697479"/>
            <a:ext cx="3657601" cy="3021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100">
                <a:solidFill>
                  <a:srgbClr val="1A1F36"/>
                </a:solidFill>
              </a:defRPr>
            </a:pPr>
            <a:r>
              <a:t>Scaling People</a:t>
            </a:r>
          </a:p>
          <a:p>
            <a:pPr>
              <a:defRPr sz="1000">
                <a:solidFill>
                  <a:srgbClr val="525F7F"/>
                </a:solidFill>
              </a:defRPr>
            </a:pPr>
            <a:r>
              <a:t>100+ pages of templates, worksheets, frameworks (Stripe Press, 2023)</a:t>
            </a:r>
          </a:p>
        </p:txBody>
      </p:sp>
      <p:sp>
        <p:nvSpPr>
          <p:cNvPr id="109" name="Text 16"/>
          <p:cNvSpPr txBox="1"/>
          <p:nvPr/>
        </p:nvSpPr>
        <p:spPr>
          <a:xfrm>
            <a:off x="5074920" y="3337559"/>
            <a:ext cx="3657601" cy="3021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100">
                <a:solidFill>
                  <a:srgbClr val="1A1F36"/>
                </a:solidFill>
              </a:defRPr>
            </a:pPr>
            <a:r>
              <a:t>Distributed Decisions</a:t>
            </a:r>
          </a:p>
          <a:p>
            <a:pPr>
              <a:defRPr sz="1000">
                <a:solidFill>
                  <a:srgbClr val="525F7F"/>
                </a:solidFill>
              </a:defRPr>
            </a:pPr>
            <a:r>
              <a:t>"Not distributing decision-making is a secret killer of companies"</a:t>
            </a:r>
          </a:p>
        </p:txBody>
      </p:sp>
      <p:sp>
        <p:nvSpPr>
          <p:cNvPr id="110" name="Text 18"/>
          <p:cNvSpPr txBox="1"/>
          <p:nvPr/>
        </p:nvSpPr>
        <p:spPr>
          <a:xfrm>
            <a:off x="960119" y="3936999"/>
            <a:ext cx="7223762" cy="447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1200">
                <a:solidFill>
                  <a:srgbClr val="635BFF"/>
                </a:solidFill>
                <a:latin typeface="Georgia"/>
                <a:ea typeface="Georgia"/>
                <a:cs typeface="Georgia"/>
                <a:sym typeface="Georgia"/>
              </a:defRPr>
            </a:lvl1pPr>
          </a:lstStyle>
          <a:p>
            <a:pPr/>
            <a:r>
              <a:t>“Stripe is an incredibly deep-thinking culture and a written culture really focused on getting to the right answer.”</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A1F36"/>
        </a:solidFill>
      </p:bgPr>
    </p:bg>
    <p:spTree>
      <p:nvGrpSpPr>
        <p:cNvPr id="1" name=""/>
        <p:cNvGrpSpPr/>
        <p:nvPr/>
      </p:nvGrpSpPr>
      <p:grpSpPr>
        <a:xfrm>
          <a:off x="0" y="0"/>
          <a:ext cx="0" cy="0"/>
          <a:chOff x="0" y="0"/>
          <a:chExt cx="0" cy="0"/>
        </a:xfrm>
      </p:grpSpPr>
      <p:sp>
        <p:nvSpPr>
          <p:cNvPr id="112" name="Text 0"/>
          <p:cNvSpPr txBox="1"/>
          <p:nvPr/>
        </p:nvSpPr>
        <p:spPr>
          <a:xfrm>
            <a:off x="640079" y="550086"/>
            <a:ext cx="7863842"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400" sz="1100">
                <a:solidFill>
                  <a:srgbClr val="635BFF"/>
                </a:solidFill>
              </a:defRPr>
            </a:lvl1pPr>
          </a:lstStyle>
          <a:p>
            <a:pPr/>
            <a:r>
              <a:t>SECTION 2 — BUSINESS LANDSCAPE MAP</a:t>
            </a:r>
          </a:p>
        </p:txBody>
      </p:sp>
      <p:sp>
        <p:nvSpPr>
          <p:cNvPr id="113" name="Text 2"/>
          <p:cNvSpPr txBox="1"/>
          <p:nvPr/>
        </p:nvSpPr>
        <p:spPr>
          <a:xfrm>
            <a:off x="1051560" y="1143000"/>
            <a:ext cx="7040879" cy="87376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pc="300" sz="900">
                <a:solidFill>
                  <a:srgbClr val="635BFF"/>
                </a:solidFill>
              </a:defRPr>
            </a:pPr>
            <a:r>
              <a:t>VERBATIM PROMPT</a:t>
            </a:r>
          </a:p>
          <a:p>
            <a:pPr>
              <a:defRPr sz="900"/>
            </a:pPr>
          </a:p>
          <a:p>
            <a:pPr>
              <a:lnSpc>
                <a:spcPct val="130000"/>
              </a:lnSpc>
              <a:defRPr i="1" sz="1000">
                <a:solidFill>
                  <a:srgbClr val="F6F9FC"/>
                </a:solidFill>
                <a:latin typeface="Georgia"/>
                <a:ea typeface="Georgia"/>
                <a:cs typeface="Georgia"/>
                <a:sym typeface="Georgia"/>
              </a:defRPr>
            </a:pPr>
            <a:r>
              <a:t>"Next I want your help compiling a comprehensive map of stripe’s current business — both the core (e.g. payments processing), side businesses (e.g. atlas), and nascent investments (e.g. stablecoins). my goal: I don’t want to recommend anything they are doing."</a:t>
            </a:r>
          </a:p>
        </p:txBody>
      </p:sp>
      <p:sp>
        <p:nvSpPr>
          <p:cNvPr id="114" name="Text 3"/>
          <p:cNvSpPr txBox="1"/>
          <p:nvPr/>
        </p:nvSpPr>
        <p:spPr>
          <a:xfrm>
            <a:off x="685799" y="3474720"/>
            <a:ext cx="7772402" cy="71413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pc="300" sz="900">
                <a:solidFill>
                  <a:srgbClr val="0A9396"/>
                </a:solidFill>
              </a:defRPr>
            </a:pPr>
            <a:r>
              <a:t>WHAT CLAUDE DID</a:t>
            </a:r>
          </a:p>
          <a:p>
            <a:pPr>
              <a:defRPr sz="900"/>
            </a:pPr>
          </a:p>
          <a:p>
            <a:pPr>
              <a:lnSpc>
                <a:spcPct val="130000"/>
              </a:lnSpc>
              <a:defRPr sz="1000">
                <a:solidFill>
                  <a:srgbClr val="E3E8EE"/>
                </a:solidFill>
              </a:defRPr>
            </a:pPr>
            <a:r>
              <a:t>Searched Stripe’s newsroom, product pages, Sessions 2025 announcements, and analyst coverage. Cataloged 30+ products across four tiers. Produced a 700-line business map with launch dates, target segments, competitors, and key metrics for each product.</a:t>
            </a:r>
          </a:p>
        </p:txBody>
      </p:sp>
      <p:sp>
        <p:nvSpPr>
          <p:cNvPr id="115" name="Text 4"/>
          <p:cNvSpPr txBox="1"/>
          <p:nvPr/>
        </p:nvSpPr>
        <p:spPr>
          <a:xfrm>
            <a:off x="7818119" y="4789083"/>
            <a:ext cx="100584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8898AA"/>
                </a:solidFill>
              </a:defRPr>
            </a:lvl1pPr>
          </a:lstStyle>
          <a:p>
            <a:pPr/>
            <a:r>
              <a:t>9 / 34</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6F9FC"/>
        </a:solidFill>
      </p:bgPr>
    </p:bg>
    <p:spTree>
      <p:nvGrpSpPr>
        <p:cNvPr id="1" name=""/>
        <p:cNvGrpSpPr/>
        <p:nvPr/>
      </p:nvGrpSpPr>
      <p:grpSpPr>
        <a:xfrm>
          <a:off x="0" y="0"/>
          <a:ext cx="0" cy="0"/>
          <a:chOff x="0" y="0"/>
          <a:chExt cx="0" cy="0"/>
        </a:xfrm>
      </p:grpSpPr>
      <p:sp>
        <p:nvSpPr>
          <p:cNvPr id="117" name="Text 1"/>
          <p:cNvSpPr txBox="1"/>
          <p:nvPr/>
        </p:nvSpPr>
        <p:spPr>
          <a:xfrm>
            <a:off x="640079" y="298450"/>
            <a:ext cx="7863842"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200">
                <a:solidFill>
                  <a:srgbClr val="1A1F36"/>
                </a:solidFill>
                <a:latin typeface="Georgia"/>
                <a:ea typeface="Georgia"/>
                <a:cs typeface="Georgia"/>
                <a:sym typeface="Georgia"/>
              </a:defRPr>
            </a:lvl1pPr>
          </a:lstStyle>
          <a:p>
            <a:pPr/>
            <a:r>
              <a:t>Tier 1: Core Revenue Drivers</a:t>
            </a:r>
          </a:p>
        </p:txBody>
      </p:sp>
      <p:sp>
        <p:nvSpPr>
          <p:cNvPr id="118" name="Text 4"/>
          <p:cNvSpPr txBox="1"/>
          <p:nvPr/>
        </p:nvSpPr>
        <p:spPr>
          <a:xfrm>
            <a:off x="502919" y="4919761"/>
            <a:ext cx="8138162" cy="19601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800">
                <a:solidFill>
                  <a:srgbClr val="8898AA"/>
                </a:solidFill>
              </a:defRPr>
            </a:lvl1pPr>
          </a:lstStyle>
          <a:p>
            <a:pPr/>
            <a:r>
              <a:t>Stripe GTM Research  |  Cowork Mode Demo  |  February 2026</a:t>
            </a:r>
          </a:p>
        </p:txBody>
      </p:sp>
      <p:sp>
        <p:nvSpPr>
          <p:cNvPr id="119" name="Text 5"/>
          <p:cNvSpPr txBox="1"/>
          <p:nvPr/>
        </p:nvSpPr>
        <p:spPr>
          <a:xfrm>
            <a:off x="7818119" y="4789083"/>
            <a:ext cx="100584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8898AA"/>
                </a:solidFill>
              </a:defRPr>
            </a:lvl1pPr>
          </a:lstStyle>
          <a:p>
            <a:pPr/>
            <a:r>
              <a:t>10 / 34</a:t>
            </a:r>
          </a:p>
        </p:txBody>
      </p:sp>
      <p:sp>
        <p:nvSpPr>
          <p:cNvPr id="120" name="Text 7"/>
          <p:cNvSpPr txBox="1"/>
          <p:nvPr/>
        </p:nvSpPr>
        <p:spPr>
          <a:xfrm>
            <a:off x="777239" y="1219639"/>
            <a:ext cx="2331722"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1A1F36"/>
                </a:solidFill>
              </a:defRPr>
            </a:lvl1pPr>
          </a:lstStyle>
          <a:p>
            <a:pPr/>
            <a:r>
              <a:t>Payments</a:t>
            </a:r>
          </a:p>
        </p:txBody>
      </p:sp>
      <p:sp>
        <p:nvSpPr>
          <p:cNvPr id="121" name="Text 8"/>
          <p:cNvSpPr txBox="1"/>
          <p:nvPr/>
        </p:nvSpPr>
        <p:spPr>
          <a:xfrm>
            <a:off x="777239" y="1510029"/>
            <a:ext cx="2331722"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2200">
                <a:solidFill>
                  <a:srgbClr val="635BFF"/>
                </a:solidFill>
                <a:latin typeface="Georgia"/>
                <a:ea typeface="Georgia"/>
                <a:cs typeface="Georgia"/>
                <a:sym typeface="Georgia"/>
              </a:defRPr>
            </a:pPr>
            <a:r>
              <a:t>$1.4T</a:t>
            </a:r>
            <a:r>
              <a:rPr b="0" sz="900">
                <a:solidFill>
                  <a:srgbClr val="8898AA"/>
                </a:solidFill>
                <a:latin typeface="+mn-lt"/>
                <a:ea typeface="+mn-ea"/>
                <a:cs typeface="+mn-cs"/>
                <a:sym typeface="Calibri"/>
              </a:rPr>
              <a:t>  annual volume</a:t>
            </a:r>
          </a:p>
        </p:txBody>
      </p:sp>
      <p:sp>
        <p:nvSpPr>
          <p:cNvPr id="122" name="Text 9"/>
          <p:cNvSpPr txBox="1"/>
          <p:nvPr/>
        </p:nvSpPr>
        <p:spPr>
          <a:xfrm>
            <a:off x="777239" y="2076023"/>
            <a:ext cx="2331722" cy="28279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25000"/>
              </a:lnSpc>
              <a:defRPr sz="900">
                <a:solidFill>
                  <a:srgbClr val="525F7F"/>
                </a:solidFill>
              </a:defRPr>
            </a:lvl1pPr>
          </a:lstStyle>
          <a:p>
            <a:pPr/>
            <a:r>
              <a:t>Cards, bank transfers, wallets, 40+ methods, 135+ currencies</a:t>
            </a:r>
          </a:p>
        </p:txBody>
      </p:sp>
      <p:sp>
        <p:nvSpPr>
          <p:cNvPr id="123" name="Text 11"/>
          <p:cNvSpPr txBox="1"/>
          <p:nvPr/>
        </p:nvSpPr>
        <p:spPr>
          <a:xfrm>
            <a:off x="3566159" y="1219639"/>
            <a:ext cx="2331721"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1A1F36"/>
                </a:solidFill>
              </a:defRPr>
            </a:lvl1pPr>
          </a:lstStyle>
          <a:p>
            <a:pPr/>
            <a:r>
              <a:t>Billing</a:t>
            </a:r>
          </a:p>
        </p:txBody>
      </p:sp>
      <p:sp>
        <p:nvSpPr>
          <p:cNvPr id="124" name="Text 12"/>
          <p:cNvSpPr txBox="1"/>
          <p:nvPr/>
        </p:nvSpPr>
        <p:spPr>
          <a:xfrm>
            <a:off x="3566159" y="1510029"/>
            <a:ext cx="2331721"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2200">
                <a:solidFill>
                  <a:srgbClr val="635BFF"/>
                </a:solidFill>
                <a:latin typeface="Georgia"/>
                <a:ea typeface="Georgia"/>
                <a:cs typeface="Georgia"/>
                <a:sym typeface="Georgia"/>
              </a:defRPr>
            </a:pPr>
            <a:r>
              <a:t>$500M+</a:t>
            </a:r>
            <a:r>
              <a:rPr b="0" sz="900">
                <a:solidFill>
                  <a:srgbClr val="8898AA"/>
                </a:solidFill>
                <a:latin typeface="+mn-lt"/>
                <a:ea typeface="+mn-ea"/>
                <a:cs typeface="+mn-cs"/>
                <a:sym typeface="Calibri"/>
              </a:rPr>
              <a:t>  run rate</a:t>
            </a:r>
          </a:p>
        </p:txBody>
      </p:sp>
      <p:sp>
        <p:nvSpPr>
          <p:cNvPr id="125" name="Text 13"/>
          <p:cNvSpPr txBox="1"/>
          <p:nvPr/>
        </p:nvSpPr>
        <p:spPr>
          <a:xfrm>
            <a:off x="3566159" y="2076023"/>
            <a:ext cx="2331721" cy="28279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25000"/>
              </a:lnSpc>
              <a:defRPr sz="900">
                <a:solidFill>
                  <a:srgbClr val="525F7F"/>
                </a:solidFill>
              </a:defRPr>
            </a:lvl1pPr>
          </a:lstStyle>
          <a:p>
            <a:pPr/>
            <a:r>
              <a:t>Subscriptions, usage-based billing, smart retries, invoicing</a:t>
            </a:r>
          </a:p>
        </p:txBody>
      </p:sp>
      <p:sp>
        <p:nvSpPr>
          <p:cNvPr id="126" name="Text 15"/>
          <p:cNvSpPr txBox="1"/>
          <p:nvPr/>
        </p:nvSpPr>
        <p:spPr>
          <a:xfrm>
            <a:off x="6355079" y="1219639"/>
            <a:ext cx="2331721"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1A1F36"/>
                </a:solidFill>
              </a:defRPr>
            </a:lvl1pPr>
          </a:lstStyle>
          <a:p>
            <a:pPr/>
            <a:r>
              <a:t>Connect</a:t>
            </a:r>
          </a:p>
        </p:txBody>
      </p:sp>
      <p:sp>
        <p:nvSpPr>
          <p:cNvPr id="127" name="Text 16"/>
          <p:cNvSpPr txBox="1"/>
          <p:nvPr/>
        </p:nvSpPr>
        <p:spPr>
          <a:xfrm>
            <a:off x="6355079" y="1510029"/>
            <a:ext cx="2331721"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2200">
                <a:solidFill>
                  <a:srgbClr val="635BFF"/>
                </a:solidFill>
                <a:latin typeface="Georgia"/>
                <a:ea typeface="Georgia"/>
                <a:cs typeface="Georgia"/>
                <a:sym typeface="Georgia"/>
              </a:defRPr>
            </a:pPr>
            <a:r>
              <a:t>17</a:t>
            </a:r>
            <a:r>
              <a:rPr b="0" sz="900">
                <a:solidFill>
                  <a:srgbClr val="8898AA"/>
                </a:solidFill>
                <a:latin typeface="+mn-lt"/>
                <a:ea typeface="+mn-ea"/>
                <a:cs typeface="+mn-cs"/>
                <a:sym typeface="Calibri"/>
              </a:rPr>
              <a:t>  embedded components</a:t>
            </a:r>
          </a:p>
        </p:txBody>
      </p:sp>
      <p:sp>
        <p:nvSpPr>
          <p:cNvPr id="128" name="Text 17"/>
          <p:cNvSpPr txBox="1"/>
          <p:nvPr/>
        </p:nvSpPr>
        <p:spPr>
          <a:xfrm>
            <a:off x="6355079" y="2076023"/>
            <a:ext cx="2331721" cy="28279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25000"/>
              </a:lnSpc>
              <a:defRPr sz="900">
                <a:solidFill>
                  <a:srgbClr val="525F7F"/>
                </a:solidFill>
              </a:defRPr>
            </a:lvl1pPr>
          </a:lstStyle>
          <a:p>
            <a:pPr/>
            <a:r>
              <a:t>Marketplace &amp; platform payments, connected accounts, payouts</a:t>
            </a:r>
          </a:p>
        </p:txBody>
      </p:sp>
      <p:sp>
        <p:nvSpPr>
          <p:cNvPr id="129" name="Text 19"/>
          <p:cNvSpPr txBox="1"/>
          <p:nvPr/>
        </p:nvSpPr>
        <p:spPr>
          <a:xfrm>
            <a:off x="777239" y="3048439"/>
            <a:ext cx="2331722"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1A1F36"/>
                </a:solidFill>
              </a:defRPr>
            </a:lvl1pPr>
          </a:lstStyle>
          <a:p>
            <a:pPr/>
            <a:r>
              <a:t>Checkout Suite</a:t>
            </a:r>
          </a:p>
        </p:txBody>
      </p:sp>
      <p:sp>
        <p:nvSpPr>
          <p:cNvPr id="130" name="Text 20"/>
          <p:cNvSpPr txBox="1"/>
          <p:nvPr/>
        </p:nvSpPr>
        <p:spPr>
          <a:xfrm>
            <a:off x="777239" y="3338830"/>
            <a:ext cx="2331722"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2200">
                <a:solidFill>
                  <a:srgbClr val="635BFF"/>
                </a:solidFill>
                <a:latin typeface="Georgia"/>
                <a:ea typeface="Georgia"/>
                <a:cs typeface="Georgia"/>
                <a:sym typeface="Georgia"/>
              </a:defRPr>
            </a:pPr>
            <a:r>
              <a:t>11.9%</a:t>
            </a:r>
            <a:r>
              <a:rPr b="0" sz="900">
                <a:solidFill>
                  <a:srgbClr val="8898AA"/>
                </a:solidFill>
                <a:latin typeface="+mn-lt"/>
                <a:ea typeface="+mn-ea"/>
                <a:cs typeface="+mn-cs"/>
                <a:sym typeface="Calibri"/>
              </a:rPr>
              <a:t>  avg revenue uplift</a:t>
            </a:r>
          </a:p>
        </p:txBody>
      </p:sp>
      <p:sp>
        <p:nvSpPr>
          <p:cNvPr id="131" name="Text 21"/>
          <p:cNvSpPr txBox="1"/>
          <p:nvPr/>
        </p:nvSpPr>
        <p:spPr>
          <a:xfrm>
            <a:off x="777239" y="3904824"/>
            <a:ext cx="2331722" cy="28279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25000"/>
              </a:lnSpc>
              <a:defRPr sz="900">
                <a:solidFill>
                  <a:srgbClr val="525F7F"/>
                </a:solidFill>
              </a:defRPr>
            </a:lvl1pPr>
          </a:lstStyle>
          <a:p>
            <a:pPr/>
            <a:r>
              <a:t>AI-powered checkout, dynamic payment ranking, A/B testing</a:t>
            </a:r>
          </a:p>
        </p:txBody>
      </p:sp>
      <p:sp>
        <p:nvSpPr>
          <p:cNvPr id="132" name="Text 23"/>
          <p:cNvSpPr txBox="1"/>
          <p:nvPr/>
        </p:nvSpPr>
        <p:spPr>
          <a:xfrm>
            <a:off x="3566159" y="3048439"/>
            <a:ext cx="2331721"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1A1F36"/>
                </a:solidFill>
              </a:defRPr>
            </a:lvl1pPr>
          </a:lstStyle>
          <a:p>
            <a:pPr/>
            <a:r>
              <a:t>Radar</a:t>
            </a:r>
          </a:p>
        </p:txBody>
      </p:sp>
      <p:sp>
        <p:nvSpPr>
          <p:cNvPr id="133" name="Text 24"/>
          <p:cNvSpPr txBox="1"/>
          <p:nvPr/>
        </p:nvSpPr>
        <p:spPr>
          <a:xfrm>
            <a:off x="3566159" y="3338830"/>
            <a:ext cx="2331721"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2200">
                <a:solidFill>
                  <a:srgbClr val="635BFF"/>
                </a:solidFill>
                <a:latin typeface="Georgia"/>
                <a:ea typeface="Georgia"/>
                <a:cs typeface="Georgia"/>
                <a:sym typeface="Georgia"/>
              </a:defRPr>
            </a:pPr>
            <a:r>
              <a:t>38%</a:t>
            </a:r>
            <a:r>
              <a:rPr b="0" sz="900">
                <a:solidFill>
                  <a:srgbClr val="8898AA"/>
                </a:solidFill>
                <a:latin typeface="+mn-lt"/>
                <a:ea typeface="+mn-ea"/>
                <a:cs typeface="+mn-cs"/>
                <a:sym typeface="Calibri"/>
              </a:rPr>
              <a:t>  fraud reduction</a:t>
            </a:r>
          </a:p>
        </p:txBody>
      </p:sp>
      <p:sp>
        <p:nvSpPr>
          <p:cNvPr id="134" name="Text 25"/>
          <p:cNvSpPr txBox="1"/>
          <p:nvPr/>
        </p:nvSpPr>
        <p:spPr>
          <a:xfrm>
            <a:off x="3566159" y="3982720"/>
            <a:ext cx="23317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25000"/>
              </a:lnSpc>
              <a:defRPr sz="900">
                <a:solidFill>
                  <a:srgbClr val="525F7F"/>
                </a:solidFill>
              </a:defRPr>
            </a:lvl1pPr>
          </a:lstStyle>
          <a:p>
            <a:pPr/>
            <a:r>
              <a:t>ML fraud detection, 1000+ signals, smart disputes</a:t>
            </a:r>
          </a:p>
        </p:txBody>
      </p:sp>
      <p:sp>
        <p:nvSpPr>
          <p:cNvPr id="135" name="Text 27"/>
          <p:cNvSpPr txBox="1"/>
          <p:nvPr/>
        </p:nvSpPr>
        <p:spPr>
          <a:xfrm>
            <a:off x="6355079" y="3048439"/>
            <a:ext cx="2331721"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1A1F36"/>
                </a:solidFill>
              </a:defRPr>
            </a:lvl1pPr>
          </a:lstStyle>
          <a:p>
            <a:pPr/>
            <a:r>
              <a:t>Revenue Recognition</a:t>
            </a:r>
          </a:p>
        </p:txBody>
      </p:sp>
      <p:sp>
        <p:nvSpPr>
          <p:cNvPr id="136" name="Text 28"/>
          <p:cNvSpPr txBox="1"/>
          <p:nvPr/>
        </p:nvSpPr>
        <p:spPr>
          <a:xfrm>
            <a:off x="6355079" y="3338830"/>
            <a:ext cx="2331721"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2200">
                <a:solidFill>
                  <a:srgbClr val="635BFF"/>
                </a:solidFill>
                <a:latin typeface="Georgia"/>
                <a:ea typeface="Georgia"/>
                <a:cs typeface="Georgia"/>
                <a:sym typeface="Georgia"/>
              </a:defRPr>
            </a:pPr>
            <a:r>
              <a:t>ASC 606</a:t>
            </a:r>
            <a:r>
              <a:rPr b="0" sz="900">
                <a:solidFill>
                  <a:srgbClr val="8898AA"/>
                </a:solidFill>
                <a:latin typeface="+mn-lt"/>
                <a:ea typeface="+mn-ea"/>
                <a:cs typeface="+mn-cs"/>
                <a:sym typeface="Calibri"/>
              </a:rPr>
              <a:t>  compliant</a:t>
            </a:r>
          </a:p>
        </p:txBody>
      </p:sp>
      <p:sp>
        <p:nvSpPr>
          <p:cNvPr id="137" name="Text 29"/>
          <p:cNvSpPr txBox="1"/>
          <p:nvPr/>
        </p:nvSpPr>
        <p:spPr>
          <a:xfrm>
            <a:off x="6355079" y="3904824"/>
            <a:ext cx="2331721" cy="28279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25000"/>
              </a:lnSpc>
              <a:defRPr sz="900">
                <a:solidFill>
                  <a:srgbClr val="525F7F"/>
                </a:solidFill>
              </a:defRPr>
            </a:lvl1pPr>
          </a:lstStyle>
          <a:p>
            <a:pPr/>
            <a:r>
              <a:t>Automated accrual accounting, real-time recognition</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6F9FC"/>
        </a:solidFill>
      </p:bgPr>
    </p:bg>
    <p:spTree>
      <p:nvGrpSpPr>
        <p:cNvPr id="1" name=""/>
        <p:cNvGrpSpPr/>
        <p:nvPr/>
      </p:nvGrpSpPr>
      <p:grpSpPr>
        <a:xfrm>
          <a:off x="0" y="0"/>
          <a:ext cx="0" cy="0"/>
          <a:chOff x="0" y="0"/>
          <a:chExt cx="0" cy="0"/>
        </a:xfrm>
      </p:grpSpPr>
      <p:sp>
        <p:nvSpPr>
          <p:cNvPr id="139" name="Text 1"/>
          <p:cNvSpPr txBox="1"/>
          <p:nvPr/>
        </p:nvSpPr>
        <p:spPr>
          <a:xfrm>
            <a:off x="640079" y="298450"/>
            <a:ext cx="7863842"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200">
                <a:solidFill>
                  <a:srgbClr val="1A1F36"/>
                </a:solidFill>
                <a:latin typeface="Georgia"/>
                <a:ea typeface="Georgia"/>
                <a:cs typeface="Georgia"/>
                <a:sym typeface="Georgia"/>
              </a:defRPr>
            </a:lvl1pPr>
          </a:lstStyle>
          <a:p>
            <a:pPr/>
            <a:r>
              <a:t>Tier 2: Established Side Businesses</a:t>
            </a:r>
          </a:p>
        </p:txBody>
      </p:sp>
      <p:sp>
        <p:nvSpPr>
          <p:cNvPr id="140" name="Text 4"/>
          <p:cNvSpPr txBox="1"/>
          <p:nvPr/>
        </p:nvSpPr>
        <p:spPr>
          <a:xfrm>
            <a:off x="502919" y="4919761"/>
            <a:ext cx="8138162" cy="19601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800">
                <a:solidFill>
                  <a:srgbClr val="8898AA"/>
                </a:solidFill>
              </a:defRPr>
            </a:lvl1pPr>
          </a:lstStyle>
          <a:p>
            <a:pPr/>
            <a:r>
              <a:t>Stripe GTM Research  |  Cowork Mode Demo  |  February 2026</a:t>
            </a:r>
          </a:p>
        </p:txBody>
      </p:sp>
      <p:sp>
        <p:nvSpPr>
          <p:cNvPr id="141" name="Text 5"/>
          <p:cNvSpPr txBox="1"/>
          <p:nvPr/>
        </p:nvSpPr>
        <p:spPr>
          <a:xfrm>
            <a:off x="7818119" y="4789083"/>
            <a:ext cx="100584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8898AA"/>
                </a:solidFill>
              </a:defRPr>
            </a:lvl1pPr>
          </a:lstStyle>
          <a:p>
            <a:pPr/>
            <a:r>
              <a:t>11 / 34</a:t>
            </a:r>
          </a:p>
        </p:txBody>
      </p:sp>
      <p:sp>
        <p:nvSpPr>
          <p:cNvPr id="142" name="Text 8"/>
          <p:cNvSpPr txBox="1"/>
          <p:nvPr/>
        </p:nvSpPr>
        <p:spPr>
          <a:xfrm>
            <a:off x="749808" y="1220015"/>
            <a:ext cx="1700784"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200">
                <a:solidFill>
                  <a:srgbClr val="1A1F36"/>
                </a:solidFill>
              </a:defRPr>
            </a:pPr>
            <a:r>
              <a:t>Atlas</a:t>
            </a:r>
            <a:r>
              <a:rPr b="0" sz="900">
                <a:solidFill>
                  <a:srgbClr val="8898AA"/>
                </a:solidFill>
              </a:rPr>
              <a:t>  2015</a:t>
            </a:r>
          </a:p>
        </p:txBody>
      </p:sp>
      <p:sp>
        <p:nvSpPr>
          <p:cNvPr id="143" name="Text 9"/>
          <p:cNvSpPr txBox="1"/>
          <p:nvPr/>
        </p:nvSpPr>
        <p:spPr>
          <a:xfrm>
            <a:off x="749808" y="1650999"/>
            <a:ext cx="170078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20000"/>
              </a:lnSpc>
              <a:defRPr sz="900">
                <a:solidFill>
                  <a:srgbClr val="525F7F"/>
                </a:solidFill>
              </a:defRPr>
            </a:lvl1pPr>
          </a:lstStyle>
          <a:p>
            <a:pPr/>
            <a:r>
              <a:t>Company incorporation ($500)</a:t>
            </a:r>
          </a:p>
        </p:txBody>
      </p:sp>
      <p:sp>
        <p:nvSpPr>
          <p:cNvPr id="144" name="Text 12"/>
          <p:cNvSpPr txBox="1"/>
          <p:nvPr/>
        </p:nvSpPr>
        <p:spPr>
          <a:xfrm>
            <a:off x="2852928" y="1220015"/>
            <a:ext cx="1700784"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200">
                <a:solidFill>
                  <a:srgbClr val="1A1F36"/>
                </a:solidFill>
              </a:defRPr>
            </a:pPr>
            <a:r>
              <a:t>Issuing</a:t>
            </a:r>
            <a:r>
              <a:rPr b="0" sz="900">
                <a:solidFill>
                  <a:srgbClr val="8898AA"/>
                </a:solidFill>
              </a:rPr>
              <a:t>  2017</a:t>
            </a:r>
          </a:p>
        </p:txBody>
      </p:sp>
      <p:sp>
        <p:nvSpPr>
          <p:cNvPr id="145" name="Text 13"/>
          <p:cNvSpPr txBox="1"/>
          <p:nvPr/>
        </p:nvSpPr>
        <p:spPr>
          <a:xfrm>
            <a:off x="2852928" y="1650999"/>
            <a:ext cx="170078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20000"/>
              </a:lnSpc>
              <a:defRPr sz="900">
                <a:solidFill>
                  <a:srgbClr val="525F7F"/>
                </a:solidFill>
              </a:defRPr>
            </a:lvl1pPr>
          </a:lstStyle>
          <a:p>
            <a:pPr/>
            <a:r>
              <a:t>275M+ virtual/physical cards</a:t>
            </a:r>
          </a:p>
        </p:txBody>
      </p:sp>
      <p:sp>
        <p:nvSpPr>
          <p:cNvPr id="146" name="Text 16"/>
          <p:cNvSpPr txBox="1"/>
          <p:nvPr/>
        </p:nvSpPr>
        <p:spPr>
          <a:xfrm>
            <a:off x="4956047" y="1220015"/>
            <a:ext cx="1700785"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200">
                <a:solidFill>
                  <a:srgbClr val="1A1F36"/>
                </a:solidFill>
              </a:defRPr>
            </a:pPr>
            <a:r>
              <a:t>Capital</a:t>
            </a:r>
            <a:r>
              <a:rPr b="0" sz="900">
                <a:solidFill>
                  <a:srgbClr val="8898AA"/>
                </a:solidFill>
              </a:rPr>
              <a:t>  2014</a:t>
            </a:r>
          </a:p>
        </p:txBody>
      </p:sp>
      <p:sp>
        <p:nvSpPr>
          <p:cNvPr id="147" name="Text 17"/>
          <p:cNvSpPr txBox="1"/>
          <p:nvPr/>
        </p:nvSpPr>
        <p:spPr>
          <a:xfrm>
            <a:off x="4956047" y="1650999"/>
            <a:ext cx="170078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20000"/>
              </a:lnSpc>
              <a:defRPr sz="900">
                <a:solidFill>
                  <a:srgbClr val="525F7F"/>
                </a:solidFill>
              </a:defRPr>
            </a:lvl1pPr>
          </a:lstStyle>
          <a:p>
            <a:pPr/>
            <a:r>
              <a:t>Merchant lending ($100–$150K)</a:t>
            </a:r>
          </a:p>
        </p:txBody>
      </p:sp>
      <p:sp>
        <p:nvSpPr>
          <p:cNvPr id="148" name="Text 20"/>
          <p:cNvSpPr txBox="1"/>
          <p:nvPr/>
        </p:nvSpPr>
        <p:spPr>
          <a:xfrm>
            <a:off x="7059168" y="1220015"/>
            <a:ext cx="1700785"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200">
                <a:solidFill>
                  <a:srgbClr val="1A1F36"/>
                </a:solidFill>
              </a:defRPr>
            </a:pPr>
            <a:r>
              <a:t>Tax</a:t>
            </a:r>
            <a:r>
              <a:rPr b="0" sz="900">
                <a:solidFill>
                  <a:srgbClr val="8898AA"/>
                </a:solidFill>
              </a:rPr>
              <a:t>  2019</a:t>
            </a:r>
          </a:p>
        </p:txBody>
      </p:sp>
      <p:sp>
        <p:nvSpPr>
          <p:cNvPr id="149" name="Text 21"/>
          <p:cNvSpPr txBox="1"/>
          <p:nvPr/>
        </p:nvSpPr>
        <p:spPr>
          <a:xfrm>
            <a:off x="7059168" y="1650999"/>
            <a:ext cx="170078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20000"/>
              </a:lnSpc>
              <a:defRPr sz="900">
                <a:solidFill>
                  <a:srgbClr val="525F7F"/>
                </a:solidFill>
              </a:defRPr>
            </a:lvl1pPr>
          </a:lstStyle>
          <a:p>
            <a:pPr/>
            <a:r>
              <a:t>102 countries, auto-calculation</a:t>
            </a:r>
          </a:p>
        </p:txBody>
      </p:sp>
      <p:sp>
        <p:nvSpPr>
          <p:cNvPr id="150" name="Text 24"/>
          <p:cNvSpPr txBox="1"/>
          <p:nvPr/>
        </p:nvSpPr>
        <p:spPr>
          <a:xfrm>
            <a:off x="749808" y="2454455"/>
            <a:ext cx="1700784"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200">
                <a:solidFill>
                  <a:srgbClr val="1A1F36"/>
                </a:solidFill>
              </a:defRPr>
            </a:pPr>
            <a:r>
              <a:t>Treasury</a:t>
            </a:r>
            <a:r>
              <a:rPr b="0" sz="900">
                <a:solidFill>
                  <a:srgbClr val="8898AA"/>
                </a:solidFill>
              </a:rPr>
              <a:t>  2020</a:t>
            </a:r>
          </a:p>
        </p:txBody>
      </p:sp>
      <p:sp>
        <p:nvSpPr>
          <p:cNvPr id="151" name="Text 25"/>
          <p:cNvSpPr txBox="1"/>
          <p:nvPr/>
        </p:nvSpPr>
        <p:spPr>
          <a:xfrm>
            <a:off x="749808" y="2885439"/>
            <a:ext cx="170078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20000"/>
              </a:lnSpc>
              <a:defRPr sz="900">
                <a:solidFill>
                  <a:srgbClr val="525F7F"/>
                </a:solidFill>
              </a:defRPr>
            </a:lvl1pPr>
          </a:lstStyle>
          <a:p>
            <a:pPr/>
            <a:r>
              <a:t>FDIC-insured embedded banking</a:t>
            </a:r>
          </a:p>
        </p:txBody>
      </p:sp>
      <p:sp>
        <p:nvSpPr>
          <p:cNvPr id="152" name="Text 28"/>
          <p:cNvSpPr txBox="1"/>
          <p:nvPr/>
        </p:nvSpPr>
        <p:spPr>
          <a:xfrm>
            <a:off x="2852928" y="2454455"/>
            <a:ext cx="1700784"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200">
                <a:solidFill>
                  <a:srgbClr val="1A1F36"/>
                </a:solidFill>
              </a:defRPr>
            </a:pPr>
            <a:r>
              <a:t>Identity</a:t>
            </a:r>
            <a:r>
              <a:rPr b="0" sz="900">
                <a:solidFill>
                  <a:srgbClr val="8898AA"/>
                </a:solidFill>
              </a:rPr>
              <a:t>  2019</a:t>
            </a:r>
          </a:p>
        </p:txBody>
      </p:sp>
      <p:sp>
        <p:nvSpPr>
          <p:cNvPr id="153" name="Text 29"/>
          <p:cNvSpPr txBox="1"/>
          <p:nvPr/>
        </p:nvSpPr>
        <p:spPr>
          <a:xfrm>
            <a:off x="2852928" y="2885439"/>
            <a:ext cx="170078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20000"/>
              </a:lnSpc>
              <a:defRPr sz="900">
                <a:solidFill>
                  <a:srgbClr val="525F7F"/>
                </a:solidFill>
              </a:defRPr>
            </a:lvl1pPr>
          </a:lstStyle>
          <a:p>
            <a:pPr/>
            <a:r>
              <a:t>KYC, 100+ country IDs</a:t>
            </a:r>
          </a:p>
        </p:txBody>
      </p:sp>
      <p:sp>
        <p:nvSpPr>
          <p:cNvPr id="154" name="Text 32"/>
          <p:cNvSpPr txBox="1"/>
          <p:nvPr/>
        </p:nvSpPr>
        <p:spPr>
          <a:xfrm>
            <a:off x="4956047" y="2454455"/>
            <a:ext cx="1700785"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200">
                <a:solidFill>
                  <a:srgbClr val="1A1F36"/>
                </a:solidFill>
              </a:defRPr>
            </a:pPr>
            <a:r>
              <a:t>Sigma</a:t>
            </a:r>
            <a:r>
              <a:rPr b="0" sz="900">
                <a:solidFill>
                  <a:srgbClr val="8898AA"/>
                </a:solidFill>
              </a:rPr>
              <a:t>  2020</a:t>
            </a:r>
          </a:p>
        </p:txBody>
      </p:sp>
      <p:sp>
        <p:nvSpPr>
          <p:cNvPr id="155" name="Text 33"/>
          <p:cNvSpPr txBox="1"/>
          <p:nvPr/>
        </p:nvSpPr>
        <p:spPr>
          <a:xfrm>
            <a:off x="4956047" y="2885439"/>
            <a:ext cx="170078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20000"/>
              </a:lnSpc>
              <a:defRPr sz="900">
                <a:solidFill>
                  <a:srgbClr val="525F7F"/>
                </a:solidFill>
              </a:defRPr>
            </a:lvl1pPr>
          </a:lstStyle>
          <a:p>
            <a:pPr/>
            <a:r>
              <a:t>SQL analytics on Stripe data</a:t>
            </a:r>
          </a:p>
        </p:txBody>
      </p:sp>
      <p:sp>
        <p:nvSpPr>
          <p:cNvPr id="156" name="Text 36"/>
          <p:cNvSpPr txBox="1"/>
          <p:nvPr/>
        </p:nvSpPr>
        <p:spPr>
          <a:xfrm>
            <a:off x="7059168" y="2454455"/>
            <a:ext cx="1700785"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200">
                <a:solidFill>
                  <a:srgbClr val="1A1F36"/>
                </a:solidFill>
              </a:defRPr>
            </a:pPr>
            <a:r>
              <a:t>Data Pipeline</a:t>
            </a:r>
            <a:r>
              <a:rPr b="0" sz="900">
                <a:solidFill>
                  <a:srgbClr val="8898AA"/>
                </a:solidFill>
              </a:rPr>
              <a:t>  2021</a:t>
            </a:r>
          </a:p>
        </p:txBody>
      </p:sp>
      <p:sp>
        <p:nvSpPr>
          <p:cNvPr id="157" name="Text 37"/>
          <p:cNvSpPr txBox="1"/>
          <p:nvPr/>
        </p:nvSpPr>
        <p:spPr>
          <a:xfrm>
            <a:off x="7059168" y="2885439"/>
            <a:ext cx="170078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20000"/>
              </a:lnSpc>
              <a:defRPr sz="900">
                <a:solidFill>
                  <a:srgbClr val="525F7F"/>
                </a:solidFill>
              </a:defRPr>
            </a:lvl1pPr>
          </a:lstStyle>
          <a:p>
            <a:pPr/>
            <a:r>
              <a:t>Export to Snowflake/BQ/etc.</a:t>
            </a:r>
          </a:p>
        </p:txBody>
      </p:sp>
      <p:sp>
        <p:nvSpPr>
          <p:cNvPr id="158" name="Text 40"/>
          <p:cNvSpPr txBox="1"/>
          <p:nvPr/>
        </p:nvSpPr>
        <p:spPr>
          <a:xfrm>
            <a:off x="749808" y="3688895"/>
            <a:ext cx="1700784"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200">
                <a:solidFill>
                  <a:srgbClr val="1A1F36"/>
                </a:solidFill>
              </a:defRPr>
            </a:pPr>
            <a:r>
              <a:t>Financial Connections</a:t>
            </a:r>
            <a:r>
              <a:rPr b="0" sz="900">
                <a:solidFill>
                  <a:srgbClr val="8898AA"/>
                </a:solidFill>
              </a:rPr>
              <a:t>  2022</a:t>
            </a:r>
          </a:p>
        </p:txBody>
      </p:sp>
      <p:sp>
        <p:nvSpPr>
          <p:cNvPr id="159" name="Text 41"/>
          <p:cNvSpPr txBox="1"/>
          <p:nvPr/>
        </p:nvSpPr>
        <p:spPr>
          <a:xfrm>
            <a:off x="749808" y="4119879"/>
            <a:ext cx="170078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20000"/>
              </a:lnSpc>
              <a:defRPr sz="900">
                <a:solidFill>
                  <a:srgbClr val="525F7F"/>
                </a:solidFill>
              </a:defRPr>
            </a:lvl1pPr>
          </a:lstStyle>
          <a:p>
            <a:pPr/>
            <a:r>
              <a:t>Open banking aggregation</a:t>
            </a:r>
          </a:p>
        </p:txBody>
      </p:sp>
      <p:sp>
        <p:nvSpPr>
          <p:cNvPr id="160" name="Text 44"/>
          <p:cNvSpPr txBox="1"/>
          <p:nvPr/>
        </p:nvSpPr>
        <p:spPr>
          <a:xfrm>
            <a:off x="2852928" y="3688895"/>
            <a:ext cx="1700784"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200">
                <a:solidFill>
                  <a:srgbClr val="1A1F36"/>
                </a:solidFill>
              </a:defRPr>
            </a:pPr>
            <a:r>
              <a:t>Climate</a:t>
            </a:r>
            <a:r>
              <a:rPr b="0" sz="900">
                <a:solidFill>
                  <a:srgbClr val="8898AA"/>
                </a:solidFill>
              </a:rPr>
              <a:t>  2020</a:t>
            </a:r>
          </a:p>
        </p:txBody>
      </p:sp>
      <p:sp>
        <p:nvSpPr>
          <p:cNvPr id="161" name="Text 45"/>
          <p:cNvSpPr txBox="1"/>
          <p:nvPr/>
        </p:nvSpPr>
        <p:spPr>
          <a:xfrm>
            <a:off x="2852928" y="4119879"/>
            <a:ext cx="170078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20000"/>
              </a:lnSpc>
              <a:defRPr sz="900">
                <a:solidFill>
                  <a:srgbClr val="525F7F"/>
                </a:solidFill>
              </a:defRPr>
            </a:lvl1pPr>
          </a:lstStyle>
          <a:p>
            <a:pPr/>
            <a:r>
              <a:t>Carbon removal marketplace</a:t>
            </a:r>
          </a:p>
        </p:txBody>
      </p:sp>
      <p:sp>
        <p:nvSpPr>
          <p:cNvPr id="162" name="Text 48"/>
          <p:cNvSpPr txBox="1"/>
          <p:nvPr/>
        </p:nvSpPr>
        <p:spPr>
          <a:xfrm>
            <a:off x="4956047" y="3688895"/>
            <a:ext cx="1700785"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200">
                <a:solidFill>
                  <a:srgbClr val="1A1F36"/>
                </a:solidFill>
              </a:defRPr>
            </a:pPr>
            <a:r>
              <a:t>Link</a:t>
            </a:r>
            <a:r>
              <a:rPr b="0" sz="900">
                <a:solidFill>
                  <a:srgbClr val="8898AA"/>
                </a:solidFill>
              </a:rPr>
              <a:t>  2020</a:t>
            </a:r>
          </a:p>
        </p:txBody>
      </p:sp>
      <p:sp>
        <p:nvSpPr>
          <p:cNvPr id="163" name="Text 49"/>
          <p:cNvSpPr txBox="1"/>
          <p:nvPr/>
        </p:nvSpPr>
        <p:spPr>
          <a:xfrm>
            <a:off x="4956047" y="4119879"/>
            <a:ext cx="170078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20000"/>
              </a:lnSpc>
              <a:defRPr sz="900">
                <a:solidFill>
                  <a:srgbClr val="525F7F"/>
                </a:solidFill>
              </a:defRPr>
            </a:lvl1pPr>
          </a:lstStyle>
          <a:p>
            <a:pPr/>
            <a:r>
              <a:t>One-click wallet, 14% uplift</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6F9FC"/>
        </a:solidFill>
      </p:bgPr>
    </p:bg>
    <p:spTree>
      <p:nvGrpSpPr>
        <p:cNvPr id="1" name=""/>
        <p:cNvGrpSpPr/>
        <p:nvPr/>
      </p:nvGrpSpPr>
      <p:grpSpPr>
        <a:xfrm>
          <a:off x="0" y="0"/>
          <a:ext cx="0" cy="0"/>
          <a:chOff x="0" y="0"/>
          <a:chExt cx="0" cy="0"/>
        </a:xfrm>
      </p:grpSpPr>
      <p:sp>
        <p:nvSpPr>
          <p:cNvPr id="165" name="Text 1"/>
          <p:cNvSpPr txBox="1"/>
          <p:nvPr/>
        </p:nvSpPr>
        <p:spPr>
          <a:xfrm>
            <a:off x="640079" y="298450"/>
            <a:ext cx="7863842"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200">
                <a:solidFill>
                  <a:srgbClr val="1A1F36"/>
                </a:solidFill>
                <a:latin typeface="Georgia"/>
                <a:ea typeface="Georgia"/>
                <a:cs typeface="Georgia"/>
                <a:sym typeface="Georgia"/>
              </a:defRPr>
            </a:lvl1pPr>
          </a:lstStyle>
          <a:p>
            <a:pPr/>
            <a:r>
              <a:t>Tier 3: Nascent &amp; Emerging Bets (2024–2025)</a:t>
            </a:r>
          </a:p>
        </p:txBody>
      </p:sp>
      <p:sp>
        <p:nvSpPr>
          <p:cNvPr id="166" name="Text 4"/>
          <p:cNvSpPr txBox="1"/>
          <p:nvPr/>
        </p:nvSpPr>
        <p:spPr>
          <a:xfrm>
            <a:off x="502919" y="4919761"/>
            <a:ext cx="8138162" cy="19601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800">
                <a:solidFill>
                  <a:srgbClr val="8898AA"/>
                </a:solidFill>
              </a:defRPr>
            </a:lvl1pPr>
          </a:lstStyle>
          <a:p>
            <a:pPr/>
            <a:r>
              <a:t>Stripe GTM Research  |  Cowork Mode Demo  |  February 2026</a:t>
            </a:r>
          </a:p>
        </p:txBody>
      </p:sp>
      <p:sp>
        <p:nvSpPr>
          <p:cNvPr id="167" name="Text 5"/>
          <p:cNvSpPr txBox="1"/>
          <p:nvPr/>
        </p:nvSpPr>
        <p:spPr>
          <a:xfrm>
            <a:off x="7818119" y="4789083"/>
            <a:ext cx="100584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8898AA"/>
                </a:solidFill>
              </a:defRPr>
            </a:lvl1pPr>
          </a:lstStyle>
          <a:p>
            <a:pPr/>
            <a:r>
              <a:t>12 / 34</a:t>
            </a:r>
          </a:p>
        </p:txBody>
      </p:sp>
      <p:sp>
        <p:nvSpPr>
          <p:cNvPr id="168" name="Text 8"/>
          <p:cNvSpPr txBox="1"/>
          <p:nvPr/>
        </p:nvSpPr>
        <p:spPr>
          <a:xfrm>
            <a:off x="822960" y="1219639"/>
            <a:ext cx="2286001"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1A1F36"/>
                </a:solidFill>
              </a:defRPr>
            </a:lvl1pPr>
          </a:lstStyle>
          <a:p>
            <a:pPr/>
            <a:r>
              <a:t>Agentic Commerce</a:t>
            </a:r>
          </a:p>
        </p:txBody>
      </p:sp>
      <p:sp>
        <p:nvSpPr>
          <p:cNvPr id="169" name="Text 9"/>
          <p:cNvSpPr txBox="1"/>
          <p:nvPr/>
        </p:nvSpPr>
        <p:spPr>
          <a:xfrm>
            <a:off x="822960" y="1794314"/>
            <a:ext cx="2286001" cy="34329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1000">
                <a:solidFill>
                  <a:srgbClr val="525F7F"/>
                </a:solidFill>
              </a:defRPr>
            </a:lvl1pPr>
          </a:lstStyle>
          <a:p>
            <a:pPr/>
            <a:r>
              <a:t>AI agents purchasing via ChatGPT. Open protocol with OpenAI. 1M+ Etsy sellers live.</a:t>
            </a:r>
          </a:p>
        </p:txBody>
      </p:sp>
      <p:sp>
        <p:nvSpPr>
          <p:cNvPr id="170" name="Text 12"/>
          <p:cNvSpPr txBox="1"/>
          <p:nvPr/>
        </p:nvSpPr>
        <p:spPr>
          <a:xfrm>
            <a:off x="3611879" y="1219639"/>
            <a:ext cx="2286001"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1A1F36"/>
                </a:solidFill>
              </a:defRPr>
            </a:lvl1pPr>
          </a:lstStyle>
          <a:p>
            <a:pPr/>
            <a:r>
              <a:t>Stablecoin Accounts</a:t>
            </a:r>
          </a:p>
        </p:txBody>
      </p:sp>
      <p:sp>
        <p:nvSpPr>
          <p:cNvPr id="171" name="Text 13"/>
          <p:cNvSpPr txBox="1"/>
          <p:nvPr/>
        </p:nvSpPr>
        <p:spPr>
          <a:xfrm>
            <a:off x="3611879" y="1794314"/>
            <a:ext cx="2286001" cy="34329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1000">
                <a:solidFill>
                  <a:srgbClr val="525F7F"/>
                </a:solidFill>
              </a:defRPr>
            </a:lvl1pPr>
          </a:lstStyle>
          <a:p>
            <a:pPr/>
            <a:r>
              <a:t>USDC + USDB via Bridge acquisition ($1.1B). Live in 101 countries.</a:t>
            </a:r>
          </a:p>
        </p:txBody>
      </p:sp>
      <p:sp>
        <p:nvSpPr>
          <p:cNvPr id="172" name="Text 16"/>
          <p:cNvSpPr txBox="1"/>
          <p:nvPr/>
        </p:nvSpPr>
        <p:spPr>
          <a:xfrm>
            <a:off x="6400800" y="1219639"/>
            <a:ext cx="2286000"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1A1F36"/>
                </a:solidFill>
              </a:defRPr>
            </a:lvl1pPr>
          </a:lstStyle>
          <a:p>
            <a:pPr/>
            <a:r>
              <a:t>AI Foundation Model</a:t>
            </a:r>
          </a:p>
        </p:txBody>
      </p:sp>
      <p:sp>
        <p:nvSpPr>
          <p:cNvPr id="173" name="Text 17"/>
          <p:cNvSpPr txBox="1"/>
          <p:nvPr/>
        </p:nvSpPr>
        <p:spPr>
          <a:xfrm>
            <a:off x="6400800" y="1794314"/>
            <a:ext cx="2286000" cy="34329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1000">
                <a:solidFill>
                  <a:srgbClr val="525F7F"/>
                </a:solidFill>
              </a:defRPr>
            </a:lvl1pPr>
          </a:lstStyle>
          <a:p>
            <a:pPr/>
            <a:r>
              <a:t>Payments-specific model trained on billions of transactions. Nvidia partnership.</a:t>
            </a:r>
          </a:p>
        </p:txBody>
      </p:sp>
      <p:sp>
        <p:nvSpPr>
          <p:cNvPr id="174" name="Text 20"/>
          <p:cNvSpPr txBox="1"/>
          <p:nvPr/>
        </p:nvSpPr>
        <p:spPr>
          <a:xfrm>
            <a:off x="822960" y="2911279"/>
            <a:ext cx="2286001"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1A1F36"/>
                </a:solidFill>
              </a:defRPr>
            </a:lvl1pPr>
          </a:lstStyle>
          <a:p>
            <a:pPr/>
            <a:r>
              <a:t>Orchestration</a:t>
            </a:r>
          </a:p>
        </p:txBody>
      </p:sp>
      <p:sp>
        <p:nvSpPr>
          <p:cNvPr id="175" name="Text 21"/>
          <p:cNvSpPr txBox="1"/>
          <p:nvPr/>
        </p:nvSpPr>
        <p:spPr>
          <a:xfrm>
            <a:off x="822960" y="3485954"/>
            <a:ext cx="2286001" cy="34329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1000">
                <a:solidFill>
                  <a:srgbClr val="525F7F"/>
                </a:solidFill>
              </a:defRPr>
            </a:lvl1pPr>
          </a:lstStyle>
          <a:p>
            <a:pPr/>
            <a:r>
              <a:t>Multi-processor management. Vault &amp; Forward API. Enterprise play.</a:t>
            </a:r>
          </a:p>
        </p:txBody>
      </p:sp>
      <p:sp>
        <p:nvSpPr>
          <p:cNvPr id="176" name="Text 24"/>
          <p:cNvSpPr txBox="1"/>
          <p:nvPr/>
        </p:nvSpPr>
        <p:spPr>
          <a:xfrm>
            <a:off x="3611879" y="2911279"/>
            <a:ext cx="2286001"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1A1F36"/>
                </a:solidFill>
              </a:defRPr>
            </a:lvl1pPr>
          </a:lstStyle>
          <a:p>
            <a:pPr/>
            <a:r>
              <a:t>Workflows</a:t>
            </a:r>
          </a:p>
        </p:txBody>
      </p:sp>
      <p:sp>
        <p:nvSpPr>
          <p:cNvPr id="177" name="Text 25"/>
          <p:cNvSpPr txBox="1"/>
          <p:nvPr/>
        </p:nvSpPr>
        <p:spPr>
          <a:xfrm>
            <a:off x="3611879" y="3485954"/>
            <a:ext cx="2286001" cy="34329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1000">
                <a:solidFill>
                  <a:srgbClr val="525F7F"/>
                </a:solidFill>
              </a:defRPr>
            </a:lvl1pPr>
          </a:lstStyle>
          <a:p>
            <a:pPr/>
            <a:r>
              <a:t>No-code visual automation. 600+ API actions. Public preview.</a:t>
            </a:r>
          </a:p>
        </p:txBody>
      </p:sp>
      <p:sp>
        <p:nvSpPr>
          <p:cNvPr id="178" name="Text 28"/>
          <p:cNvSpPr txBox="1"/>
          <p:nvPr/>
        </p:nvSpPr>
        <p:spPr>
          <a:xfrm>
            <a:off x="6400800" y="2911279"/>
            <a:ext cx="2286000"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1A1F36"/>
                </a:solidFill>
              </a:defRPr>
            </a:lvl1pPr>
          </a:lstStyle>
          <a:p>
            <a:pPr/>
            <a:r>
              <a:t>Tempo Blockchain</a:t>
            </a:r>
          </a:p>
        </p:txBody>
      </p:sp>
      <p:sp>
        <p:nvSpPr>
          <p:cNvPr id="179" name="Text 29"/>
          <p:cNvSpPr txBox="1"/>
          <p:nvPr/>
        </p:nvSpPr>
        <p:spPr>
          <a:xfrm>
            <a:off x="6400800" y="3485954"/>
            <a:ext cx="2286000" cy="34329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1000">
                <a:solidFill>
                  <a:srgbClr val="525F7F"/>
                </a:solidFill>
              </a:defRPr>
            </a:lvl1pPr>
          </a:lstStyle>
          <a:p>
            <a:pPr/>
            <a:r>
              <a:t>L2 chain with Paradigm. 100K+ TPS, sub-second finality.</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6F9FC"/>
        </a:solidFill>
      </p:bgPr>
    </p:bg>
    <p:spTree>
      <p:nvGrpSpPr>
        <p:cNvPr id="1" name=""/>
        <p:cNvGrpSpPr/>
        <p:nvPr/>
      </p:nvGrpSpPr>
      <p:grpSpPr>
        <a:xfrm>
          <a:off x="0" y="0"/>
          <a:ext cx="0" cy="0"/>
          <a:chOff x="0" y="0"/>
          <a:chExt cx="0" cy="0"/>
        </a:xfrm>
      </p:grpSpPr>
      <p:sp>
        <p:nvSpPr>
          <p:cNvPr id="181" name="Text 1"/>
          <p:cNvSpPr txBox="1"/>
          <p:nvPr/>
        </p:nvSpPr>
        <p:spPr>
          <a:xfrm>
            <a:off x="640079" y="298450"/>
            <a:ext cx="7863842"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200">
                <a:solidFill>
                  <a:srgbClr val="1A1F36"/>
                </a:solidFill>
                <a:latin typeface="Georgia"/>
                <a:ea typeface="Georgia"/>
                <a:cs typeface="Georgia"/>
                <a:sym typeface="Georgia"/>
              </a:defRPr>
            </a:lvl1pPr>
          </a:lstStyle>
          <a:p>
            <a:pPr/>
            <a:r>
              <a:t>The Gaps: What Stripe Does NOT Offer</a:t>
            </a:r>
          </a:p>
        </p:txBody>
      </p:sp>
      <p:sp>
        <p:nvSpPr>
          <p:cNvPr id="182" name="Text 4"/>
          <p:cNvSpPr txBox="1"/>
          <p:nvPr/>
        </p:nvSpPr>
        <p:spPr>
          <a:xfrm>
            <a:off x="502919" y="4919761"/>
            <a:ext cx="8138162" cy="19601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800">
                <a:solidFill>
                  <a:srgbClr val="8898AA"/>
                </a:solidFill>
              </a:defRPr>
            </a:lvl1pPr>
          </a:lstStyle>
          <a:p>
            <a:pPr/>
            <a:r>
              <a:t>Stripe GTM Research  |  Cowork Mode Demo  |  February 2026</a:t>
            </a:r>
          </a:p>
        </p:txBody>
      </p:sp>
      <p:sp>
        <p:nvSpPr>
          <p:cNvPr id="183" name="Text 5"/>
          <p:cNvSpPr txBox="1"/>
          <p:nvPr/>
        </p:nvSpPr>
        <p:spPr>
          <a:xfrm>
            <a:off x="7818119" y="4789083"/>
            <a:ext cx="100584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8898AA"/>
                </a:solidFill>
              </a:defRPr>
            </a:lvl1pPr>
          </a:lstStyle>
          <a:p>
            <a:pPr/>
            <a:r>
              <a:t>13 / 34</a:t>
            </a:r>
          </a:p>
        </p:txBody>
      </p:sp>
      <p:sp>
        <p:nvSpPr>
          <p:cNvPr id="184" name="Text 6"/>
          <p:cNvSpPr txBox="1"/>
          <p:nvPr/>
        </p:nvSpPr>
        <p:spPr>
          <a:xfrm>
            <a:off x="685799" y="1041707"/>
            <a:ext cx="7772402"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525F7F"/>
                </a:solidFill>
              </a:defRPr>
            </a:lvl1pPr>
          </a:lstStyle>
          <a:p>
            <a:pPr/>
            <a:r>
              <a:t>Confirmed whitespace — areas definitively outside Stripe's current product surface:</a:t>
            </a:r>
          </a:p>
        </p:txBody>
      </p:sp>
      <p:sp>
        <p:nvSpPr>
          <p:cNvPr id="185" name="Text 9"/>
          <p:cNvSpPr txBox="1"/>
          <p:nvPr/>
        </p:nvSpPr>
        <p:spPr>
          <a:xfrm>
            <a:off x="822959" y="1704647"/>
            <a:ext cx="352044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200">
                <a:solidFill>
                  <a:srgbClr val="1A1F36"/>
                </a:solidFill>
              </a:defRPr>
            </a:pPr>
            <a:r>
              <a:t>Payroll</a:t>
            </a:r>
            <a:r>
              <a:rPr b="0" sz="1000">
                <a:solidFill>
                  <a:srgbClr val="525F7F"/>
                </a:solidFill>
              </a:rPr>
              <a:t>   No payroll processing at all</a:t>
            </a:r>
          </a:p>
        </p:txBody>
      </p:sp>
      <p:sp>
        <p:nvSpPr>
          <p:cNvPr id="186" name="Text 12"/>
          <p:cNvSpPr txBox="1"/>
          <p:nvPr/>
        </p:nvSpPr>
        <p:spPr>
          <a:xfrm>
            <a:off x="4846319" y="1704647"/>
            <a:ext cx="352044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200">
                <a:solidFill>
                  <a:srgbClr val="1A1F36"/>
                </a:solidFill>
              </a:defRPr>
            </a:pPr>
            <a:r>
              <a:t>Consumer Credit</a:t>
            </a:r>
            <a:r>
              <a:rPr b="0" sz="1000">
                <a:solidFill>
                  <a:srgbClr val="525F7F"/>
                </a:solidFill>
              </a:rPr>
              <a:t>   No consumer cards, BNPL origination</a:t>
            </a:r>
          </a:p>
        </p:txBody>
      </p:sp>
      <p:sp>
        <p:nvSpPr>
          <p:cNvPr id="187" name="Text 15"/>
          <p:cNvSpPr txBox="1"/>
          <p:nvPr/>
        </p:nvSpPr>
        <p:spPr>
          <a:xfrm>
            <a:off x="822959" y="2363015"/>
            <a:ext cx="352044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200">
                <a:solidFill>
                  <a:srgbClr val="1A1F36"/>
                </a:solidFill>
              </a:defRPr>
            </a:pPr>
            <a:r>
              <a:t>Trading / Investing</a:t>
            </a:r>
            <a:r>
              <a:rPr b="0" sz="1000">
                <a:solidFill>
                  <a:srgbClr val="525F7F"/>
                </a:solidFill>
              </a:rPr>
              <a:t>   No stock, crypto trading, investment mgmt</a:t>
            </a:r>
          </a:p>
        </p:txBody>
      </p:sp>
      <p:sp>
        <p:nvSpPr>
          <p:cNvPr id="188" name="Text 18"/>
          <p:cNvSpPr txBox="1"/>
          <p:nvPr/>
        </p:nvSpPr>
        <p:spPr>
          <a:xfrm>
            <a:off x="4846319" y="2363015"/>
            <a:ext cx="352044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200">
                <a:solidFill>
                  <a:srgbClr val="1A1F36"/>
                </a:solidFill>
              </a:defRPr>
            </a:pPr>
            <a:r>
              <a:t>Insurance</a:t>
            </a:r>
            <a:r>
              <a:rPr b="0" sz="1000">
                <a:solidFill>
                  <a:srgbClr val="525F7F"/>
                </a:solidFill>
              </a:rPr>
              <a:t>   No payment protection beyond chargeback coverage</a:t>
            </a:r>
          </a:p>
        </p:txBody>
      </p:sp>
      <p:sp>
        <p:nvSpPr>
          <p:cNvPr id="189" name="Text 21"/>
          <p:cNvSpPr txBox="1"/>
          <p:nvPr/>
        </p:nvSpPr>
        <p:spPr>
          <a:xfrm>
            <a:off x="822959" y="3021383"/>
            <a:ext cx="352044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200">
                <a:solidFill>
                  <a:srgbClr val="1A1F36"/>
                </a:solidFill>
              </a:defRPr>
            </a:pPr>
            <a:r>
              <a:t>Crypto Custody</a:t>
            </a:r>
            <a:r>
              <a:rPr b="0" sz="1000">
                <a:solidFill>
                  <a:srgbClr val="525F7F"/>
                </a:solidFill>
              </a:rPr>
              <a:t>   No standalone cold storage (Bridge may enable)</a:t>
            </a:r>
          </a:p>
        </p:txBody>
      </p:sp>
      <p:sp>
        <p:nvSpPr>
          <p:cNvPr id="190" name="Text 24"/>
          <p:cNvSpPr txBox="1"/>
          <p:nvPr/>
        </p:nvSpPr>
        <p:spPr>
          <a:xfrm>
            <a:off x="4846319" y="3021383"/>
            <a:ext cx="352044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200">
                <a:solidFill>
                  <a:srgbClr val="1A1F36"/>
                </a:solidFill>
              </a:defRPr>
            </a:pPr>
            <a:r>
              <a:t>Loan Origination</a:t>
            </a:r>
            <a:r>
              <a:rPr b="0" sz="1000">
                <a:solidFill>
                  <a:srgbClr val="525F7F"/>
                </a:solidFill>
              </a:rPr>
              <a:t>   Only merchant cash advances via Capital</a:t>
            </a:r>
          </a:p>
        </p:txBody>
      </p:sp>
      <p:sp>
        <p:nvSpPr>
          <p:cNvPr id="191" name="Text 27"/>
          <p:cNvSpPr txBox="1"/>
          <p:nvPr/>
        </p:nvSpPr>
        <p:spPr>
          <a:xfrm>
            <a:off x="822959" y="3594398"/>
            <a:ext cx="3520442" cy="3275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200">
                <a:solidFill>
                  <a:srgbClr val="1A1F36"/>
                </a:solidFill>
              </a:defRPr>
            </a:pPr>
            <a:r>
              <a:t>Complete POS</a:t>
            </a:r>
            <a:r>
              <a:rPr b="0" sz="1000">
                <a:solidFill>
                  <a:srgbClr val="525F7F"/>
                </a:solidFill>
              </a:rPr>
              <a:t>   Terminal is hardware+API, not closed POS like Square</a:t>
            </a:r>
          </a:p>
        </p:txBody>
      </p:sp>
      <p:sp>
        <p:nvSpPr>
          <p:cNvPr id="192" name="Text 30"/>
          <p:cNvSpPr txBox="1"/>
          <p:nvPr/>
        </p:nvSpPr>
        <p:spPr>
          <a:xfrm>
            <a:off x="4846319" y="3679751"/>
            <a:ext cx="352044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200">
                <a:solidFill>
                  <a:srgbClr val="1A1F36"/>
                </a:solidFill>
              </a:defRPr>
            </a:pPr>
            <a:r>
              <a:t>Consumer Brand</a:t>
            </a:r>
            <a:r>
              <a:rPr b="0" sz="1000">
                <a:solidFill>
                  <a:srgbClr val="525F7F"/>
                </a:solidFill>
              </a:rPr>
              <a:t>   No PayPal-like consumer wallet / brand</a:t>
            </a:r>
          </a:p>
        </p:txBody>
      </p:sp>
      <p:sp>
        <p:nvSpPr>
          <p:cNvPr id="193" name="Text 31"/>
          <p:cNvSpPr txBox="1"/>
          <p:nvPr/>
        </p:nvSpPr>
        <p:spPr>
          <a:xfrm>
            <a:off x="685799" y="4299125"/>
            <a:ext cx="7772402" cy="2257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1100">
                <a:solidFill>
                  <a:srgbClr val="635BFF"/>
                </a:solidFill>
              </a:defRPr>
            </a:lvl1pPr>
          </a:lstStyle>
          <a:p>
            <a:pPr/>
            <a:r>
              <a:t>Any recommendation that falls within these gaps has lower risk of overlap.</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A1F36"/>
        </a:solidFill>
      </p:bgPr>
    </p:bg>
    <p:spTree>
      <p:nvGrpSpPr>
        <p:cNvPr id="1" name=""/>
        <p:cNvGrpSpPr/>
        <p:nvPr/>
      </p:nvGrpSpPr>
      <p:grpSpPr>
        <a:xfrm>
          <a:off x="0" y="0"/>
          <a:ext cx="0" cy="0"/>
          <a:chOff x="0" y="0"/>
          <a:chExt cx="0" cy="0"/>
        </a:xfrm>
      </p:grpSpPr>
      <p:sp>
        <p:nvSpPr>
          <p:cNvPr id="195" name="Text 0"/>
          <p:cNvSpPr txBox="1"/>
          <p:nvPr/>
        </p:nvSpPr>
        <p:spPr>
          <a:xfrm>
            <a:off x="640079" y="550086"/>
            <a:ext cx="7863842"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400" sz="1100">
                <a:solidFill>
                  <a:srgbClr val="635BFF"/>
                </a:solidFill>
              </a:defRPr>
            </a:lvl1pPr>
          </a:lstStyle>
          <a:p>
            <a:pPr/>
            <a:r>
              <a:t>SECTION 3 — COLLISON STRATEGIC VISION</a:t>
            </a:r>
          </a:p>
        </p:txBody>
      </p:sp>
      <p:sp>
        <p:nvSpPr>
          <p:cNvPr id="196" name="Text 2"/>
          <p:cNvSpPr txBox="1"/>
          <p:nvPr/>
        </p:nvSpPr>
        <p:spPr>
          <a:xfrm>
            <a:off x="1051560" y="1142999"/>
            <a:ext cx="7040879" cy="828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pc="300" sz="900">
                <a:solidFill>
                  <a:srgbClr val="635BFF"/>
                </a:solidFill>
              </a:defRPr>
            </a:pPr>
            <a:r>
              <a:t>VERBATIM PROMPT</a:t>
            </a:r>
          </a:p>
          <a:p>
            <a:pPr>
              <a:defRPr sz="900"/>
            </a:pPr>
          </a:p>
          <a:p>
            <a:pPr>
              <a:lnSpc>
                <a:spcPct val="130000"/>
              </a:lnSpc>
              <a:defRPr i="1" sz="900">
                <a:solidFill>
                  <a:srgbClr val="F6F9FC"/>
                </a:solidFill>
                <a:latin typeface="Georgia"/>
                <a:ea typeface="Georgia"/>
                <a:cs typeface="Georgia"/>
                <a:sym typeface="Georgia"/>
              </a:defRPr>
            </a:pPr>
            <a:r>
              <a:t>"Next I want your help compiling a list of attractive business opportunities that the collisons have stated interest in, e.g. in the recent stripe sessions keynotes, or even just in interviews on the cheeky pint show. use my chrome browser if helpful to pull episodes and inspect their transcripts (compile locally). my goal: I want to be aware of but not captive to where the collisons say the puck is going."</a:t>
            </a:r>
          </a:p>
        </p:txBody>
      </p:sp>
      <p:sp>
        <p:nvSpPr>
          <p:cNvPr id="197" name="Text 3"/>
          <p:cNvSpPr txBox="1"/>
          <p:nvPr/>
        </p:nvSpPr>
        <p:spPr>
          <a:xfrm>
            <a:off x="685799" y="3931920"/>
            <a:ext cx="7772402" cy="92035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pc="300" sz="900">
                <a:solidFill>
                  <a:srgbClr val="0A9396"/>
                </a:solidFill>
              </a:defRPr>
            </a:pPr>
            <a:r>
              <a:t>WHAT CLAUDE DID</a:t>
            </a:r>
          </a:p>
          <a:p>
            <a:pPr>
              <a:defRPr sz="900"/>
            </a:pPr>
          </a:p>
          <a:p>
            <a:pPr>
              <a:lnSpc>
                <a:spcPct val="130000"/>
              </a:lnSpc>
              <a:defRPr sz="1000">
                <a:solidFill>
                  <a:srgbClr val="E3E8EE"/>
                </a:solidFill>
              </a:defRPr>
            </a:pPr>
            <a:r>
              <a:t>Used Chrome browser automation to extract transcripts from the Dwarkesh podcast, Stripe Sessions 2025 keynote and AMA, a Retool Summit fireside chat, and the Cheeky Pint podcast page. Also ran web search agents across CNBC, Bloomberg, Irish Times, and Stripe’s annual letters. All primary source material compiled with direct quotes.</a:t>
            </a:r>
          </a:p>
        </p:txBody>
      </p:sp>
      <p:sp>
        <p:nvSpPr>
          <p:cNvPr id="198" name="Text 4"/>
          <p:cNvSpPr txBox="1"/>
          <p:nvPr/>
        </p:nvSpPr>
        <p:spPr>
          <a:xfrm>
            <a:off x="7818119" y="4789083"/>
            <a:ext cx="100584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8898AA"/>
                </a:solidFill>
              </a:defRPr>
            </a:lvl1pPr>
          </a:lstStyle>
          <a:p>
            <a:pPr/>
            <a:r>
              <a:t>14 / 34</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6F9FC"/>
        </a:solidFill>
      </p:bgPr>
    </p:bg>
    <p:spTree>
      <p:nvGrpSpPr>
        <p:cNvPr id="1" name=""/>
        <p:cNvGrpSpPr/>
        <p:nvPr/>
      </p:nvGrpSpPr>
      <p:grpSpPr>
        <a:xfrm>
          <a:off x="0" y="0"/>
          <a:ext cx="0" cy="0"/>
          <a:chOff x="0" y="0"/>
          <a:chExt cx="0" cy="0"/>
        </a:xfrm>
      </p:grpSpPr>
      <p:sp>
        <p:nvSpPr>
          <p:cNvPr id="200" name="Text 1"/>
          <p:cNvSpPr txBox="1"/>
          <p:nvPr/>
        </p:nvSpPr>
        <p:spPr>
          <a:xfrm>
            <a:off x="640079" y="298450"/>
            <a:ext cx="7863842"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200">
                <a:solidFill>
                  <a:srgbClr val="1A1F36"/>
                </a:solidFill>
                <a:latin typeface="Georgia"/>
                <a:ea typeface="Georgia"/>
                <a:cs typeface="Georgia"/>
                <a:sym typeface="Georgia"/>
              </a:defRPr>
            </a:lvl1pPr>
          </a:lstStyle>
          <a:p>
            <a:pPr/>
            <a:r>
              <a:t>The Two "Gale-Force Tailwinds"</a:t>
            </a:r>
          </a:p>
        </p:txBody>
      </p:sp>
      <p:sp>
        <p:nvSpPr>
          <p:cNvPr id="201" name="Text 4"/>
          <p:cNvSpPr txBox="1"/>
          <p:nvPr/>
        </p:nvSpPr>
        <p:spPr>
          <a:xfrm>
            <a:off x="502919" y="4919761"/>
            <a:ext cx="8138162" cy="19601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800">
                <a:solidFill>
                  <a:srgbClr val="8898AA"/>
                </a:solidFill>
              </a:defRPr>
            </a:lvl1pPr>
          </a:lstStyle>
          <a:p>
            <a:pPr/>
            <a:r>
              <a:t>Stripe GTM Research  |  Cowork Mode Demo  |  February 2026</a:t>
            </a:r>
          </a:p>
        </p:txBody>
      </p:sp>
      <p:sp>
        <p:nvSpPr>
          <p:cNvPr id="202" name="Text 5"/>
          <p:cNvSpPr txBox="1"/>
          <p:nvPr/>
        </p:nvSpPr>
        <p:spPr>
          <a:xfrm>
            <a:off x="7818119" y="4789083"/>
            <a:ext cx="100584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8898AA"/>
                </a:solidFill>
              </a:defRPr>
            </a:lvl1pPr>
          </a:lstStyle>
          <a:p>
            <a:pPr/>
            <a:r>
              <a:t>15 / 34</a:t>
            </a:r>
          </a:p>
        </p:txBody>
      </p:sp>
      <p:sp>
        <p:nvSpPr>
          <p:cNvPr id="203" name="Text 6"/>
          <p:cNvSpPr txBox="1"/>
          <p:nvPr/>
        </p:nvSpPr>
        <p:spPr>
          <a:xfrm>
            <a:off x="685799" y="984426"/>
            <a:ext cx="7772402"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1100">
                <a:solidFill>
                  <a:srgbClr val="8898AA"/>
                </a:solidFill>
              </a:defRPr>
            </a:lvl1pPr>
          </a:lstStyle>
          <a:p>
            <a:pPr/>
            <a:r>
              <a:t>Patrick Collison, Stripe Sessions 2025 opening keynote:</a:t>
            </a:r>
          </a:p>
        </p:txBody>
      </p:sp>
      <p:sp>
        <p:nvSpPr>
          <p:cNvPr id="204" name="Text 9"/>
          <p:cNvSpPr txBox="1"/>
          <p:nvPr/>
        </p:nvSpPr>
        <p:spPr>
          <a:xfrm>
            <a:off x="822960" y="1639569"/>
            <a:ext cx="3429001"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1A1F36"/>
                </a:solidFill>
                <a:latin typeface="Georgia"/>
                <a:ea typeface="Georgia"/>
                <a:cs typeface="Georgia"/>
                <a:sym typeface="Georgia"/>
              </a:defRPr>
            </a:lvl1pPr>
          </a:lstStyle>
          <a:p>
            <a:pPr/>
            <a:r>
              <a:t>Artificial Intelligence</a:t>
            </a:r>
          </a:p>
        </p:txBody>
      </p:sp>
      <p:sp>
        <p:nvSpPr>
          <p:cNvPr id="205" name="Text 10"/>
          <p:cNvSpPr txBox="1"/>
          <p:nvPr/>
        </p:nvSpPr>
        <p:spPr>
          <a:xfrm>
            <a:off x="868680" y="2292394"/>
            <a:ext cx="3337561" cy="13588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marL="342900" indent="-342900">
              <a:spcBef>
                <a:spcPts val="600"/>
              </a:spcBef>
              <a:buSzPct val="100000"/>
              <a:buChar char="•"/>
              <a:defRPr sz="1000">
                <a:solidFill>
                  <a:srgbClr val="525F7F"/>
                </a:solidFill>
              </a:defRPr>
            </a:pPr>
            <a:r>
              <a:t>700+ AI agent startups on Stripe in 2024</a:t>
            </a:r>
          </a:p>
          <a:p>
            <a:pPr marL="342900" indent="-342900">
              <a:spcBef>
                <a:spcPts val="600"/>
              </a:spcBef>
              <a:buSzPct val="100000"/>
              <a:buChar char="•"/>
              <a:defRPr sz="1000">
                <a:solidFill>
                  <a:srgbClr val="525F7F"/>
                </a:solidFill>
              </a:defRPr>
            </a:pPr>
            <a:r>
              <a:t>AI agents as autonomous economic actors, not just tools</a:t>
            </a:r>
          </a:p>
          <a:p>
            <a:pPr marL="342900" indent="-342900">
              <a:spcBef>
                <a:spcPts val="600"/>
              </a:spcBef>
              <a:buSzPct val="100000"/>
              <a:buChar char="•"/>
              <a:defRPr sz="1000">
                <a:solidFill>
                  <a:srgbClr val="525F7F"/>
                </a:solidFill>
              </a:defRPr>
            </a:pPr>
            <a:r>
              <a:t>ChatGPT instant checkout (1M+ Etsy sellers)</a:t>
            </a:r>
          </a:p>
          <a:p>
            <a:pPr marL="342900" indent="-342900">
              <a:spcBef>
                <a:spcPts val="600"/>
              </a:spcBef>
              <a:buSzPct val="100000"/>
              <a:buChar char="•"/>
              <a:defRPr sz="1000">
                <a:solidFill>
                  <a:srgbClr val="525F7F"/>
                </a:solidFill>
              </a:defRPr>
            </a:pPr>
            <a:r>
              <a:t>Payments Foundation Model trained on billions of txns</a:t>
            </a:r>
          </a:p>
          <a:p>
            <a:pPr marL="342900" indent="-342900">
              <a:spcBef>
                <a:spcPts val="600"/>
              </a:spcBef>
              <a:buSzPct val="100000"/>
              <a:buChar char="•"/>
              <a:defRPr sz="1000">
                <a:solidFill>
                  <a:srgbClr val="525F7F"/>
                </a:solidFill>
              </a:defRPr>
            </a:pPr>
            <a:r>
              <a:t>Internal "AI minions" resolve 30% of bugs autonomously</a:t>
            </a:r>
          </a:p>
        </p:txBody>
      </p:sp>
      <p:sp>
        <p:nvSpPr>
          <p:cNvPr id="206" name="Text 13"/>
          <p:cNvSpPr txBox="1"/>
          <p:nvPr/>
        </p:nvSpPr>
        <p:spPr>
          <a:xfrm>
            <a:off x="4892040" y="1639569"/>
            <a:ext cx="3429001"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1A1F36"/>
                </a:solidFill>
                <a:latin typeface="Georgia"/>
                <a:ea typeface="Georgia"/>
                <a:cs typeface="Georgia"/>
                <a:sym typeface="Georgia"/>
              </a:defRPr>
            </a:lvl1pPr>
          </a:lstStyle>
          <a:p>
            <a:pPr/>
            <a:r>
              <a:t>Stablecoins</a:t>
            </a:r>
          </a:p>
        </p:txBody>
      </p:sp>
      <p:sp>
        <p:nvSpPr>
          <p:cNvPr id="207" name="Text 14"/>
          <p:cNvSpPr txBox="1"/>
          <p:nvPr/>
        </p:nvSpPr>
        <p:spPr>
          <a:xfrm>
            <a:off x="4937760" y="2209844"/>
            <a:ext cx="3337561" cy="15239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marL="342900" indent="-342900">
              <a:spcBef>
                <a:spcPts val="600"/>
              </a:spcBef>
              <a:buSzPct val="100000"/>
              <a:buChar char="•"/>
              <a:defRPr sz="1000">
                <a:solidFill>
                  <a:srgbClr val="525F7F"/>
                </a:solidFill>
              </a:defRPr>
            </a:pPr>
            <a:r>
              <a:t>"Room-temperature superconductors for financial services"</a:t>
            </a:r>
          </a:p>
          <a:p>
            <a:pPr marL="342900" indent="-342900">
              <a:spcBef>
                <a:spcPts val="600"/>
              </a:spcBef>
              <a:buSzPct val="100000"/>
              <a:buChar char="•"/>
              <a:defRPr sz="1000">
                <a:solidFill>
                  <a:srgbClr val="525F7F"/>
                </a:solidFill>
              </a:defRPr>
            </a:pPr>
            <a:r>
              <a:t>Bridge acquired for $1.1B (largest Stripe acquisition)</a:t>
            </a:r>
          </a:p>
          <a:p>
            <a:pPr marL="342900" indent="-342900">
              <a:spcBef>
                <a:spcPts val="600"/>
              </a:spcBef>
              <a:buSzPct val="100000"/>
              <a:buChar char="•"/>
              <a:defRPr sz="1000">
                <a:solidFill>
                  <a:srgbClr val="525F7F"/>
                </a:solidFill>
              </a:defRPr>
            </a:pPr>
            <a:r>
              <a:t>4 properties: speed, cost, global access, programmability</a:t>
            </a:r>
          </a:p>
          <a:p>
            <a:pPr marL="342900" indent="-342900">
              <a:spcBef>
                <a:spcPts val="600"/>
              </a:spcBef>
              <a:buSzPct val="100000"/>
              <a:buChar char="•"/>
              <a:defRPr sz="1000">
                <a:solidFill>
                  <a:srgbClr val="525F7F"/>
                </a:solidFill>
              </a:defRPr>
            </a:pPr>
            <a:r>
              <a:t>40M+ monthly active stablecoin wallets</a:t>
            </a:r>
          </a:p>
          <a:p>
            <a:pPr marL="342900" indent="-342900">
              <a:spcBef>
                <a:spcPts val="600"/>
              </a:spcBef>
              <a:buSzPct val="100000"/>
              <a:buChar char="•"/>
              <a:defRPr sz="1000">
                <a:solidFill>
                  <a:srgbClr val="525F7F"/>
                </a:solidFill>
              </a:defRPr>
            </a:pPr>
            <a:r>
              <a:t>Stablecoin Financial Accounts live in 101 countries</a:t>
            </a:r>
          </a:p>
        </p:txBody>
      </p:sp>
      <p:sp>
        <p:nvSpPr>
          <p:cNvPr id="208" name="Text 15"/>
          <p:cNvSpPr txBox="1"/>
          <p:nvPr/>
        </p:nvSpPr>
        <p:spPr>
          <a:xfrm>
            <a:off x="685799" y="4364989"/>
            <a:ext cx="7772402"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1000">
                <a:solidFill>
                  <a:srgbClr val="635BFF"/>
                </a:solidFill>
                <a:latin typeface="Georgia"/>
                <a:ea typeface="Georgia"/>
                <a:cs typeface="Georgia"/>
                <a:sym typeface="Georgia"/>
              </a:defRPr>
            </a:lvl1pPr>
          </a:lstStyle>
          <a:p>
            <a:pPr/>
            <a:r>
              <a:t>“There are not one, but two, gale-force tailwinds, well off the Beaufort scale, dramatically reshaping the economic landscape.”</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6F9FC"/>
        </a:solidFill>
      </p:bgPr>
    </p:bg>
    <p:spTree>
      <p:nvGrpSpPr>
        <p:cNvPr id="1" name=""/>
        <p:cNvGrpSpPr/>
        <p:nvPr/>
      </p:nvGrpSpPr>
      <p:grpSpPr>
        <a:xfrm>
          <a:off x="0" y="0"/>
          <a:ext cx="0" cy="0"/>
          <a:chOff x="0" y="0"/>
          <a:chExt cx="0" cy="0"/>
        </a:xfrm>
      </p:grpSpPr>
      <p:sp>
        <p:nvSpPr>
          <p:cNvPr id="210" name="Text 1"/>
          <p:cNvSpPr txBox="1"/>
          <p:nvPr/>
        </p:nvSpPr>
        <p:spPr>
          <a:xfrm>
            <a:off x="640079" y="298450"/>
            <a:ext cx="7863842"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200">
                <a:solidFill>
                  <a:srgbClr val="1A1F36"/>
                </a:solidFill>
                <a:latin typeface="Georgia"/>
                <a:ea typeface="Georgia"/>
                <a:cs typeface="Georgia"/>
                <a:sym typeface="Georgia"/>
              </a:defRPr>
            </a:lvl1pPr>
          </a:lstStyle>
          <a:p>
            <a:pPr/>
            <a:r>
              <a:t>Three Breakout Business Categories</a:t>
            </a:r>
          </a:p>
        </p:txBody>
      </p:sp>
      <p:sp>
        <p:nvSpPr>
          <p:cNvPr id="211" name="Text 4"/>
          <p:cNvSpPr txBox="1"/>
          <p:nvPr/>
        </p:nvSpPr>
        <p:spPr>
          <a:xfrm>
            <a:off x="502919" y="4919761"/>
            <a:ext cx="8138162" cy="19601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800">
                <a:solidFill>
                  <a:srgbClr val="8898AA"/>
                </a:solidFill>
              </a:defRPr>
            </a:lvl1pPr>
          </a:lstStyle>
          <a:p>
            <a:pPr/>
            <a:r>
              <a:t>Stripe GTM Research  |  Cowork Mode Demo  |  February 2026</a:t>
            </a:r>
          </a:p>
        </p:txBody>
      </p:sp>
      <p:sp>
        <p:nvSpPr>
          <p:cNvPr id="212" name="Text 5"/>
          <p:cNvSpPr txBox="1"/>
          <p:nvPr/>
        </p:nvSpPr>
        <p:spPr>
          <a:xfrm>
            <a:off x="7818119" y="4789083"/>
            <a:ext cx="100584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8898AA"/>
                </a:solidFill>
              </a:defRPr>
            </a:lvl1pPr>
          </a:lstStyle>
          <a:p>
            <a:pPr/>
            <a:r>
              <a:t>16 / 34</a:t>
            </a:r>
          </a:p>
        </p:txBody>
      </p:sp>
      <p:sp>
        <p:nvSpPr>
          <p:cNvPr id="213" name="Text 6"/>
          <p:cNvSpPr txBox="1"/>
          <p:nvPr/>
        </p:nvSpPr>
        <p:spPr>
          <a:xfrm>
            <a:off x="685799" y="1007286"/>
            <a:ext cx="7772402"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100">
                <a:solidFill>
                  <a:srgbClr val="525F7F"/>
                </a:solidFill>
              </a:defRPr>
            </a:lvl1pPr>
          </a:lstStyle>
          <a:p>
            <a:pPr/>
            <a:r>
              <a:t>Explicitly named by Collisons at Sessions 2025 as the fastest-growing segments on Stripe:</a:t>
            </a:r>
          </a:p>
        </p:txBody>
      </p:sp>
      <p:sp>
        <p:nvSpPr>
          <p:cNvPr id="214" name="Text 9"/>
          <p:cNvSpPr txBox="1"/>
          <p:nvPr/>
        </p:nvSpPr>
        <p:spPr>
          <a:xfrm>
            <a:off x="777239" y="1621221"/>
            <a:ext cx="2331722" cy="18655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FFFFFF"/>
                </a:solidFill>
              </a:defRPr>
            </a:lvl1pPr>
          </a:lstStyle>
          <a:p>
            <a:pPr/>
            <a:r>
              <a:t>AI Companies</a:t>
            </a:r>
          </a:p>
        </p:txBody>
      </p:sp>
      <p:sp>
        <p:nvSpPr>
          <p:cNvPr id="215" name="Text 10"/>
          <p:cNvSpPr txBox="1"/>
          <p:nvPr/>
        </p:nvSpPr>
        <p:spPr>
          <a:xfrm>
            <a:off x="777239" y="1954529"/>
            <a:ext cx="2331722" cy="342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2400">
                <a:solidFill>
                  <a:srgbClr val="FFFFFF"/>
                </a:solidFill>
                <a:latin typeface="Georgia"/>
                <a:ea typeface="Georgia"/>
                <a:cs typeface="Georgia"/>
                <a:sym typeface="Georgia"/>
              </a:defRPr>
            </a:pPr>
            <a:r>
              <a:t>700+</a:t>
            </a:r>
            <a:r>
              <a:rPr b="0" sz="900">
                <a:solidFill>
                  <a:srgbClr val="E3E8EE"/>
                </a:solidFill>
                <a:latin typeface="+mn-lt"/>
                <a:ea typeface="+mn-ea"/>
                <a:cs typeface="+mn-cs"/>
                <a:sym typeface="Calibri"/>
              </a:rPr>
              <a:t>  AI startups on Stripe in 2024</a:t>
            </a:r>
          </a:p>
        </p:txBody>
      </p:sp>
      <p:sp>
        <p:nvSpPr>
          <p:cNvPr id="216" name="Text 11"/>
          <p:cNvSpPr txBox="1"/>
          <p:nvPr/>
        </p:nvSpPr>
        <p:spPr>
          <a:xfrm>
            <a:off x="777239" y="3147389"/>
            <a:ext cx="2331722" cy="56322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5000"/>
              </a:lnSpc>
              <a:defRPr sz="1000">
                <a:solidFill>
                  <a:srgbClr val="525F7F"/>
                </a:solidFill>
              </a:defRPr>
            </a:lvl1pPr>
          </a:lstStyle>
          <a:p>
            <a:pPr/>
            <a:r>
              <a:t>AI companies are the new startups. They need payments from day one, often at high volume, and are developer-first by nature.</a:t>
            </a:r>
          </a:p>
        </p:txBody>
      </p:sp>
      <p:sp>
        <p:nvSpPr>
          <p:cNvPr id="217" name="Text 14"/>
          <p:cNvSpPr txBox="1"/>
          <p:nvPr/>
        </p:nvSpPr>
        <p:spPr>
          <a:xfrm>
            <a:off x="3566159" y="1621221"/>
            <a:ext cx="2331721" cy="18655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FFFFFF"/>
                </a:solidFill>
              </a:defRPr>
            </a:lvl1pPr>
          </a:lstStyle>
          <a:p>
            <a:pPr/>
            <a:r>
              <a:t>Vertical SaaS</a:t>
            </a:r>
          </a:p>
        </p:txBody>
      </p:sp>
      <p:sp>
        <p:nvSpPr>
          <p:cNvPr id="218" name="Text 15"/>
          <p:cNvSpPr txBox="1"/>
          <p:nvPr/>
        </p:nvSpPr>
        <p:spPr>
          <a:xfrm>
            <a:off x="3566159" y="1884679"/>
            <a:ext cx="2331721" cy="482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2400">
                <a:solidFill>
                  <a:srgbClr val="FFFFFF"/>
                </a:solidFill>
                <a:latin typeface="Georgia"/>
                <a:ea typeface="Georgia"/>
                <a:cs typeface="Georgia"/>
                <a:sym typeface="Georgia"/>
              </a:defRPr>
            </a:pPr>
            <a:r>
              <a:t>2–5x</a:t>
            </a:r>
            <a:r>
              <a:rPr b="0" sz="900">
                <a:solidFill>
                  <a:srgbClr val="E3E8EE"/>
                </a:solidFill>
                <a:latin typeface="+mn-lt"/>
                <a:ea typeface="+mn-ea"/>
                <a:cs typeface="+mn-cs"/>
                <a:sym typeface="Calibri"/>
              </a:rPr>
              <a:t>  revenue lift from embedded finance</a:t>
            </a:r>
          </a:p>
        </p:txBody>
      </p:sp>
      <p:sp>
        <p:nvSpPr>
          <p:cNvPr id="219" name="Text 16"/>
          <p:cNvSpPr txBox="1"/>
          <p:nvPr/>
        </p:nvSpPr>
        <p:spPr>
          <a:xfrm>
            <a:off x="3566159" y="3147389"/>
            <a:ext cx="2331721" cy="56322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5000"/>
              </a:lnSpc>
              <a:defRPr sz="1000">
                <a:solidFill>
                  <a:srgbClr val="525F7F"/>
                </a:solidFill>
              </a:defRPr>
            </a:lvl1pPr>
          </a:lstStyle>
          <a:p>
            <a:pPr/>
            <a:r>
              <a:t>Toast, ServiceTitan, Procore — vertical SaaS companies embedding payments, lending, and banking into their core product.</a:t>
            </a:r>
          </a:p>
        </p:txBody>
      </p:sp>
      <p:sp>
        <p:nvSpPr>
          <p:cNvPr id="220" name="Text 19"/>
          <p:cNvSpPr txBox="1"/>
          <p:nvPr/>
        </p:nvSpPr>
        <p:spPr>
          <a:xfrm>
            <a:off x="6355079" y="1621221"/>
            <a:ext cx="2331721" cy="18655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FFFFFF"/>
                </a:solidFill>
              </a:defRPr>
            </a:lvl1pPr>
          </a:lstStyle>
          <a:p>
            <a:pPr/>
            <a:r>
              <a:t>Creator Economy</a:t>
            </a:r>
          </a:p>
        </p:txBody>
      </p:sp>
      <p:sp>
        <p:nvSpPr>
          <p:cNvPr id="221" name="Text 20"/>
          <p:cNvSpPr txBox="1"/>
          <p:nvPr/>
        </p:nvSpPr>
        <p:spPr>
          <a:xfrm>
            <a:off x="6355079" y="1954529"/>
            <a:ext cx="2331721" cy="342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2400">
                <a:solidFill>
                  <a:srgbClr val="FFFFFF"/>
                </a:solidFill>
                <a:latin typeface="Georgia"/>
                <a:ea typeface="Georgia"/>
                <a:cs typeface="Georgia"/>
                <a:sym typeface="Georgia"/>
              </a:defRPr>
            </a:pPr>
            <a:r>
              <a:t>100K+</a:t>
            </a:r>
            <a:r>
              <a:rPr b="0" sz="900">
                <a:solidFill>
                  <a:srgbClr val="E3E8EE"/>
                </a:solidFill>
                <a:latin typeface="+mn-lt"/>
                <a:ea typeface="+mn-ea"/>
                <a:cs typeface="+mn-cs"/>
                <a:sym typeface="Calibri"/>
              </a:rPr>
              <a:t>  Atlas founders</a:t>
            </a:r>
          </a:p>
        </p:txBody>
      </p:sp>
      <p:sp>
        <p:nvSpPr>
          <p:cNvPr id="222" name="Text 21"/>
          <p:cNvSpPr txBox="1"/>
          <p:nvPr/>
        </p:nvSpPr>
        <p:spPr>
          <a:xfrm>
            <a:off x="6355079" y="3147389"/>
            <a:ext cx="2331721" cy="56322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5000"/>
              </a:lnSpc>
              <a:defRPr sz="1000">
                <a:solidFill>
                  <a:srgbClr val="525F7F"/>
                </a:solidFill>
              </a:defRPr>
            </a:lvl1pPr>
          </a:lstStyle>
          <a:p>
            <a:pPr/>
            <a:r>
              <a:t>Solo entrepreneurs and one-person businesses. "One person can now build a financial business in one evening."</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6F9FC"/>
        </a:solidFill>
      </p:bgPr>
    </p:bg>
    <p:spTree>
      <p:nvGrpSpPr>
        <p:cNvPr id="1" name=""/>
        <p:cNvGrpSpPr/>
        <p:nvPr/>
      </p:nvGrpSpPr>
      <p:grpSpPr>
        <a:xfrm>
          <a:off x="0" y="0"/>
          <a:ext cx="0" cy="0"/>
          <a:chOff x="0" y="0"/>
          <a:chExt cx="0" cy="0"/>
        </a:xfrm>
      </p:grpSpPr>
      <p:sp>
        <p:nvSpPr>
          <p:cNvPr id="224" name="Text 1"/>
          <p:cNvSpPr txBox="1"/>
          <p:nvPr/>
        </p:nvSpPr>
        <p:spPr>
          <a:xfrm>
            <a:off x="640079" y="298450"/>
            <a:ext cx="7863842"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200">
                <a:solidFill>
                  <a:srgbClr val="1A1F36"/>
                </a:solidFill>
                <a:latin typeface="Georgia"/>
                <a:ea typeface="Georgia"/>
                <a:cs typeface="Georgia"/>
                <a:sym typeface="Georgia"/>
              </a:defRPr>
            </a:lvl1pPr>
          </a:lstStyle>
          <a:p>
            <a:pPr/>
            <a:r>
              <a:t>The Collisons' Market Entry Philosophy</a:t>
            </a:r>
          </a:p>
        </p:txBody>
      </p:sp>
      <p:sp>
        <p:nvSpPr>
          <p:cNvPr id="225" name="Text 4"/>
          <p:cNvSpPr txBox="1"/>
          <p:nvPr/>
        </p:nvSpPr>
        <p:spPr>
          <a:xfrm>
            <a:off x="502919" y="4919761"/>
            <a:ext cx="8138162" cy="19601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800">
                <a:solidFill>
                  <a:srgbClr val="8898AA"/>
                </a:solidFill>
              </a:defRPr>
            </a:lvl1pPr>
          </a:lstStyle>
          <a:p>
            <a:pPr/>
            <a:r>
              <a:t>Stripe GTM Research  |  Cowork Mode Demo  |  February 2026</a:t>
            </a:r>
          </a:p>
        </p:txBody>
      </p:sp>
      <p:sp>
        <p:nvSpPr>
          <p:cNvPr id="226" name="Text 5"/>
          <p:cNvSpPr txBox="1"/>
          <p:nvPr/>
        </p:nvSpPr>
        <p:spPr>
          <a:xfrm>
            <a:off x="7818119" y="4789083"/>
            <a:ext cx="100584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8898AA"/>
                </a:solidFill>
              </a:defRPr>
            </a:lvl1pPr>
          </a:lstStyle>
          <a:p>
            <a:pPr/>
            <a:r>
              <a:t>17 / 34</a:t>
            </a:r>
          </a:p>
        </p:txBody>
      </p:sp>
      <p:sp>
        <p:nvSpPr>
          <p:cNvPr id="227" name="Text 8"/>
          <p:cNvSpPr txBox="1"/>
          <p:nvPr/>
        </p:nvSpPr>
        <p:spPr>
          <a:xfrm>
            <a:off x="777240" y="1315720"/>
            <a:ext cx="45720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635BFF"/>
                </a:solidFill>
                <a:latin typeface="Georgia"/>
                <a:ea typeface="Georgia"/>
                <a:cs typeface="Georgia"/>
                <a:sym typeface="Georgia"/>
              </a:defRPr>
            </a:lvl1pPr>
          </a:lstStyle>
          <a:p>
            <a:pPr/>
            <a:r>
              <a:t>01</a:t>
            </a:r>
          </a:p>
        </p:txBody>
      </p:sp>
      <p:sp>
        <p:nvSpPr>
          <p:cNvPr id="228" name="Text 9"/>
          <p:cNvSpPr txBox="1"/>
          <p:nvPr/>
        </p:nvSpPr>
        <p:spPr>
          <a:xfrm>
            <a:off x="777240" y="1665540"/>
            <a:ext cx="228600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1A1F36"/>
                </a:solidFill>
              </a:defRPr>
            </a:lvl1pPr>
          </a:lstStyle>
          <a:p>
            <a:pPr/>
            <a:r>
              <a:t>Remove Friction</a:t>
            </a:r>
          </a:p>
        </p:txBody>
      </p:sp>
      <p:sp>
        <p:nvSpPr>
          <p:cNvPr id="229" name="Text 10"/>
          <p:cNvSpPr txBox="1"/>
          <p:nvPr/>
        </p:nvSpPr>
        <p:spPr>
          <a:xfrm>
            <a:off x="777240" y="2365818"/>
            <a:ext cx="2286001" cy="57188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40000"/>
              </a:lnSpc>
              <a:defRPr sz="1100">
                <a:solidFill>
                  <a:srgbClr val="525F7F"/>
                </a:solidFill>
              </a:defRPr>
            </a:pPr>
            <a:r>
              <a:t>7 lines of code.</a:t>
            </a:r>
          </a:p>
          <a:p>
            <a:pPr>
              <a:lnSpc>
                <a:spcPct val="140000"/>
              </a:lnSpc>
              <a:defRPr sz="1100">
                <a:solidFill>
                  <a:srgbClr val="525F7F"/>
                </a:solidFill>
              </a:defRPr>
            </a:pPr>
            <a:r>
              <a:t>No sales call, no contract.</a:t>
            </a:r>
          </a:p>
          <a:p>
            <a:pPr>
              <a:lnSpc>
                <a:spcPct val="140000"/>
              </a:lnSpc>
              <a:defRPr sz="1100">
                <a:solidFill>
                  <a:srgbClr val="525F7F"/>
                </a:solidFill>
              </a:defRPr>
            </a:pPr>
            <a:r>
              <a:t>Product IS the GTM.</a:t>
            </a:r>
          </a:p>
        </p:txBody>
      </p:sp>
      <p:sp>
        <p:nvSpPr>
          <p:cNvPr id="230" name="Text 11"/>
          <p:cNvSpPr txBox="1"/>
          <p:nvPr/>
        </p:nvSpPr>
        <p:spPr>
          <a:xfrm>
            <a:off x="3246119" y="1887309"/>
            <a:ext cx="274322" cy="34018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2000">
                <a:solidFill>
                  <a:srgbClr val="8898AA"/>
                </a:solidFill>
              </a:defRPr>
            </a:lvl1pPr>
          </a:lstStyle>
          <a:p>
            <a:pPr/>
            <a:r>
              <a:t>→</a:t>
            </a:r>
          </a:p>
        </p:txBody>
      </p:sp>
      <p:sp>
        <p:nvSpPr>
          <p:cNvPr id="231" name="Text 14"/>
          <p:cNvSpPr txBox="1"/>
          <p:nvPr/>
        </p:nvSpPr>
        <p:spPr>
          <a:xfrm>
            <a:off x="3703320" y="1315720"/>
            <a:ext cx="45720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0A9396"/>
                </a:solidFill>
                <a:latin typeface="Georgia"/>
                <a:ea typeface="Georgia"/>
                <a:cs typeface="Georgia"/>
                <a:sym typeface="Georgia"/>
              </a:defRPr>
            </a:lvl1pPr>
          </a:lstStyle>
          <a:p>
            <a:pPr/>
            <a:r>
              <a:t>02</a:t>
            </a:r>
          </a:p>
        </p:txBody>
      </p:sp>
      <p:sp>
        <p:nvSpPr>
          <p:cNvPr id="232" name="Text 15"/>
          <p:cNvSpPr txBox="1"/>
          <p:nvPr/>
        </p:nvSpPr>
        <p:spPr>
          <a:xfrm>
            <a:off x="3703320" y="1665540"/>
            <a:ext cx="228600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1A1F36"/>
                </a:solidFill>
              </a:defRPr>
            </a:lvl1pPr>
          </a:lstStyle>
          <a:p>
            <a:pPr/>
            <a:r>
              <a:t>Capture the Workflow</a:t>
            </a:r>
          </a:p>
        </p:txBody>
      </p:sp>
      <p:sp>
        <p:nvSpPr>
          <p:cNvPr id="233" name="Text 16"/>
          <p:cNvSpPr txBox="1"/>
          <p:nvPr/>
        </p:nvSpPr>
        <p:spPr>
          <a:xfrm>
            <a:off x="3703320" y="2365818"/>
            <a:ext cx="2286001" cy="57188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40000"/>
              </a:lnSpc>
              <a:defRPr sz="1100">
                <a:solidFill>
                  <a:srgbClr val="525F7F"/>
                </a:solidFill>
              </a:defRPr>
            </a:pPr>
            <a:r>
              <a:t>Developer adds Billing,</a:t>
            </a:r>
          </a:p>
          <a:p>
            <a:pPr>
              <a:lnSpc>
                <a:spcPct val="140000"/>
              </a:lnSpc>
              <a:defRPr sz="1100">
                <a:solidFill>
                  <a:srgbClr val="525F7F"/>
                </a:solidFill>
              </a:defRPr>
            </a:pPr>
            <a:r>
              <a:t>then Tax, then Radar.</a:t>
            </a:r>
          </a:p>
          <a:p>
            <a:pPr>
              <a:lnSpc>
                <a:spcPct val="140000"/>
              </a:lnSpc>
              <a:defRPr sz="1100">
                <a:solidFill>
                  <a:srgbClr val="525F7F"/>
                </a:solidFill>
              </a:defRPr>
            </a:pPr>
            <a:r>
              <a:t>Each product independently useful.</a:t>
            </a:r>
          </a:p>
        </p:txBody>
      </p:sp>
      <p:sp>
        <p:nvSpPr>
          <p:cNvPr id="234" name="Text 17"/>
          <p:cNvSpPr txBox="1"/>
          <p:nvPr/>
        </p:nvSpPr>
        <p:spPr>
          <a:xfrm>
            <a:off x="6172199" y="1887309"/>
            <a:ext cx="274321" cy="34018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2000">
                <a:solidFill>
                  <a:srgbClr val="8898AA"/>
                </a:solidFill>
              </a:defRPr>
            </a:lvl1pPr>
          </a:lstStyle>
          <a:p>
            <a:pPr/>
            <a:r>
              <a:t>→</a:t>
            </a:r>
          </a:p>
        </p:txBody>
      </p:sp>
      <p:sp>
        <p:nvSpPr>
          <p:cNvPr id="235" name="Text 20"/>
          <p:cNvSpPr txBox="1"/>
          <p:nvPr/>
        </p:nvSpPr>
        <p:spPr>
          <a:xfrm>
            <a:off x="6629400" y="1315720"/>
            <a:ext cx="45720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10B981"/>
                </a:solidFill>
                <a:latin typeface="Georgia"/>
                <a:ea typeface="Georgia"/>
                <a:cs typeface="Georgia"/>
                <a:sym typeface="Georgia"/>
              </a:defRPr>
            </a:lvl1pPr>
          </a:lstStyle>
          <a:p>
            <a:pPr/>
            <a:r>
              <a:t>03</a:t>
            </a:r>
          </a:p>
        </p:txBody>
      </p:sp>
      <p:sp>
        <p:nvSpPr>
          <p:cNvPr id="236" name="Text 21"/>
          <p:cNvSpPr txBox="1"/>
          <p:nvPr/>
        </p:nvSpPr>
        <p:spPr>
          <a:xfrm>
            <a:off x="6629400" y="1665540"/>
            <a:ext cx="2286000"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1A1F36"/>
                </a:solidFill>
              </a:defRPr>
            </a:lvl1pPr>
          </a:lstStyle>
          <a:p>
            <a:pPr/>
            <a:r>
              <a:t>Become Infrastructure</a:t>
            </a:r>
          </a:p>
        </p:txBody>
      </p:sp>
      <p:sp>
        <p:nvSpPr>
          <p:cNvPr id="237" name="Text 22"/>
          <p:cNvSpPr txBox="1"/>
          <p:nvPr/>
        </p:nvSpPr>
        <p:spPr>
          <a:xfrm>
            <a:off x="6629400" y="2365818"/>
            <a:ext cx="2286000" cy="57188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40000"/>
              </a:lnSpc>
              <a:defRPr sz="1100">
                <a:solidFill>
                  <a:srgbClr val="525F7F"/>
                </a:solidFill>
              </a:defRPr>
            </a:pPr>
            <a:r>
              <a:t>20-year API horizon.</a:t>
            </a:r>
          </a:p>
          <a:p>
            <a:pPr>
              <a:lnSpc>
                <a:spcPct val="140000"/>
              </a:lnSpc>
              <a:defRPr sz="1100">
                <a:solidFill>
                  <a:srgbClr val="525F7F"/>
                </a:solidFill>
              </a:defRPr>
            </a:pPr>
            <a:r>
              <a:t>Lock-in through reliability,</a:t>
            </a:r>
          </a:p>
          <a:p>
            <a:pPr>
              <a:lnSpc>
                <a:spcPct val="140000"/>
              </a:lnSpc>
              <a:defRPr sz="1100">
                <a:solidFill>
                  <a:srgbClr val="525F7F"/>
                </a:solidFill>
              </a:defRPr>
            </a:pPr>
            <a:r>
              <a:t>not switching costs.</a:t>
            </a:r>
          </a:p>
        </p:txBody>
      </p:sp>
      <p:sp>
        <p:nvSpPr>
          <p:cNvPr id="238" name="Text 24"/>
          <p:cNvSpPr txBox="1"/>
          <p:nvPr/>
        </p:nvSpPr>
        <p:spPr>
          <a:xfrm>
            <a:off x="960119" y="3923206"/>
            <a:ext cx="7223762" cy="4289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b="1" sz="1300">
                <a:solidFill>
                  <a:srgbClr val="635BFF"/>
                </a:solidFill>
              </a:defRPr>
            </a:pPr>
            <a:r>
              <a:t>The North Star: </a:t>
            </a:r>
            <a:r>
              <a:rPr b="0" sz="1100">
                <a:solidFill>
                  <a:srgbClr val="FFFFFF"/>
                </a:solidFill>
              </a:rPr>
              <a:t>“Increase the GDP of the internet is our mission statement but also, importantly, our strategy.”  The question isn’t “can we take share?” but “can we enable economic activity that wouldn’t otherwise happen?”</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A1F36"/>
        </a:solidFill>
      </p:bgPr>
    </p:bg>
    <p:spTree>
      <p:nvGrpSpPr>
        <p:cNvPr id="1" name=""/>
        <p:cNvGrpSpPr/>
        <p:nvPr/>
      </p:nvGrpSpPr>
      <p:grpSpPr>
        <a:xfrm>
          <a:off x="0" y="0"/>
          <a:ext cx="0" cy="0"/>
          <a:chOff x="0" y="0"/>
          <a:chExt cx="0" cy="0"/>
        </a:xfrm>
      </p:grpSpPr>
      <p:sp>
        <p:nvSpPr>
          <p:cNvPr id="240" name="Text 0"/>
          <p:cNvSpPr txBox="1"/>
          <p:nvPr/>
        </p:nvSpPr>
        <p:spPr>
          <a:xfrm>
            <a:off x="640079" y="550086"/>
            <a:ext cx="7863842"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400" sz="1100">
                <a:solidFill>
                  <a:srgbClr val="635BFF"/>
                </a:solidFill>
              </a:defRPr>
            </a:lvl1pPr>
          </a:lstStyle>
          <a:p>
            <a:pPr/>
            <a:r>
              <a:t>SECTION 4 — THE CONSENSUS EXCLUSION ZONE</a:t>
            </a:r>
          </a:p>
        </p:txBody>
      </p:sp>
      <p:sp>
        <p:nvSpPr>
          <p:cNvPr id="241" name="Text 2"/>
          <p:cNvSpPr txBox="1"/>
          <p:nvPr/>
        </p:nvSpPr>
        <p:spPr>
          <a:xfrm>
            <a:off x="1051560" y="1143000"/>
            <a:ext cx="7040879" cy="1056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pc="300" sz="900">
                <a:solidFill>
                  <a:srgbClr val="635BFF"/>
                </a:solidFill>
              </a:defRPr>
            </a:pPr>
            <a:r>
              <a:t>VERBATIM PROMPT</a:t>
            </a:r>
          </a:p>
          <a:p>
            <a:pPr>
              <a:defRPr sz="900"/>
            </a:pPr>
          </a:p>
          <a:p>
            <a:pPr>
              <a:lnSpc>
                <a:spcPct val="130000"/>
              </a:lnSpc>
              <a:defRPr i="1" sz="1300">
                <a:solidFill>
                  <a:srgbClr val="F6F9FC"/>
                </a:solidFill>
                <a:latin typeface="Georgia"/>
                <a:ea typeface="Georgia"/>
                <a:cs typeface="Georgia"/>
                <a:sym typeface="Georgia"/>
              </a:defRPr>
            </a:pPr>
            <a:r>
              <a:t>"Last, please state what the most obvious customer segment growth opportunities are. I want this to be a deep and rigorous, MBA-worthy analysis based on your prior research. my goal: I don’t want to recommend anything that is too consensus/obvious."</a:t>
            </a:r>
          </a:p>
        </p:txBody>
      </p:sp>
      <p:sp>
        <p:nvSpPr>
          <p:cNvPr id="242" name="Text 3"/>
          <p:cNvSpPr txBox="1"/>
          <p:nvPr/>
        </p:nvSpPr>
        <p:spPr>
          <a:xfrm>
            <a:off x="685799" y="3474720"/>
            <a:ext cx="7772402" cy="92035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pc="300" sz="900">
                <a:solidFill>
                  <a:srgbClr val="0A9396"/>
                </a:solidFill>
              </a:defRPr>
            </a:pPr>
            <a:r>
              <a:t>WHAT CLAUDE DID</a:t>
            </a:r>
          </a:p>
          <a:p>
            <a:pPr>
              <a:defRPr sz="900"/>
            </a:pPr>
          </a:p>
          <a:p>
            <a:pPr>
              <a:lnSpc>
                <a:spcPct val="130000"/>
              </a:lnSpc>
              <a:defRPr sz="1000">
                <a:solidFill>
                  <a:srgbClr val="E3E8EE"/>
                </a:solidFill>
              </a:defRPr>
            </a:pPr>
            <a:r>
              <a:t>Synthesized all prior research (memo culture, business map, Collison vision) to score 10 commonly-cited growth opportunities on a 10-point “obviousness” scale. Each scored against Stripe’s current activity level and public statements. This creates the exclusion zone — what NOT to recommend.</a:t>
            </a:r>
          </a:p>
        </p:txBody>
      </p:sp>
      <p:sp>
        <p:nvSpPr>
          <p:cNvPr id="243" name="Text 4"/>
          <p:cNvSpPr txBox="1"/>
          <p:nvPr/>
        </p:nvSpPr>
        <p:spPr>
          <a:xfrm>
            <a:off x="7818119" y="4789083"/>
            <a:ext cx="100584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8898AA"/>
                </a:solidFill>
              </a:defRPr>
            </a:lvl1pPr>
          </a:lstStyle>
          <a:p>
            <a:pPr/>
            <a:r>
              <a:t>18 / 34</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6F9FC"/>
        </a:solidFill>
      </p:bgPr>
    </p:bg>
    <p:spTree>
      <p:nvGrpSpPr>
        <p:cNvPr id="1" name=""/>
        <p:cNvGrpSpPr/>
        <p:nvPr/>
      </p:nvGrpSpPr>
      <p:grpSpPr>
        <a:xfrm>
          <a:off x="0" y="0"/>
          <a:ext cx="0" cy="0"/>
          <a:chOff x="0" y="0"/>
          <a:chExt cx="0" cy="0"/>
        </a:xfrm>
      </p:grpSpPr>
      <p:sp>
        <p:nvSpPr>
          <p:cNvPr id="245" name="Text 1"/>
          <p:cNvSpPr txBox="1"/>
          <p:nvPr/>
        </p:nvSpPr>
        <p:spPr>
          <a:xfrm>
            <a:off x="640079" y="298450"/>
            <a:ext cx="7863842"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200">
                <a:solidFill>
                  <a:srgbClr val="1A1F36"/>
                </a:solidFill>
                <a:latin typeface="Georgia"/>
                <a:ea typeface="Georgia"/>
                <a:cs typeface="Georgia"/>
                <a:sym typeface="Georgia"/>
              </a:defRPr>
            </a:lvl1pPr>
          </a:lstStyle>
          <a:p>
            <a:pPr/>
            <a:r>
              <a:t>Consensus Scoring Matrix</a:t>
            </a:r>
          </a:p>
        </p:txBody>
      </p:sp>
      <p:sp>
        <p:nvSpPr>
          <p:cNvPr id="246" name="Text 4"/>
          <p:cNvSpPr txBox="1"/>
          <p:nvPr/>
        </p:nvSpPr>
        <p:spPr>
          <a:xfrm>
            <a:off x="502919" y="4919761"/>
            <a:ext cx="8138162" cy="19601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800">
                <a:solidFill>
                  <a:srgbClr val="8898AA"/>
                </a:solidFill>
              </a:defRPr>
            </a:lvl1pPr>
          </a:lstStyle>
          <a:p>
            <a:pPr/>
            <a:r>
              <a:t>Stripe GTM Research  |  Cowork Mode Demo  |  February 2026</a:t>
            </a:r>
          </a:p>
        </p:txBody>
      </p:sp>
      <p:sp>
        <p:nvSpPr>
          <p:cNvPr id="247" name="Text 5"/>
          <p:cNvSpPr txBox="1"/>
          <p:nvPr/>
        </p:nvSpPr>
        <p:spPr>
          <a:xfrm>
            <a:off x="7818119" y="4789083"/>
            <a:ext cx="100584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8898AA"/>
                </a:solidFill>
              </a:defRPr>
            </a:lvl1pPr>
          </a:lstStyle>
          <a:p>
            <a:pPr/>
            <a:r>
              <a:t>19 / 34</a:t>
            </a:r>
          </a:p>
        </p:txBody>
      </p:sp>
      <p:sp>
        <p:nvSpPr>
          <p:cNvPr id="248" name="Text 7"/>
          <p:cNvSpPr txBox="1"/>
          <p:nvPr/>
        </p:nvSpPr>
        <p:spPr>
          <a:xfrm>
            <a:off x="502919" y="1003467"/>
            <a:ext cx="246888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900">
                <a:solidFill>
                  <a:srgbClr val="FFFFFF"/>
                </a:solidFill>
              </a:defRPr>
            </a:lvl1pPr>
          </a:lstStyle>
          <a:p>
            <a:pPr/>
            <a:r>
              <a:t>Opportunity</a:t>
            </a:r>
          </a:p>
        </p:txBody>
      </p:sp>
      <p:sp>
        <p:nvSpPr>
          <p:cNvPr id="249" name="Text 9"/>
          <p:cNvSpPr txBox="1"/>
          <p:nvPr/>
        </p:nvSpPr>
        <p:spPr>
          <a:xfrm>
            <a:off x="3063240" y="1003467"/>
            <a:ext cx="548641"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900">
                <a:solidFill>
                  <a:srgbClr val="FFFFFF"/>
                </a:solidFill>
              </a:defRPr>
            </a:lvl1pPr>
          </a:lstStyle>
          <a:p>
            <a:pPr/>
            <a:r>
              <a:t>Score</a:t>
            </a:r>
          </a:p>
        </p:txBody>
      </p:sp>
      <p:sp>
        <p:nvSpPr>
          <p:cNvPr id="250" name="Text 11"/>
          <p:cNvSpPr txBox="1"/>
          <p:nvPr/>
        </p:nvSpPr>
        <p:spPr>
          <a:xfrm>
            <a:off x="3703319" y="1003467"/>
            <a:ext cx="137160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900">
                <a:solidFill>
                  <a:srgbClr val="FFFFFF"/>
                </a:solidFill>
              </a:defRPr>
            </a:lvl1pPr>
          </a:lstStyle>
          <a:p>
            <a:pPr/>
            <a:r>
              <a:t>Stripe Activity</a:t>
            </a:r>
          </a:p>
        </p:txBody>
      </p:sp>
      <p:sp>
        <p:nvSpPr>
          <p:cNvPr id="251" name="Text 13"/>
          <p:cNvSpPr txBox="1"/>
          <p:nvPr/>
        </p:nvSpPr>
        <p:spPr>
          <a:xfrm>
            <a:off x="5166360" y="1003467"/>
            <a:ext cx="2103121"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900">
                <a:solidFill>
                  <a:srgbClr val="FFFFFF"/>
                </a:solidFill>
              </a:defRPr>
            </a:lvl1pPr>
          </a:lstStyle>
          <a:p>
            <a:pPr/>
            <a:r>
              <a:t>Verdict</a:t>
            </a:r>
          </a:p>
        </p:txBody>
      </p:sp>
      <p:sp>
        <p:nvSpPr>
          <p:cNvPr id="252" name="Text 15"/>
          <p:cNvSpPr txBox="1"/>
          <p:nvPr/>
        </p:nvSpPr>
        <p:spPr>
          <a:xfrm>
            <a:off x="7360919" y="1003467"/>
            <a:ext cx="12801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900">
                <a:solidFill>
                  <a:srgbClr val="FFFFFF"/>
                </a:solidFill>
              </a:defRPr>
            </a:lvl1pPr>
          </a:lstStyle>
          <a:p>
            <a:pPr/>
            <a:r>
              <a:t>Action</a:t>
            </a:r>
          </a:p>
        </p:txBody>
      </p:sp>
      <p:sp>
        <p:nvSpPr>
          <p:cNvPr id="253" name="Text 17"/>
          <p:cNvSpPr txBox="1"/>
          <p:nvPr/>
        </p:nvSpPr>
        <p:spPr>
          <a:xfrm>
            <a:off x="457199" y="1378203"/>
            <a:ext cx="25603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525F7F"/>
                </a:solidFill>
              </a:defRPr>
            </a:lvl1pPr>
          </a:lstStyle>
          <a:p>
            <a:pPr/>
            <a:r>
              <a:t>AI-Native Companies</a:t>
            </a:r>
          </a:p>
        </p:txBody>
      </p:sp>
      <p:sp>
        <p:nvSpPr>
          <p:cNvPr id="254" name="Text 19"/>
          <p:cNvSpPr txBox="1"/>
          <p:nvPr/>
        </p:nvSpPr>
        <p:spPr>
          <a:xfrm>
            <a:off x="3017520" y="1340103"/>
            <a:ext cx="64008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525F7F"/>
                </a:solidFill>
              </a:defRPr>
            </a:lvl1pPr>
          </a:lstStyle>
          <a:p>
            <a:pPr/>
            <a:r>
              <a:t>10/10</a:t>
            </a:r>
          </a:p>
        </p:txBody>
      </p:sp>
      <p:sp>
        <p:nvSpPr>
          <p:cNvPr id="255" name="Text 21"/>
          <p:cNvSpPr txBox="1"/>
          <p:nvPr/>
        </p:nvSpPr>
        <p:spPr>
          <a:xfrm>
            <a:off x="3657599" y="1340103"/>
            <a:ext cx="146304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525F7F"/>
                </a:solidFill>
              </a:defRPr>
            </a:lvl1pPr>
          </a:lstStyle>
          <a:p>
            <a:pPr/>
            <a:r>
              <a:t>All-in</a:t>
            </a:r>
          </a:p>
        </p:txBody>
      </p:sp>
      <p:sp>
        <p:nvSpPr>
          <p:cNvPr id="256" name="Text 23"/>
          <p:cNvSpPr txBox="1"/>
          <p:nvPr/>
        </p:nvSpPr>
        <p:spPr>
          <a:xfrm>
            <a:off x="5120640" y="1340103"/>
            <a:ext cx="219456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525F7F"/>
                </a:solidFill>
              </a:defRPr>
            </a:lvl1pPr>
          </a:lstStyle>
          <a:p>
            <a:pPr/>
            <a:r>
              <a:t>Echoes CEO keynote</a:t>
            </a:r>
          </a:p>
        </p:txBody>
      </p:sp>
      <p:sp>
        <p:nvSpPr>
          <p:cNvPr id="257" name="Text 25"/>
          <p:cNvSpPr txBox="1"/>
          <p:nvPr/>
        </p:nvSpPr>
        <p:spPr>
          <a:xfrm>
            <a:off x="7315200" y="1340103"/>
            <a:ext cx="13716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900">
                <a:solidFill>
                  <a:srgbClr val="EF4444"/>
                </a:solidFill>
              </a:defRPr>
            </a:lvl1pPr>
          </a:lstStyle>
          <a:p>
            <a:pPr/>
            <a:r>
              <a:t>AVOID</a:t>
            </a:r>
          </a:p>
        </p:txBody>
      </p:sp>
      <p:sp>
        <p:nvSpPr>
          <p:cNvPr id="258" name="Text 27"/>
          <p:cNvSpPr txBox="1"/>
          <p:nvPr/>
        </p:nvSpPr>
        <p:spPr>
          <a:xfrm>
            <a:off x="457199" y="1679956"/>
            <a:ext cx="25603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525F7F"/>
                </a:solidFill>
              </a:defRPr>
            </a:lvl1pPr>
          </a:lstStyle>
          <a:p>
            <a:pPr/>
            <a:r>
              <a:t>Stablecoins / Crypto Rails</a:t>
            </a:r>
          </a:p>
        </p:txBody>
      </p:sp>
      <p:sp>
        <p:nvSpPr>
          <p:cNvPr id="259" name="Text 29"/>
          <p:cNvSpPr txBox="1"/>
          <p:nvPr/>
        </p:nvSpPr>
        <p:spPr>
          <a:xfrm>
            <a:off x="3017520" y="1641856"/>
            <a:ext cx="64008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525F7F"/>
                </a:solidFill>
              </a:defRPr>
            </a:lvl1pPr>
          </a:lstStyle>
          <a:p>
            <a:pPr/>
            <a:r>
              <a:t>10/10</a:t>
            </a:r>
          </a:p>
        </p:txBody>
      </p:sp>
      <p:sp>
        <p:nvSpPr>
          <p:cNvPr id="260" name="Text 31"/>
          <p:cNvSpPr txBox="1"/>
          <p:nvPr/>
        </p:nvSpPr>
        <p:spPr>
          <a:xfrm>
            <a:off x="3657599" y="1641856"/>
            <a:ext cx="146304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525F7F"/>
                </a:solidFill>
              </a:defRPr>
            </a:lvl1pPr>
          </a:lstStyle>
          <a:p>
            <a:pPr/>
            <a:r>
              <a:t>#1 strategic bet</a:t>
            </a:r>
          </a:p>
        </p:txBody>
      </p:sp>
      <p:sp>
        <p:nvSpPr>
          <p:cNvPr id="261" name="Text 33"/>
          <p:cNvSpPr txBox="1"/>
          <p:nvPr/>
        </p:nvSpPr>
        <p:spPr>
          <a:xfrm>
            <a:off x="5120640" y="1641856"/>
            <a:ext cx="219456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525F7F"/>
                </a:solidFill>
              </a:defRPr>
            </a:lvl1pPr>
          </a:lstStyle>
          <a:p>
            <a:pPr/>
            <a:r>
              <a:t>Literally announced strategy</a:t>
            </a:r>
          </a:p>
        </p:txBody>
      </p:sp>
      <p:sp>
        <p:nvSpPr>
          <p:cNvPr id="262" name="Text 35"/>
          <p:cNvSpPr txBox="1"/>
          <p:nvPr/>
        </p:nvSpPr>
        <p:spPr>
          <a:xfrm>
            <a:off x="7315200" y="1641856"/>
            <a:ext cx="13716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900">
                <a:solidFill>
                  <a:srgbClr val="EF4444"/>
                </a:solidFill>
              </a:defRPr>
            </a:lvl1pPr>
          </a:lstStyle>
          <a:p>
            <a:pPr/>
            <a:r>
              <a:t>AVOID</a:t>
            </a:r>
          </a:p>
        </p:txBody>
      </p:sp>
      <p:sp>
        <p:nvSpPr>
          <p:cNvPr id="263" name="Text 37"/>
          <p:cNvSpPr txBox="1"/>
          <p:nvPr/>
        </p:nvSpPr>
        <p:spPr>
          <a:xfrm>
            <a:off x="457199" y="1981708"/>
            <a:ext cx="25603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525F7F"/>
                </a:solidFill>
              </a:defRPr>
            </a:lvl1pPr>
          </a:lstStyle>
          <a:p>
            <a:pPr/>
            <a:r>
              <a:t>Enterprise Upmarket</a:t>
            </a:r>
          </a:p>
        </p:txBody>
      </p:sp>
      <p:sp>
        <p:nvSpPr>
          <p:cNvPr id="264" name="Text 39"/>
          <p:cNvSpPr txBox="1"/>
          <p:nvPr/>
        </p:nvSpPr>
        <p:spPr>
          <a:xfrm>
            <a:off x="3017520" y="1943608"/>
            <a:ext cx="64008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525F7F"/>
                </a:solidFill>
              </a:defRPr>
            </a:lvl1pPr>
          </a:lstStyle>
          <a:p>
            <a:pPr/>
            <a:r>
              <a:t>9/10</a:t>
            </a:r>
          </a:p>
        </p:txBody>
      </p:sp>
      <p:sp>
        <p:nvSpPr>
          <p:cNvPr id="265" name="Text 41"/>
          <p:cNvSpPr txBox="1"/>
          <p:nvPr/>
        </p:nvSpPr>
        <p:spPr>
          <a:xfrm>
            <a:off x="3657599" y="1943608"/>
            <a:ext cx="146304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525F7F"/>
                </a:solidFill>
              </a:defRPr>
            </a:lvl1pPr>
          </a:lstStyle>
          <a:p>
            <a:pPr/>
            <a:r>
              <a:t>Heavy investment</a:t>
            </a:r>
          </a:p>
        </p:txBody>
      </p:sp>
      <p:sp>
        <p:nvSpPr>
          <p:cNvPr id="266" name="Text 43"/>
          <p:cNvSpPr txBox="1"/>
          <p:nvPr/>
        </p:nvSpPr>
        <p:spPr>
          <a:xfrm>
            <a:off x="5120640" y="1943608"/>
            <a:ext cx="219456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525F7F"/>
                </a:solidFill>
              </a:defRPr>
            </a:lvl1pPr>
          </a:lstStyle>
          <a:p>
            <a:pPr/>
            <a:r>
              <a:t>Table stakes</a:t>
            </a:r>
          </a:p>
        </p:txBody>
      </p:sp>
      <p:sp>
        <p:nvSpPr>
          <p:cNvPr id="267" name="Text 45"/>
          <p:cNvSpPr txBox="1"/>
          <p:nvPr/>
        </p:nvSpPr>
        <p:spPr>
          <a:xfrm>
            <a:off x="7315200" y="1943608"/>
            <a:ext cx="13716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900">
                <a:solidFill>
                  <a:srgbClr val="EF4444"/>
                </a:solidFill>
              </a:defRPr>
            </a:lvl1pPr>
          </a:lstStyle>
          <a:p>
            <a:pPr/>
            <a:r>
              <a:t>AVOID</a:t>
            </a:r>
          </a:p>
        </p:txBody>
      </p:sp>
      <p:sp>
        <p:nvSpPr>
          <p:cNvPr id="268" name="Text 47"/>
          <p:cNvSpPr txBox="1"/>
          <p:nvPr/>
        </p:nvSpPr>
        <p:spPr>
          <a:xfrm>
            <a:off x="457199" y="2283459"/>
            <a:ext cx="25603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525F7F"/>
                </a:solidFill>
              </a:defRPr>
            </a:lvl1pPr>
          </a:lstStyle>
          <a:p>
            <a:pPr/>
            <a:r>
              <a:t>Emerging Markets</a:t>
            </a:r>
          </a:p>
        </p:txBody>
      </p:sp>
      <p:sp>
        <p:nvSpPr>
          <p:cNvPr id="269" name="Text 49"/>
          <p:cNvSpPr txBox="1"/>
          <p:nvPr/>
        </p:nvSpPr>
        <p:spPr>
          <a:xfrm>
            <a:off x="3017520" y="2245359"/>
            <a:ext cx="64008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525F7F"/>
                </a:solidFill>
              </a:defRPr>
            </a:lvl1pPr>
          </a:lstStyle>
          <a:p>
            <a:pPr/>
            <a:r>
              <a:t>9/10</a:t>
            </a:r>
          </a:p>
        </p:txBody>
      </p:sp>
      <p:sp>
        <p:nvSpPr>
          <p:cNvPr id="270" name="Text 51"/>
          <p:cNvSpPr txBox="1"/>
          <p:nvPr/>
        </p:nvSpPr>
        <p:spPr>
          <a:xfrm>
            <a:off x="3657599" y="2245359"/>
            <a:ext cx="146304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525F7F"/>
                </a:solidFill>
              </a:defRPr>
            </a:lvl1pPr>
          </a:lstStyle>
          <a:p>
            <a:pPr/>
            <a:r>
              <a:t>Active M&amp;A + organic</a:t>
            </a:r>
          </a:p>
        </p:txBody>
      </p:sp>
      <p:sp>
        <p:nvSpPr>
          <p:cNvPr id="271" name="Text 53"/>
          <p:cNvSpPr txBox="1"/>
          <p:nvPr/>
        </p:nvSpPr>
        <p:spPr>
          <a:xfrm>
            <a:off x="5120640" y="2245359"/>
            <a:ext cx="219456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525F7F"/>
                </a:solidFill>
              </a:defRPr>
            </a:lvl1pPr>
          </a:lstStyle>
          <a:p>
            <a:pPr/>
            <a:r>
              <a:t>Restates Paystack/Bridge</a:t>
            </a:r>
          </a:p>
        </p:txBody>
      </p:sp>
      <p:sp>
        <p:nvSpPr>
          <p:cNvPr id="272" name="Text 55"/>
          <p:cNvSpPr txBox="1"/>
          <p:nvPr/>
        </p:nvSpPr>
        <p:spPr>
          <a:xfrm>
            <a:off x="7315200" y="2245359"/>
            <a:ext cx="13716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900">
                <a:solidFill>
                  <a:srgbClr val="EF4444"/>
                </a:solidFill>
              </a:defRPr>
            </a:lvl1pPr>
          </a:lstStyle>
          <a:p>
            <a:pPr/>
            <a:r>
              <a:t>AVOID</a:t>
            </a:r>
          </a:p>
        </p:txBody>
      </p:sp>
      <p:sp>
        <p:nvSpPr>
          <p:cNvPr id="273" name="Text 57"/>
          <p:cNvSpPr txBox="1"/>
          <p:nvPr/>
        </p:nvSpPr>
        <p:spPr>
          <a:xfrm>
            <a:off x="457199" y="2585211"/>
            <a:ext cx="25603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525F7F"/>
                </a:solidFill>
              </a:defRPr>
            </a:lvl1pPr>
          </a:lstStyle>
          <a:p>
            <a:pPr/>
            <a:r>
              <a:t>Embedded Finance / SaaS</a:t>
            </a:r>
          </a:p>
        </p:txBody>
      </p:sp>
      <p:sp>
        <p:nvSpPr>
          <p:cNvPr id="274" name="Text 59"/>
          <p:cNvSpPr txBox="1"/>
          <p:nvPr/>
        </p:nvSpPr>
        <p:spPr>
          <a:xfrm>
            <a:off x="3017520" y="2547111"/>
            <a:ext cx="64008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525F7F"/>
                </a:solidFill>
              </a:defRPr>
            </a:lvl1pPr>
          </a:lstStyle>
          <a:p>
            <a:pPr/>
            <a:r>
              <a:t>9/10</a:t>
            </a:r>
          </a:p>
        </p:txBody>
      </p:sp>
      <p:sp>
        <p:nvSpPr>
          <p:cNvPr id="275" name="Text 61"/>
          <p:cNvSpPr txBox="1"/>
          <p:nvPr/>
        </p:nvSpPr>
        <p:spPr>
          <a:xfrm>
            <a:off x="3657599" y="2547111"/>
            <a:ext cx="146304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525F7F"/>
                </a:solidFill>
              </a:defRPr>
            </a:lvl1pPr>
          </a:lstStyle>
          <a:p>
            <a:pPr/>
            <a:r>
              <a:t>Core product strategy</a:t>
            </a:r>
          </a:p>
        </p:txBody>
      </p:sp>
      <p:sp>
        <p:nvSpPr>
          <p:cNvPr id="276" name="Text 63"/>
          <p:cNvSpPr txBox="1"/>
          <p:nvPr/>
        </p:nvSpPr>
        <p:spPr>
          <a:xfrm>
            <a:off x="5120640" y="2547111"/>
            <a:ext cx="219456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525F7F"/>
                </a:solidFill>
              </a:defRPr>
            </a:lvl1pPr>
          </a:lstStyle>
          <a:p>
            <a:pPr/>
            <a:r>
              <a:t>Connect's raison d'être</a:t>
            </a:r>
          </a:p>
        </p:txBody>
      </p:sp>
      <p:sp>
        <p:nvSpPr>
          <p:cNvPr id="277" name="Text 65"/>
          <p:cNvSpPr txBox="1"/>
          <p:nvPr/>
        </p:nvSpPr>
        <p:spPr>
          <a:xfrm>
            <a:off x="7315200" y="2547111"/>
            <a:ext cx="13716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900">
                <a:solidFill>
                  <a:srgbClr val="EF4444"/>
                </a:solidFill>
              </a:defRPr>
            </a:lvl1pPr>
          </a:lstStyle>
          <a:p>
            <a:pPr/>
            <a:r>
              <a:t>AVOID</a:t>
            </a:r>
          </a:p>
        </p:txBody>
      </p:sp>
      <p:sp>
        <p:nvSpPr>
          <p:cNvPr id="278" name="Text 67"/>
          <p:cNvSpPr txBox="1"/>
          <p:nvPr/>
        </p:nvSpPr>
        <p:spPr>
          <a:xfrm>
            <a:off x="457199" y="2886964"/>
            <a:ext cx="25603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525F7F"/>
                </a:solidFill>
              </a:defRPr>
            </a:lvl1pPr>
          </a:lstStyle>
          <a:p>
            <a:pPr/>
            <a:r>
              <a:t>Vertical SaaS Infra</a:t>
            </a:r>
          </a:p>
        </p:txBody>
      </p:sp>
      <p:sp>
        <p:nvSpPr>
          <p:cNvPr id="279" name="Text 69"/>
          <p:cNvSpPr txBox="1"/>
          <p:nvPr/>
        </p:nvSpPr>
        <p:spPr>
          <a:xfrm>
            <a:off x="3017520" y="2848864"/>
            <a:ext cx="64008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525F7F"/>
                </a:solidFill>
              </a:defRPr>
            </a:lvl1pPr>
          </a:lstStyle>
          <a:p>
            <a:pPr/>
            <a:r>
              <a:t>9/10</a:t>
            </a:r>
          </a:p>
        </p:txBody>
      </p:sp>
      <p:sp>
        <p:nvSpPr>
          <p:cNvPr id="280" name="Text 71"/>
          <p:cNvSpPr txBox="1"/>
          <p:nvPr/>
        </p:nvSpPr>
        <p:spPr>
          <a:xfrm>
            <a:off x="3657599" y="2848864"/>
            <a:ext cx="146304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525F7F"/>
                </a:solidFill>
              </a:defRPr>
            </a:lvl1pPr>
          </a:lstStyle>
          <a:p>
            <a:pPr/>
            <a:r>
              <a:t>Keynote priority</a:t>
            </a:r>
          </a:p>
        </p:txBody>
      </p:sp>
      <p:sp>
        <p:nvSpPr>
          <p:cNvPr id="281" name="Text 73"/>
          <p:cNvSpPr txBox="1"/>
          <p:nvPr/>
        </p:nvSpPr>
        <p:spPr>
          <a:xfrm>
            <a:off x="5120640" y="2848864"/>
            <a:ext cx="219456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525F7F"/>
                </a:solidFill>
              </a:defRPr>
            </a:lvl1pPr>
          </a:lstStyle>
          <a:p>
            <a:pPr/>
            <a:r>
              <a:t>Explicitly stated</a:t>
            </a:r>
          </a:p>
        </p:txBody>
      </p:sp>
      <p:sp>
        <p:nvSpPr>
          <p:cNvPr id="282" name="Text 75"/>
          <p:cNvSpPr txBox="1"/>
          <p:nvPr/>
        </p:nvSpPr>
        <p:spPr>
          <a:xfrm>
            <a:off x="7315200" y="2848864"/>
            <a:ext cx="13716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900">
                <a:solidFill>
                  <a:srgbClr val="EF4444"/>
                </a:solidFill>
              </a:defRPr>
            </a:lvl1pPr>
          </a:lstStyle>
          <a:p>
            <a:pPr/>
            <a:r>
              <a:t>AVOID</a:t>
            </a:r>
          </a:p>
        </p:txBody>
      </p:sp>
      <p:sp>
        <p:nvSpPr>
          <p:cNvPr id="283" name="Text 77"/>
          <p:cNvSpPr txBox="1"/>
          <p:nvPr/>
        </p:nvSpPr>
        <p:spPr>
          <a:xfrm>
            <a:off x="457199" y="3188715"/>
            <a:ext cx="25603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525F7F"/>
                </a:solidFill>
              </a:defRPr>
            </a:lvl1pPr>
          </a:lstStyle>
          <a:p>
            <a:pPr/>
            <a:r>
              <a:t>Revenue Ops / CFO Suite</a:t>
            </a:r>
          </a:p>
        </p:txBody>
      </p:sp>
      <p:sp>
        <p:nvSpPr>
          <p:cNvPr id="284" name="Text 79"/>
          <p:cNvSpPr txBox="1"/>
          <p:nvPr/>
        </p:nvSpPr>
        <p:spPr>
          <a:xfrm>
            <a:off x="3017520" y="3150615"/>
            <a:ext cx="64008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525F7F"/>
                </a:solidFill>
              </a:defRPr>
            </a:lvl1pPr>
          </a:lstStyle>
          <a:p>
            <a:pPr/>
            <a:r>
              <a:t>8/10</a:t>
            </a:r>
          </a:p>
        </p:txBody>
      </p:sp>
      <p:sp>
        <p:nvSpPr>
          <p:cNvPr id="285" name="Text 81"/>
          <p:cNvSpPr txBox="1"/>
          <p:nvPr/>
        </p:nvSpPr>
        <p:spPr>
          <a:xfrm>
            <a:off x="3657599" y="3150615"/>
            <a:ext cx="146304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525F7F"/>
                </a:solidFill>
              </a:defRPr>
            </a:lvl1pPr>
          </a:lstStyle>
          <a:p>
            <a:pPr/>
            <a:r>
              <a:t>$500M+ run rate</a:t>
            </a:r>
          </a:p>
        </p:txBody>
      </p:sp>
      <p:sp>
        <p:nvSpPr>
          <p:cNvPr id="286" name="Text 83"/>
          <p:cNvSpPr txBox="1"/>
          <p:nvPr/>
        </p:nvSpPr>
        <p:spPr>
          <a:xfrm>
            <a:off x="5120640" y="3150615"/>
            <a:ext cx="219456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525F7F"/>
                </a:solidFill>
              </a:defRPr>
            </a:lvl1pPr>
          </a:lstStyle>
          <a:p>
            <a:pPr/>
            <a:r>
              <a:t>Already executing</a:t>
            </a:r>
          </a:p>
        </p:txBody>
      </p:sp>
      <p:sp>
        <p:nvSpPr>
          <p:cNvPr id="287" name="Text 85"/>
          <p:cNvSpPr txBox="1"/>
          <p:nvPr/>
        </p:nvSpPr>
        <p:spPr>
          <a:xfrm>
            <a:off x="7315200" y="3150615"/>
            <a:ext cx="13716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900">
                <a:solidFill>
                  <a:srgbClr val="F59E0B"/>
                </a:solidFill>
              </a:defRPr>
            </a:lvl1pPr>
          </a:lstStyle>
          <a:p>
            <a:pPr/>
            <a:r>
              <a:t>CAUTION</a:t>
            </a:r>
          </a:p>
        </p:txBody>
      </p:sp>
      <p:sp>
        <p:nvSpPr>
          <p:cNvPr id="288" name="Text 87"/>
          <p:cNvSpPr txBox="1"/>
          <p:nvPr/>
        </p:nvSpPr>
        <p:spPr>
          <a:xfrm>
            <a:off x="457199" y="3490467"/>
            <a:ext cx="25603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525F7F"/>
                </a:solidFill>
              </a:defRPr>
            </a:lvl1pPr>
          </a:lstStyle>
          <a:p>
            <a:pPr/>
            <a:r>
              <a:t>B2B Payments / AP-AR</a:t>
            </a:r>
          </a:p>
        </p:txBody>
      </p:sp>
      <p:sp>
        <p:nvSpPr>
          <p:cNvPr id="289" name="Text 89"/>
          <p:cNvSpPr txBox="1"/>
          <p:nvPr/>
        </p:nvSpPr>
        <p:spPr>
          <a:xfrm>
            <a:off x="3017520" y="3452367"/>
            <a:ext cx="64008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525F7F"/>
                </a:solidFill>
              </a:defRPr>
            </a:lvl1pPr>
          </a:lstStyle>
          <a:p>
            <a:pPr/>
            <a:r>
              <a:t>8/10</a:t>
            </a:r>
          </a:p>
        </p:txBody>
      </p:sp>
      <p:sp>
        <p:nvSpPr>
          <p:cNvPr id="290" name="Text 91"/>
          <p:cNvSpPr txBox="1"/>
          <p:nvPr/>
        </p:nvSpPr>
        <p:spPr>
          <a:xfrm>
            <a:off x="3657599" y="3452367"/>
            <a:ext cx="146304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525F7F"/>
                </a:solidFill>
              </a:defRPr>
            </a:lvl1pPr>
          </a:lstStyle>
          <a:p>
            <a:pPr/>
            <a:r>
              <a:t>Partial coverage</a:t>
            </a:r>
          </a:p>
        </p:txBody>
      </p:sp>
      <p:sp>
        <p:nvSpPr>
          <p:cNvPr id="291" name="Text 93"/>
          <p:cNvSpPr txBox="1"/>
          <p:nvPr/>
        </p:nvSpPr>
        <p:spPr>
          <a:xfrm>
            <a:off x="5120640" y="3452367"/>
            <a:ext cx="219456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525F7F"/>
                </a:solidFill>
              </a:defRPr>
            </a:lvl1pPr>
          </a:lstStyle>
          <a:p>
            <a:pPr/>
            <a:r>
              <a:t>Every fintech deck</a:t>
            </a:r>
          </a:p>
        </p:txBody>
      </p:sp>
      <p:sp>
        <p:nvSpPr>
          <p:cNvPr id="292" name="Text 95"/>
          <p:cNvSpPr txBox="1"/>
          <p:nvPr/>
        </p:nvSpPr>
        <p:spPr>
          <a:xfrm>
            <a:off x="7315200" y="3452367"/>
            <a:ext cx="13716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900">
                <a:solidFill>
                  <a:srgbClr val="F59E0B"/>
                </a:solidFill>
              </a:defRPr>
            </a:lvl1pPr>
          </a:lstStyle>
          <a:p>
            <a:pPr/>
            <a:r>
              <a:t>CAUTION</a:t>
            </a:r>
          </a:p>
        </p:txBody>
      </p:sp>
      <p:sp>
        <p:nvSpPr>
          <p:cNvPr id="293" name="Text 97"/>
          <p:cNvSpPr txBox="1"/>
          <p:nvPr/>
        </p:nvSpPr>
        <p:spPr>
          <a:xfrm>
            <a:off x="457199" y="3792220"/>
            <a:ext cx="25603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525F7F"/>
                </a:solidFill>
              </a:defRPr>
            </a:lvl1pPr>
          </a:lstStyle>
          <a:p>
            <a:pPr/>
            <a:r>
              <a:t>Creator / Solo Economy</a:t>
            </a:r>
          </a:p>
        </p:txBody>
      </p:sp>
      <p:sp>
        <p:nvSpPr>
          <p:cNvPr id="294" name="Text 99"/>
          <p:cNvSpPr txBox="1"/>
          <p:nvPr/>
        </p:nvSpPr>
        <p:spPr>
          <a:xfrm>
            <a:off x="3017520" y="3754120"/>
            <a:ext cx="64008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525F7F"/>
                </a:solidFill>
              </a:defRPr>
            </a:lvl1pPr>
          </a:lstStyle>
          <a:p>
            <a:pPr/>
            <a:r>
              <a:t>8/10</a:t>
            </a:r>
          </a:p>
        </p:txBody>
      </p:sp>
      <p:sp>
        <p:nvSpPr>
          <p:cNvPr id="295" name="Text 101"/>
          <p:cNvSpPr txBox="1"/>
          <p:nvPr/>
        </p:nvSpPr>
        <p:spPr>
          <a:xfrm>
            <a:off x="3657599" y="3754120"/>
            <a:ext cx="146304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525F7F"/>
                </a:solidFill>
              </a:defRPr>
            </a:lvl1pPr>
          </a:lstStyle>
          <a:p>
            <a:pPr/>
            <a:r>
              <a:t>Multiple products</a:t>
            </a:r>
          </a:p>
        </p:txBody>
      </p:sp>
      <p:sp>
        <p:nvSpPr>
          <p:cNvPr id="296" name="Text 103"/>
          <p:cNvSpPr txBox="1"/>
          <p:nvPr/>
        </p:nvSpPr>
        <p:spPr>
          <a:xfrm>
            <a:off x="5120640" y="3754120"/>
            <a:ext cx="219456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525F7F"/>
                </a:solidFill>
              </a:defRPr>
            </a:lvl1pPr>
          </a:lstStyle>
          <a:p>
            <a:pPr/>
            <a:r>
              <a:t>Well-covered</a:t>
            </a:r>
          </a:p>
        </p:txBody>
      </p:sp>
      <p:sp>
        <p:nvSpPr>
          <p:cNvPr id="297" name="Text 105"/>
          <p:cNvSpPr txBox="1"/>
          <p:nvPr/>
        </p:nvSpPr>
        <p:spPr>
          <a:xfrm>
            <a:off x="7315200" y="3754120"/>
            <a:ext cx="13716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900">
                <a:solidFill>
                  <a:srgbClr val="F59E0B"/>
                </a:solidFill>
              </a:defRPr>
            </a:lvl1pPr>
          </a:lstStyle>
          <a:p>
            <a:pPr/>
            <a:r>
              <a:t>CAUTION</a:t>
            </a:r>
          </a:p>
        </p:txBody>
      </p:sp>
      <p:sp>
        <p:nvSpPr>
          <p:cNvPr id="298" name="Text 107"/>
          <p:cNvSpPr txBox="1"/>
          <p:nvPr/>
        </p:nvSpPr>
        <p:spPr>
          <a:xfrm>
            <a:off x="457199" y="4093972"/>
            <a:ext cx="25603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525F7F"/>
                </a:solidFill>
              </a:defRPr>
            </a:lvl1pPr>
          </a:lstStyle>
          <a:p>
            <a:pPr/>
            <a:r>
              <a:t>Healthcare Payments</a:t>
            </a:r>
          </a:p>
        </p:txBody>
      </p:sp>
      <p:sp>
        <p:nvSpPr>
          <p:cNvPr id="299" name="Text 109"/>
          <p:cNvSpPr txBox="1"/>
          <p:nvPr/>
        </p:nvSpPr>
        <p:spPr>
          <a:xfrm>
            <a:off x="3017520" y="4055872"/>
            <a:ext cx="64008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525F7F"/>
                </a:solidFill>
              </a:defRPr>
            </a:lvl1pPr>
          </a:lstStyle>
          <a:p>
            <a:pPr/>
            <a:r>
              <a:t>7/10</a:t>
            </a:r>
          </a:p>
        </p:txBody>
      </p:sp>
      <p:sp>
        <p:nvSpPr>
          <p:cNvPr id="300" name="Text 111"/>
          <p:cNvSpPr txBox="1"/>
          <p:nvPr/>
        </p:nvSpPr>
        <p:spPr>
          <a:xfrm>
            <a:off x="3657599" y="4055872"/>
            <a:ext cx="146304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525F7F"/>
                </a:solidFill>
              </a:defRPr>
            </a:lvl1pPr>
          </a:lstStyle>
          <a:p>
            <a:pPr/>
            <a:r>
              <a:t>Light presence</a:t>
            </a:r>
          </a:p>
        </p:txBody>
      </p:sp>
      <p:sp>
        <p:nvSpPr>
          <p:cNvPr id="301" name="Text 113"/>
          <p:cNvSpPr txBox="1"/>
          <p:nvPr/>
        </p:nvSpPr>
        <p:spPr>
          <a:xfrm>
            <a:off x="5120640" y="4055872"/>
            <a:ext cx="219456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525F7F"/>
                </a:solidFill>
              </a:defRPr>
            </a:lvl1pPr>
          </a:lstStyle>
          <a:p>
            <a:pPr/>
            <a:r>
              <a:t>Common consulting rec</a:t>
            </a:r>
          </a:p>
        </p:txBody>
      </p:sp>
      <p:sp>
        <p:nvSpPr>
          <p:cNvPr id="302" name="Text 115"/>
          <p:cNvSpPr txBox="1"/>
          <p:nvPr/>
        </p:nvSpPr>
        <p:spPr>
          <a:xfrm>
            <a:off x="7315200" y="4055872"/>
            <a:ext cx="13716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900">
                <a:solidFill>
                  <a:srgbClr val="F59E0B"/>
                </a:solidFill>
              </a:defRPr>
            </a:lvl1pPr>
          </a:lstStyle>
          <a:p>
            <a:pPr/>
            <a:r>
              <a:t>CAUTION</a:t>
            </a:r>
          </a:p>
        </p:txBody>
      </p:sp>
      <p:sp>
        <p:nvSpPr>
          <p:cNvPr id="303" name="Text 116"/>
          <p:cNvSpPr txBox="1"/>
          <p:nvPr/>
        </p:nvSpPr>
        <p:spPr>
          <a:xfrm>
            <a:off x="685799" y="4274864"/>
            <a:ext cx="7772402"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1000">
                <a:solidFill>
                  <a:srgbClr val="635BFF"/>
                </a:solidFill>
              </a:defRPr>
            </a:lvl1pPr>
          </a:lstStyle>
          <a:p>
            <a:pPr/>
            <a:r>
              <a:t>Anything scored 8+ is either already in execution or would be independently derived by any analyst.</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A1F36"/>
        </a:solidFill>
      </p:bgPr>
    </p:bg>
    <p:spTree>
      <p:nvGrpSpPr>
        <p:cNvPr id="1" name=""/>
        <p:cNvGrpSpPr/>
        <p:nvPr/>
      </p:nvGrpSpPr>
      <p:grpSpPr>
        <a:xfrm>
          <a:off x="0" y="0"/>
          <a:ext cx="0" cy="0"/>
          <a:chOff x="0" y="0"/>
          <a:chExt cx="0" cy="0"/>
        </a:xfrm>
      </p:grpSpPr>
      <p:sp>
        <p:nvSpPr>
          <p:cNvPr id="305" name="Text 0"/>
          <p:cNvSpPr txBox="1"/>
          <p:nvPr/>
        </p:nvSpPr>
        <p:spPr>
          <a:xfrm>
            <a:off x="640079" y="550086"/>
            <a:ext cx="7863842"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400" sz="1100">
                <a:solidFill>
                  <a:srgbClr val="635BFF"/>
                </a:solidFill>
              </a:defRPr>
            </a:lvl1pPr>
          </a:lstStyle>
          <a:p>
            <a:pPr/>
            <a:r>
              <a:t>SECTION 5 — NON-CONSENSUS OPPORTUNITIES</a:t>
            </a:r>
          </a:p>
        </p:txBody>
      </p:sp>
      <p:sp>
        <p:nvSpPr>
          <p:cNvPr id="306" name="Text 2"/>
          <p:cNvSpPr txBox="1"/>
          <p:nvPr/>
        </p:nvSpPr>
        <p:spPr>
          <a:xfrm>
            <a:off x="1051560" y="1143000"/>
            <a:ext cx="7040879" cy="1056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pc="300" sz="900">
                <a:solidFill>
                  <a:srgbClr val="635BFF"/>
                </a:solidFill>
              </a:defRPr>
            </a:pPr>
            <a:r>
              <a:t>VERBATIM PROMPT</a:t>
            </a:r>
          </a:p>
          <a:p>
            <a:pPr>
              <a:defRPr sz="900"/>
            </a:pPr>
          </a:p>
          <a:p>
            <a:pPr>
              <a:lnSpc>
                <a:spcPct val="130000"/>
              </a:lnSpc>
              <a:defRPr i="1" sz="1300">
                <a:solidFill>
                  <a:srgbClr val="F6F9FC"/>
                </a:solidFill>
                <a:latin typeface="Georgia"/>
                <a:ea typeface="Georgia"/>
                <a:cs typeface="Georgia"/>
                <a:sym typeface="Georgia"/>
              </a:defRPr>
            </a:pPr>
            <a:r>
              <a:t>"Given all of this, what are some truly novel, non consensus markets that are worth exploring for the writing exercise. come up with 20 that are compatible with the above philosophy, but stay away from consensus strategy slop."</a:t>
            </a:r>
          </a:p>
        </p:txBody>
      </p:sp>
      <p:sp>
        <p:nvSpPr>
          <p:cNvPr id="307" name="Text 3"/>
          <p:cNvSpPr txBox="1"/>
          <p:nvPr/>
        </p:nvSpPr>
        <p:spPr>
          <a:xfrm>
            <a:off x="685799" y="3474720"/>
            <a:ext cx="7772402" cy="71413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pc="300" sz="900">
                <a:solidFill>
                  <a:srgbClr val="0A9396"/>
                </a:solidFill>
              </a:defRPr>
            </a:pPr>
            <a:r>
              <a:t>WHAT CLAUDE DID</a:t>
            </a:r>
          </a:p>
          <a:p>
            <a:pPr>
              <a:defRPr sz="900"/>
            </a:pPr>
          </a:p>
          <a:p>
            <a:pPr>
              <a:lnSpc>
                <a:spcPct val="130000"/>
              </a:lnSpc>
              <a:defRPr sz="1000">
                <a:solidFill>
                  <a:srgbClr val="E3E8EE"/>
                </a:solidFill>
              </a:defRPr>
            </a:pPr>
            <a:r>
              <a:t>Generated 20 candidates, then filtered to 6 that best fit Stripe’s “remove friction → capture workflow → become infrastructure” playbook. A follow-up prompt asked to “articulate the top 6 on four dimensions: API-first fit, developer adoption, compliance leverage, and global reach.”</a:t>
            </a:r>
          </a:p>
        </p:txBody>
      </p:sp>
      <p:sp>
        <p:nvSpPr>
          <p:cNvPr id="308" name="Text 4"/>
          <p:cNvSpPr txBox="1"/>
          <p:nvPr/>
        </p:nvSpPr>
        <p:spPr>
          <a:xfrm>
            <a:off x="7818119" y="4789083"/>
            <a:ext cx="100584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8898AA"/>
                </a:solidFill>
              </a:defRPr>
            </a:lvl1pPr>
          </a:lstStyle>
          <a:p>
            <a:pPr/>
            <a:r>
              <a:t>20 / 34</a:t>
            </a: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6F9FC"/>
        </a:solidFill>
      </p:bgPr>
    </p:bg>
    <p:spTree>
      <p:nvGrpSpPr>
        <p:cNvPr id="1" name=""/>
        <p:cNvGrpSpPr/>
        <p:nvPr/>
      </p:nvGrpSpPr>
      <p:grpSpPr>
        <a:xfrm>
          <a:off x="0" y="0"/>
          <a:ext cx="0" cy="0"/>
          <a:chOff x="0" y="0"/>
          <a:chExt cx="0" cy="0"/>
        </a:xfrm>
      </p:grpSpPr>
      <p:sp>
        <p:nvSpPr>
          <p:cNvPr id="310" name="Text 1"/>
          <p:cNvSpPr txBox="1"/>
          <p:nvPr/>
        </p:nvSpPr>
        <p:spPr>
          <a:xfrm>
            <a:off x="640079" y="298450"/>
            <a:ext cx="7863842"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200">
                <a:solidFill>
                  <a:srgbClr val="1A1F36"/>
                </a:solidFill>
                <a:latin typeface="Georgia"/>
                <a:ea typeface="Georgia"/>
                <a:cs typeface="Georgia"/>
                <a:sym typeface="Georgia"/>
              </a:defRPr>
            </a:lvl1pPr>
          </a:lstStyle>
          <a:p>
            <a:pPr/>
            <a:r>
              <a:t>Contractor Payment Compliance</a:t>
            </a:r>
          </a:p>
        </p:txBody>
      </p:sp>
      <p:sp>
        <p:nvSpPr>
          <p:cNvPr id="311" name="Text 4"/>
          <p:cNvSpPr txBox="1"/>
          <p:nvPr/>
        </p:nvSpPr>
        <p:spPr>
          <a:xfrm>
            <a:off x="502919" y="4919761"/>
            <a:ext cx="8138162" cy="19601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800">
                <a:solidFill>
                  <a:srgbClr val="8898AA"/>
                </a:solidFill>
              </a:defRPr>
            </a:lvl1pPr>
          </a:lstStyle>
          <a:p>
            <a:pPr/>
            <a:r>
              <a:t>Stripe GTM Research  |  Cowork Mode Demo  |  February 2026</a:t>
            </a:r>
          </a:p>
        </p:txBody>
      </p:sp>
      <p:sp>
        <p:nvSpPr>
          <p:cNvPr id="312" name="Text 5"/>
          <p:cNvSpPr txBox="1"/>
          <p:nvPr/>
        </p:nvSpPr>
        <p:spPr>
          <a:xfrm>
            <a:off x="7818119" y="4789083"/>
            <a:ext cx="100584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8898AA"/>
                </a:solidFill>
              </a:defRPr>
            </a:lvl1pPr>
          </a:lstStyle>
          <a:p>
            <a:pPr/>
            <a:r>
              <a:t>21 / 34</a:t>
            </a:r>
          </a:p>
        </p:txBody>
      </p:sp>
      <p:sp>
        <p:nvSpPr>
          <p:cNvPr id="313" name="Text 6"/>
          <p:cNvSpPr txBox="1"/>
          <p:nvPr/>
        </p:nvSpPr>
        <p:spPr>
          <a:xfrm>
            <a:off x="640079" y="973127"/>
            <a:ext cx="786384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200">
                <a:solidFill>
                  <a:srgbClr val="635BFF"/>
                </a:solidFill>
              </a:defRPr>
            </a:lvl1pPr>
          </a:lstStyle>
          <a:p>
            <a:pPr/>
            <a:r>
              <a:t>Own the gap between "payments" and "payroll"</a:t>
            </a:r>
          </a:p>
        </p:txBody>
      </p:sp>
      <p:sp>
        <p:nvSpPr>
          <p:cNvPr id="314" name="Text 9"/>
          <p:cNvSpPr txBox="1"/>
          <p:nvPr/>
        </p:nvSpPr>
        <p:spPr>
          <a:xfrm>
            <a:off x="822959" y="1511789"/>
            <a:ext cx="3520442" cy="1402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100">
                <a:solidFill>
                  <a:srgbClr val="1A1F36"/>
                </a:solidFill>
              </a:defRPr>
            </a:pPr>
            <a:r>
              <a:t>API-First Fit</a:t>
            </a:r>
            <a:r>
              <a:rPr sz="1000">
                <a:solidFill>
                  <a:srgbClr val="635BFF"/>
                </a:solidFill>
              </a:rPr>
              <a:t>    Very High</a:t>
            </a:r>
          </a:p>
        </p:txBody>
      </p:sp>
      <p:sp>
        <p:nvSpPr>
          <p:cNvPr id="315" name="Text 10"/>
          <p:cNvSpPr txBox="1"/>
          <p:nvPr/>
        </p:nvSpPr>
        <p:spPr>
          <a:xfrm>
            <a:off x="822959" y="1935849"/>
            <a:ext cx="3520442" cy="46255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900">
                <a:solidFill>
                  <a:srgbClr val="525F7F"/>
                </a:solidFill>
              </a:defRPr>
            </a:lvl1pPr>
          </a:lstStyle>
          <a:p>
            <a:pPr/>
            <a:r>
              <a:t>Every payroll provider and freelance marketplace needs "pay this contractor + handle tax compliance" as a single API call. Natural composition of existing Payouts + Tax + Identity products.</a:t>
            </a:r>
          </a:p>
        </p:txBody>
      </p:sp>
      <p:sp>
        <p:nvSpPr>
          <p:cNvPr id="316" name="Text 13"/>
          <p:cNvSpPr txBox="1"/>
          <p:nvPr/>
        </p:nvSpPr>
        <p:spPr>
          <a:xfrm>
            <a:off x="4846319" y="1511789"/>
            <a:ext cx="3520442" cy="1402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100">
                <a:solidFill>
                  <a:srgbClr val="1A1F36"/>
                </a:solidFill>
              </a:defRPr>
            </a:pPr>
            <a:r>
              <a:t>Developer Adoption</a:t>
            </a:r>
            <a:r>
              <a:rPr sz="1000">
                <a:solidFill>
                  <a:srgbClr val="0A9396"/>
                </a:solidFill>
              </a:rPr>
              <a:t>    Very High</a:t>
            </a:r>
          </a:p>
        </p:txBody>
      </p:sp>
      <p:sp>
        <p:nvSpPr>
          <p:cNvPr id="317" name="Text 14"/>
          <p:cNvSpPr txBox="1"/>
          <p:nvPr/>
        </p:nvSpPr>
        <p:spPr>
          <a:xfrm>
            <a:off x="4846319" y="1935849"/>
            <a:ext cx="3520442" cy="46255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900">
                <a:solidFill>
                  <a:srgbClr val="525F7F"/>
                </a:solidFill>
              </a:defRPr>
            </a:lvl1pPr>
          </a:lstStyle>
          <a:p>
            <a:pPr/>
            <a:r>
              <a:t>Most natural developer adoption of all six. Every company with contractors has a developer asked to "automate how we pay contractors." Today: ACH + 1099 vendor + manual tracking. This: copy, paste, done.</a:t>
            </a:r>
          </a:p>
        </p:txBody>
      </p:sp>
      <p:sp>
        <p:nvSpPr>
          <p:cNvPr id="318" name="Text 17"/>
          <p:cNvSpPr txBox="1"/>
          <p:nvPr/>
        </p:nvSpPr>
        <p:spPr>
          <a:xfrm>
            <a:off x="822959" y="2974829"/>
            <a:ext cx="3520442" cy="1402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100">
                <a:solidFill>
                  <a:srgbClr val="1A1F36"/>
                </a:solidFill>
              </a:defRPr>
            </a:pPr>
            <a:r>
              <a:t>Compliance Leverage</a:t>
            </a:r>
            <a:r>
              <a:rPr sz="1000">
                <a:solidFill>
                  <a:srgbClr val="F59E0B"/>
                </a:solidFill>
              </a:rPr>
              <a:t>    Very High</a:t>
            </a:r>
          </a:p>
        </p:txBody>
      </p:sp>
      <p:sp>
        <p:nvSpPr>
          <p:cNvPr id="319" name="Text 18"/>
          <p:cNvSpPr txBox="1"/>
          <p:nvPr/>
        </p:nvSpPr>
        <p:spPr>
          <a:xfrm>
            <a:off x="822959" y="3398889"/>
            <a:ext cx="3520442" cy="46255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900">
                <a:solidFill>
                  <a:srgbClr val="525F7F"/>
                </a:solidFill>
              </a:defRPr>
            </a:lvl1pPr>
          </a:lstStyle>
          <a:p>
            <a:pPr/>
            <a:r>
              <a:t>The killer feature. 1099-NEC filing, state withholding, W-8BEN for international contractors, worker classification risk. Building this correctly is genuinely hard. Stripe already has the pieces.</a:t>
            </a:r>
          </a:p>
        </p:txBody>
      </p:sp>
      <p:sp>
        <p:nvSpPr>
          <p:cNvPr id="320" name="Text 21"/>
          <p:cNvSpPr txBox="1"/>
          <p:nvPr/>
        </p:nvSpPr>
        <p:spPr>
          <a:xfrm>
            <a:off x="4846319" y="2974829"/>
            <a:ext cx="3520442" cy="1402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100">
                <a:solidFill>
                  <a:srgbClr val="1A1F36"/>
                </a:solidFill>
              </a:defRPr>
            </a:pPr>
            <a:r>
              <a:t>Global Reach</a:t>
            </a:r>
            <a:r>
              <a:rPr sz="1000">
                <a:solidFill>
                  <a:srgbClr val="10B981"/>
                </a:solidFill>
              </a:rPr>
              <a:t>    Very High</a:t>
            </a:r>
          </a:p>
        </p:txBody>
      </p:sp>
      <p:sp>
        <p:nvSpPr>
          <p:cNvPr id="321" name="Text 22"/>
          <p:cNvSpPr txBox="1"/>
          <p:nvPr/>
        </p:nvSpPr>
        <p:spPr>
          <a:xfrm>
            <a:off x="4846319" y="3398889"/>
            <a:ext cx="3520442" cy="46255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900">
                <a:solidFill>
                  <a:srgbClr val="525F7F"/>
                </a:solidFill>
              </a:defRPr>
            </a:lvl1pPr>
          </a:lstStyle>
          <a:p>
            <a:pPr/>
            <a:r>
              <a:t>Global freelance economy is inherently cross-border. US company paying developer in Poland. Bridge/stablecoins make the rail fast and cheap; compliance layer is the differentiator.</a:t>
            </a:r>
          </a:p>
        </p:txBody>
      </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6F9FC"/>
        </a:solidFill>
      </p:bgPr>
    </p:bg>
    <p:spTree>
      <p:nvGrpSpPr>
        <p:cNvPr id="1" name=""/>
        <p:cNvGrpSpPr/>
        <p:nvPr/>
      </p:nvGrpSpPr>
      <p:grpSpPr>
        <a:xfrm>
          <a:off x="0" y="0"/>
          <a:ext cx="0" cy="0"/>
          <a:chOff x="0" y="0"/>
          <a:chExt cx="0" cy="0"/>
        </a:xfrm>
      </p:grpSpPr>
      <p:sp>
        <p:nvSpPr>
          <p:cNvPr id="323" name="Text 1"/>
          <p:cNvSpPr txBox="1"/>
          <p:nvPr/>
        </p:nvSpPr>
        <p:spPr>
          <a:xfrm>
            <a:off x="640079" y="298450"/>
            <a:ext cx="7863842"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200">
                <a:solidFill>
                  <a:srgbClr val="1A1F36"/>
                </a:solidFill>
                <a:latin typeface="Georgia"/>
                <a:ea typeface="Georgia"/>
                <a:cs typeface="Georgia"/>
                <a:sym typeface="Georgia"/>
              </a:defRPr>
            </a:lvl1pPr>
          </a:lstStyle>
          <a:p>
            <a:pPr/>
            <a:r>
              <a:t>Compliance Intelligence</a:t>
            </a:r>
          </a:p>
        </p:txBody>
      </p:sp>
      <p:sp>
        <p:nvSpPr>
          <p:cNvPr id="324" name="Text 4"/>
          <p:cNvSpPr txBox="1"/>
          <p:nvPr/>
        </p:nvSpPr>
        <p:spPr>
          <a:xfrm>
            <a:off x="502919" y="4919761"/>
            <a:ext cx="8138162" cy="19601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800">
                <a:solidFill>
                  <a:srgbClr val="8898AA"/>
                </a:solidFill>
              </a:defRPr>
            </a:lvl1pPr>
          </a:lstStyle>
          <a:p>
            <a:pPr/>
            <a:r>
              <a:t>Stripe GTM Research  |  Cowork Mode Demo  |  February 2026</a:t>
            </a:r>
          </a:p>
        </p:txBody>
      </p:sp>
      <p:sp>
        <p:nvSpPr>
          <p:cNvPr id="325" name="Text 5"/>
          <p:cNvSpPr txBox="1"/>
          <p:nvPr/>
        </p:nvSpPr>
        <p:spPr>
          <a:xfrm>
            <a:off x="7818119" y="4789083"/>
            <a:ext cx="100584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8898AA"/>
                </a:solidFill>
              </a:defRPr>
            </a:lvl1pPr>
          </a:lstStyle>
          <a:p>
            <a:pPr/>
            <a:r>
              <a:t>22 / 34</a:t>
            </a:r>
          </a:p>
        </p:txBody>
      </p:sp>
      <p:sp>
        <p:nvSpPr>
          <p:cNvPr id="326" name="Text 6"/>
          <p:cNvSpPr txBox="1"/>
          <p:nvPr/>
        </p:nvSpPr>
        <p:spPr>
          <a:xfrm>
            <a:off x="640079" y="973127"/>
            <a:ext cx="786384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200">
                <a:solidFill>
                  <a:srgbClr val="635BFF"/>
                </a:solidFill>
              </a:defRPr>
            </a:lvl1pPr>
          </a:lstStyle>
          <a:p>
            <a:pPr/>
            <a:r>
              <a:t>Turn data exhaust into a regulatory moat</a:t>
            </a:r>
          </a:p>
        </p:txBody>
      </p:sp>
      <p:sp>
        <p:nvSpPr>
          <p:cNvPr id="327" name="Text 9"/>
          <p:cNvSpPr txBox="1"/>
          <p:nvPr/>
        </p:nvSpPr>
        <p:spPr>
          <a:xfrm>
            <a:off x="822959" y="1511789"/>
            <a:ext cx="3520442" cy="1402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100">
                <a:solidFill>
                  <a:srgbClr val="1A1F36"/>
                </a:solidFill>
              </a:defRPr>
            </a:pPr>
            <a:r>
              <a:t>API-First Fit</a:t>
            </a:r>
            <a:r>
              <a:rPr sz="1000">
                <a:solidFill>
                  <a:srgbClr val="635BFF"/>
                </a:solidFill>
              </a:rPr>
              <a:t>    Very High</a:t>
            </a:r>
          </a:p>
        </p:txBody>
      </p:sp>
      <p:sp>
        <p:nvSpPr>
          <p:cNvPr id="328" name="Text 10"/>
          <p:cNvSpPr txBox="1"/>
          <p:nvPr/>
        </p:nvSpPr>
        <p:spPr>
          <a:xfrm>
            <a:off x="822959" y="1935849"/>
            <a:ext cx="3520442" cy="46255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900">
                <a:solidFill>
                  <a:srgbClr val="525F7F"/>
                </a:solidFill>
              </a:defRPr>
            </a:lvl1pPr>
          </a:lstStyle>
          <a:p>
            <a:pPr/>
            <a:r>
              <a:t>Pure data product via API: "GET /compliance/obligations" returns jurisdictions where the merchant has regulatory requirements. Integrates into onboarding, dashboards, alerting.</a:t>
            </a:r>
          </a:p>
        </p:txBody>
      </p:sp>
      <p:sp>
        <p:nvSpPr>
          <p:cNvPr id="329" name="Text 13"/>
          <p:cNvSpPr txBox="1"/>
          <p:nvPr/>
        </p:nvSpPr>
        <p:spPr>
          <a:xfrm>
            <a:off x="4846319" y="1511789"/>
            <a:ext cx="3520442" cy="1402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100">
                <a:solidFill>
                  <a:srgbClr val="1A1F36"/>
                </a:solidFill>
              </a:defRPr>
            </a:pPr>
            <a:r>
              <a:t>Developer Adoption</a:t>
            </a:r>
            <a:r>
              <a:rPr sz="1000">
                <a:solidFill>
                  <a:srgbClr val="0A9396"/>
                </a:solidFill>
              </a:rPr>
              <a:t>    High</a:t>
            </a:r>
          </a:p>
        </p:txBody>
      </p:sp>
      <p:sp>
        <p:nvSpPr>
          <p:cNvPr id="330" name="Text 14"/>
          <p:cNvSpPr txBox="1"/>
          <p:nvPr/>
        </p:nvSpPr>
        <p:spPr>
          <a:xfrm>
            <a:off x="4846319" y="1935849"/>
            <a:ext cx="3520442" cy="46255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900">
                <a:solidFill>
                  <a:srgbClr val="525F7F"/>
                </a:solidFill>
              </a:defRPr>
            </a:lvl1pPr>
          </a:lstStyle>
          <a:p>
            <a:pPr/>
            <a:r>
              <a:t>Upsell to existing Stripe base — not new customer acquisition. Developers already using Stripe turn it on and never turn it off because it surfaces insights unavailable elsewhere.</a:t>
            </a:r>
          </a:p>
        </p:txBody>
      </p:sp>
      <p:sp>
        <p:nvSpPr>
          <p:cNvPr id="331" name="Text 17"/>
          <p:cNvSpPr txBox="1"/>
          <p:nvPr/>
        </p:nvSpPr>
        <p:spPr>
          <a:xfrm>
            <a:off x="822959" y="2974829"/>
            <a:ext cx="3520442" cy="1402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100">
                <a:solidFill>
                  <a:srgbClr val="1A1F36"/>
                </a:solidFill>
              </a:defRPr>
            </a:pPr>
            <a:r>
              <a:t>Compliance Leverage</a:t>
            </a:r>
            <a:r>
              <a:rPr sz="1000">
                <a:solidFill>
                  <a:srgbClr val="F59E0B"/>
                </a:solidFill>
              </a:rPr>
              <a:t>    Very High</a:t>
            </a:r>
          </a:p>
        </p:txBody>
      </p:sp>
      <p:sp>
        <p:nvSpPr>
          <p:cNvPr id="332" name="Text 18"/>
          <p:cNvSpPr txBox="1"/>
          <p:nvPr/>
        </p:nvSpPr>
        <p:spPr>
          <a:xfrm>
            <a:off x="822959" y="3311868"/>
            <a:ext cx="3520442" cy="6366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900">
                <a:solidFill>
                  <a:srgbClr val="525F7F"/>
                </a:solidFill>
              </a:defRPr>
            </a:lvl1pPr>
          </a:lstStyle>
          <a:p>
            <a:pPr/>
            <a:r>
              <a:t>This IS compliance infrastructure. Extends Tax threshold monitoring and Identity to money transmitter licensing, VAT registration, data privacy, industry-specific regulations. Compounds with every merchant and jurisdiction.</a:t>
            </a:r>
          </a:p>
        </p:txBody>
      </p:sp>
      <p:sp>
        <p:nvSpPr>
          <p:cNvPr id="333" name="Text 21"/>
          <p:cNvSpPr txBox="1"/>
          <p:nvPr/>
        </p:nvSpPr>
        <p:spPr>
          <a:xfrm>
            <a:off x="4846319" y="2974829"/>
            <a:ext cx="3520442" cy="1402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100">
                <a:solidFill>
                  <a:srgbClr val="1A1F36"/>
                </a:solidFill>
              </a:defRPr>
            </a:pPr>
            <a:r>
              <a:t>Global Reach</a:t>
            </a:r>
            <a:r>
              <a:rPr sz="1000">
                <a:solidFill>
                  <a:srgbClr val="10B981"/>
                </a:solidFill>
              </a:rPr>
              <a:t>    Very High</a:t>
            </a:r>
          </a:p>
        </p:txBody>
      </p:sp>
      <p:sp>
        <p:nvSpPr>
          <p:cNvPr id="334" name="Text 22"/>
          <p:cNvSpPr txBox="1"/>
          <p:nvPr/>
        </p:nvSpPr>
        <p:spPr>
          <a:xfrm>
            <a:off x="4846319" y="3398889"/>
            <a:ext cx="3520442" cy="46255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900">
                <a:solidFill>
                  <a:srgbClr val="525F7F"/>
                </a:solidFill>
              </a:defRPr>
            </a:lvl1pPr>
          </a:lstStyle>
          <a:p>
            <a:pPr/>
            <a:r>
              <a:t>Regulatory complexity scales with geographic footprint. A merchant in 15 countries has 15 sets of obligations. Product gets MORE valuable as Stripe's footprint grows. Nobody else has the data.</a:t>
            </a:r>
          </a:p>
        </p:txBody>
      </p:sp>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6F9FC"/>
        </a:solidFill>
      </p:bgPr>
    </p:bg>
    <p:spTree>
      <p:nvGrpSpPr>
        <p:cNvPr id="1" name=""/>
        <p:cNvGrpSpPr/>
        <p:nvPr/>
      </p:nvGrpSpPr>
      <p:grpSpPr>
        <a:xfrm>
          <a:off x="0" y="0"/>
          <a:ext cx="0" cy="0"/>
          <a:chOff x="0" y="0"/>
          <a:chExt cx="0" cy="0"/>
        </a:xfrm>
      </p:grpSpPr>
      <p:sp>
        <p:nvSpPr>
          <p:cNvPr id="336" name="Text 1"/>
          <p:cNvSpPr txBox="1"/>
          <p:nvPr/>
        </p:nvSpPr>
        <p:spPr>
          <a:xfrm>
            <a:off x="640079" y="298450"/>
            <a:ext cx="7863842"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200">
                <a:solidFill>
                  <a:srgbClr val="1A1F36"/>
                </a:solidFill>
                <a:latin typeface="Georgia"/>
                <a:ea typeface="Georgia"/>
                <a:cs typeface="Georgia"/>
                <a:sym typeface="Georgia"/>
              </a:defRPr>
            </a:lvl1pPr>
          </a:lstStyle>
          <a:p>
            <a:pPr/>
            <a:r>
              <a:t>Programmable Escrow</a:t>
            </a:r>
          </a:p>
        </p:txBody>
      </p:sp>
      <p:sp>
        <p:nvSpPr>
          <p:cNvPr id="337" name="Text 4"/>
          <p:cNvSpPr txBox="1"/>
          <p:nvPr/>
        </p:nvSpPr>
        <p:spPr>
          <a:xfrm>
            <a:off x="502919" y="4919761"/>
            <a:ext cx="8138162" cy="19601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800">
                <a:solidFill>
                  <a:srgbClr val="8898AA"/>
                </a:solidFill>
              </a:defRPr>
            </a:lvl1pPr>
          </a:lstStyle>
          <a:p>
            <a:pPr/>
            <a:r>
              <a:t>Stripe GTM Research  |  Cowork Mode Demo  |  February 2026</a:t>
            </a:r>
          </a:p>
        </p:txBody>
      </p:sp>
      <p:sp>
        <p:nvSpPr>
          <p:cNvPr id="338" name="Text 5"/>
          <p:cNvSpPr txBox="1"/>
          <p:nvPr/>
        </p:nvSpPr>
        <p:spPr>
          <a:xfrm>
            <a:off x="7818119" y="4789083"/>
            <a:ext cx="100584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8898AA"/>
                </a:solidFill>
              </a:defRPr>
            </a:lvl1pPr>
          </a:lstStyle>
          <a:p>
            <a:pPr/>
            <a:r>
              <a:t>23 / 34</a:t>
            </a:r>
          </a:p>
        </p:txBody>
      </p:sp>
      <p:sp>
        <p:nvSpPr>
          <p:cNvPr id="339" name="Text 6"/>
          <p:cNvSpPr txBox="1"/>
          <p:nvPr/>
        </p:nvSpPr>
        <p:spPr>
          <a:xfrm>
            <a:off x="640079" y="973127"/>
            <a:ext cx="786384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200">
                <a:solidFill>
                  <a:srgbClr val="635BFF"/>
                </a:solidFill>
              </a:defRPr>
            </a:lvl1pPr>
          </a:lstStyle>
          <a:p>
            <a:pPr/>
            <a:r>
              <a:t>A new API primitive, not a vertical product</a:t>
            </a:r>
          </a:p>
        </p:txBody>
      </p:sp>
      <p:sp>
        <p:nvSpPr>
          <p:cNvPr id="340" name="Text 9"/>
          <p:cNvSpPr txBox="1"/>
          <p:nvPr/>
        </p:nvSpPr>
        <p:spPr>
          <a:xfrm>
            <a:off x="822959" y="1511789"/>
            <a:ext cx="3520442" cy="1402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100">
                <a:solidFill>
                  <a:srgbClr val="1A1F36"/>
                </a:solidFill>
              </a:defRPr>
            </a:pPr>
            <a:r>
              <a:t>API-First Fit</a:t>
            </a:r>
            <a:r>
              <a:rPr sz="1000">
                <a:solidFill>
                  <a:srgbClr val="635BFF"/>
                </a:solidFill>
              </a:rPr>
              <a:t>    Very High</a:t>
            </a:r>
          </a:p>
        </p:txBody>
      </p:sp>
      <p:sp>
        <p:nvSpPr>
          <p:cNvPr id="341" name="Text 10"/>
          <p:cNvSpPr txBox="1"/>
          <p:nvPr/>
        </p:nvSpPr>
        <p:spPr>
          <a:xfrm>
            <a:off x="822959" y="1935849"/>
            <a:ext cx="3520442" cy="46255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900">
                <a:solidFill>
                  <a:srgbClr val="525F7F"/>
                </a:solidFill>
              </a:defRPr>
            </a:lvl1pPr>
          </a:lstStyle>
          <a:p>
            <a:pPr/>
            <a:r>
              <a:t>Escrow is inherently programmable: release funds when API condition X is met. Sits at the same abstraction level as Payment Intents. A primitive that enables dozens of verticals.</a:t>
            </a:r>
          </a:p>
        </p:txBody>
      </p:sp>
      <p:sp>
        <p:nvSpPr>
          <p:cNvPr id="342" name="Text 13"/>
          <p:cNvSpPr txBox="1"/>
          <p:nvPr/>
        </p:nvSpPr>
        <p:spPr>
          <a:xfrm>
            <a:off x="4846319" y="1511789"/>
            <a:ext cx="3520442" cy="1402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100">
                <a:solidFill>
                  <a:srgbClr val="1A1F36"/>
                </a:solidFill>
              </a:defRPr>
            </a:pPr>
            <a:r>
              <a:t>Developer Adoption</a:t>
            </a:r>
            <a:r>
              <a:rPr sz="1000">
                <a:solidFill>
                  <a:srgbClr val="0A9396"/>
                </a:solidFill>
              </a:rPr>
              <a:t>    Very High</a:t>
            </a:r>
          </a:p>
        </p:txBody>
      </p:sp>
      <p:sp>
        <p:nvSpPr>
          <p:cNvPr id="343" name="Text 14"/>
          <p:cNvSpPr txBox="1"/>
          <p:nvPr/>
        </p:nvSpPr>
        <p:spPr>
          <a:xfrm>
            <a:off x="4846319" y="1935849"/>
            <a:ext cx="3520442" cy="46255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900">
                <a:solidFill>
                  <a:srgbClr val="525F7F"/>
                </a:solidFill>
              </a:defRPr>
            </a:lvl1pPr>
          </a:lstStyle>
          <a:p>
            <a:pPr/>
            <a:r>
              <a:t>Any developer building a marketplace, freelance platform, construction app, or trade tool needs escrow and is currently hacking it with held balances and manual release. Word-of-mouth adoption.</a:t>
            </a:r>
          </a:p>
        </p:txBody>
      </p:sp>
      <p:sp>
        <p:nvSpPr>
          <p:cNvPr id="344" name="Text 17"/>
          <p:cNvSpPr txBox="1"/>
          <p:nvPr/>
        </p:nvSpPr>
        <p:spPr>
          <a:xfrm>
            <a:off x="822959" y="2974829"/>
            <a:ext cx="3520442" cy="1402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100">
                <a:solidFill>
                  <a:srgbClr val="1A1F36"/>
                </a:solidFill>
              </a:defRPr>
            </a:pPr>
            <a:r>
              <a:t>Compliance Leverage</a:t>
            </a:r>
            <a:r>
              <a:rPr sz="1000">
                <a:solidFill>
                  <a:srgbClr val="F59E0B"/>
                </a:solidFill>
              </a:rPr>
              <a:t>    High</a:t>
            </a:r>
          </a:p>
        </p:txBody>
      </p:sp>
      <p:sp>
        <p:nvSpPr>
          <p:cNvPr id="345" name="Text 18"/>
          <p:cNvSpPr txBox="1"/>
          <p:nvPr/>
        </p:nvSpPr>
        <p:spPr>
          <a:xfrm>
            <a:off x="822959" y="3398889"/>
            <a:ext cx="3520442" cy="46255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900">
                <a:solidFill>
                  <a:srgbClr val="525F7F"/>
                </a:solidFill>
              </a:defRPr>
            </a:lvl1pPr>
          </a:lstStyle>
          <a:p>
            <a:pPr/>
            <a:r>
              <a:t>Escrow is regulated in most US states. Building compliant infrastructure is hard — Stripe's licensing, KYB/KYC, and AML muscle creates a significant barrier to entry.</a:t>
            </a:r>
          </a:p>
        </p:txBody>
      </p:sp>
      <p:sp>
        <p:nvSpPr>
          <p:cNvPr id="346" name="Text 21"/>
          <p:cNvSpPr txBox="1"/>
          <p:nvPr/>
        </p:nvSpPr>
        <p:spPr>
          <a:xfrm>
            <a:off x="4846319" y="2974829"/>
            <a:ext cx="3520442" cy="1402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100">
                <a:solidFill>
                  <a:srgbClr val="1A1F36"/>
                </a:solidFill>
              </a:defRPr>
            </a:pPr>
            <a:r>
              <a:t>Global Reach</a:t>
            </a:r>
            <a:r>
              <a:rPr sz="1000">
                <a:solidFill>
                  <a:srgbClr val="10B981"/>
                </a:solidFill>
              </a:rPr>
              <a:t>    High</a:t>
            </a:r>
          </a:p>
        </p:txBody>
      </p:sp>
      <p:sp>
        <p:nvSpPr>
          <p:cNvPr id="347" name="Text 22"/>
          <p:cNvSpPr txBox="1"/>
          <p:nvPr/>
        </p:nvSpPr>
        <p:spPr>
          <a:xfrm>
            <a:off x="4846319" y="3398889"/>
            <a:ext cx="3520442" cy="46255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900">
                <a:solidFill>
                  <a:srgbClr val="525F7F"/>
                </a:solidFill>
              </a:defRPr>
            </a:lvl1pPr>
          </a:lstStyle>
          <a:p>
            <a:pPr/>
            <a:r>
              <a:t>Escrow needs exist globally: international trade, cross-border freelancing, real estate. Stablecoin rails via Bridge make cross-border conditional payments dramatically simpler.</a:t>
            </a:r>
          </a:p>
        </p:txBody>
      </p:sp>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6F9FC"/>
        </a:solidFill>
      </p:bgPr>
    </p:bg>
    <p:spTree>
      <p:nvGrpSpPr>
        <p:cNvPr id="1" name=""/>
        <p:cNvGrpSpPr/>
        <p:nvPr/>
      </p:nvGrpSpPr>
      <p:grpSpPr>
        <a:xfrm>
          <a:off x="0" y="0"/>
          <a:ext cx="0" cy="0"/>
          <a:chOff x="0" y="0"/>
          <a:chExt cx="0" cy="0"/>
        </a:xfrm>
      </p:grpSpPr>
      <p:sp>
        <p:nvSpPr>
          <p:cNvPr id="349" name="Text 1"/>
          <p:cNvSpPr txBox="1"/>
          <p:nvPr/>
        </p:nvSpPr>
        <p:spPr>
          <a:xfrm>
            <a:off x="640079" y="298450"/>
            <a:ext cx="7863842"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200">
                <a:solidFill>
                  <a:srgbClr val="1A1F36"/>
                </a:solidFill>
                <a:latin typeface="Georgia"/>
                <a:ea typeface="Georgia"/>
                <a:cs typeface="Georgia"/>
                <a:sym typeface="Georgia"/>
              </a:defRPr>
            </a:lvl1pPr>
          </a:lstStyle>
          <a:p>
            <a:pPr/>
            <a:r>
              <a:t>Litigation Settlement Disbursement</a:t>
            </a:r>
          </a:p>
        </p:txBody>
      </p:sp>
      <p:sp>
        <p:nvSpPr>
          <p:cNvPr id="350" name="Text 4"/>
          <p:cNvSpPr txBox="1"/>
          <p:nvPr/>
        </p:nvSpPr>
        <p:spPr>
          <a:xfrm>
            <a:off x="502919" y="4919761"/>
            <a:ext cx="8138162" cy="19601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800">
                <a:solidFill>
                  <a:srgbClr val="8898AA"/>
                </a:solidFill>
              </a:defRPr>
            </a:lvl1pPr>
          </a:lstStyle>
          <a:p>
            <a:pPr/>
            <a:r>
              <a:t>Stripe GTM Research  |  Cowork Mode Demo  |  February 2026</a:t>
            </a:r>
          </a:p>
        </p:txBody>
      </p:sp>
      <p:sp>
        <p:nvSpPr>
          <p:cNvPr id="351" name="Text 5"/>
          <p:cNvSpPr txBox="1"/>
          <p:nvPr/>
        </p:nvSpPr>
        <p:spPr>
          <a:xfrm>
            <a:off x="7818119" y="4789083"/>
            <a:ext cx="100584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8898AA"/>
                </a:solidFill>
              </a:defRPr>
            </a:lvl1pPr>
          </a:lstStyle>
          <a:p>
            <a:pPr/>
            <a:r>
              <a:t>24 / 34</a:t>
            </a:r>
          </a:p>
        </p:txBody>
      </p:sp>
      <p:sp>
        <p:nvSpPr>
          <p:cNvPr id="352" name="Text 6"/>
          <p:cNvSpPr txBox="1"/>
          <p:nvPr/>
        </p:nvSpPr>
        <p:spPr>
          <a:xfrm>
            <a:off x="640079" y="973127"/>
            <a:ext cx="786384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200">
                <a:solidFill>
                  <a:srgbClr val="635BFF"/>
                </a:solidFill>
              </a:defRPr>
            </a:lvl1pPr>
          </a:lstStyle>
          <a:p>
            <a:pPr/>
            <a:r>
              <a:t>API for mass-tort payouts</a:t>
            </a:r>
          </a:p>
        </p:txBody>
      </p:sp>
      <p:sp>
        <p:nvSpPr>
          <p:cNvPr id="353" name="Text 9"/>
          <p:cNvSpPr txBox="1"/>
          <p:nvPr/>
        </p:nvSpPr>
        <p:spPr>
          <a:xfrm>
            <a:off x="822959" y="1511789"/>
            <a:ext cx="3520442" cy="1402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100">
                <a:solidFill>
                  <a:srgbClr val="1A1F36"/>
                </a:solidFill>
              </a:defRPr>
            </a:pPr>
            <a:r>
              <a:t>API-First Fit</a:t>
            </a:r>
            <a:r>
              <a:rPr sz="1000">
                <a:solidFill>
                  <a:srgbClr val="635BFF"/>
                </a:solidFill>
              </a:rPr>
              <a:t>    High</a:t>
            </a:r>
          </a:p>
        </p:txBody>
      </p:sp>
      <p:sp>
        <p:nvSpPr>
          <p:cNvPr id="354" name="Text 10"/>
          <p:cNvSpPr txBox="1"/>
          <p:nvPr/>
        </p:nvSpPr>
        <p:spPr>
          <a:xfrm>
            <a:off x="822959" y="1935849"/>
            <a:ext cx="3520442" cy="46255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900">
                <a:solidFill>
                  <a:srgbClr val="525F7F"/>
                </a:solidFill>
              </a:defRPr>
            </a:lvl1pPr>
          </a:lstStyle>
          <a:p>
            <a:pPr/>
            <a:r>
              <a:t>Claims administrators process thousands of payouts per settlement — rules-based batch distribution that screams for an API. Current process: paralegal + spreadsheet + checkbook.</a:t>
            </a:r>
          </a:p>
        </p:txBody>
      </p:sp>
      <p:sp>
        <p:nvSpPr>
          <p:cNvPr id="355" name="Text 13"/>
          <p:cNvSpPr txBox="1"/>
          <p:nvPr/>
        </p:nvSpPr>
        <p:spPr>
          <a:xfrm>
            <a:off x="4846319" y="1511789"/>
            <a:ext cx="3520442" cy="1402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100">
                <a:solidFill>
                  <a:srgbClr val="1A1F36"/>
                </a:solidFill>
              </a:defRPr>
            </a:pPr>
            <a:r>
              <a:t>Developer Adoption</a:t>
            </a:r>
            <a:r>
              <a:rPr sz="1000">
                <a:solidFill>
                  <a:srgbClr val="0A9396"/>
                </a:solidFill>
              </a:rPr>
              <a:t>    Moderate</a:t>
            </a:r>
          </a:p>
        </p:txBody>
      </p:sp>
      <p:sp>
        <p:nvSpPr>
          <p:cNvPr id="356" name="Text 14"/>
          <p:cNvSpPr txBox="1"/>
          <p:nvPr/>
        </p:nvSpPr>
        <p:spPr>
          <a:xfrm>
            <a:off x="4846319" y="1935849"/>
            <a:ext cx="3520442" cy="46255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900">
                <a:solidFill>
                  <a:srgbClr val="525F7F"/>
                </a:solidFill>
              </a:defRPr>
            </a:lvl1pPr>
          </a:lstStyle>
          <a:p>
            <a:pPr/>
            <a:r>
              <a:t>Initial adopters are legal tech platforms (not classic devs), but those platforms employ developers. Connect-like pattern: Stripe powers the platform, platform serves law firms.</a:t>
            </a:r>
          </a:p>
        </p:txBody>
      </p:sp>
      <p:sp>
        <p:nvSpPr>
          <p:cNvPr id="357" name="Text 17"/>
          <p:cNvSpPr txBox="1"/>
          <p:nvPr/>
        </p:nvSpPr>
        <p:spPr>
          <a:xfrm>
            <a:off x="822959" y="2974829"/>
            <a:ext cx="3520442" cy="1402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100">
                <a:solidFill>
                  <a:srgbClr val="1A1F36"/>
                </a:solidFill>
              </a:defRPr>
            </a:pPr>
            <a:r>
              <a:t>Compliance Leverage</a:t>
            </a:r>
            <a:r>
              <a:rPr sz="1000">
                <a:solidFill>
                  <a:srgbClr val="F59E0B"/>
                </a:solidFill>
              </a:rPr>
              <a:t>    Very High</a:t>
            </a:r>
          </a:p>
        </p:txBody>
      </p:sp>
      <p:sp>
        <p:nvSpPr>
          <p:cNvPr id="358" name="Text 18"/>
          <p:cNvSpPr txBox="1"/>
          <p:nvPr/>
        </p:nvSpPr>
        <p:spPr>
          <a:xfrm>
            <a:off x="822959" y="3398889"/>
            <a:ext cx="3520442" cy="46255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900">
                <a:solidFill>
                  <a:srgbClr val="525F7F"/>
                </a:solidFill>
              </a:defRPr>
            </a:lvl1pPr>
          </a:lstStyle>
          <a:p>
            <a:pPr/>
            <a:r>
              <a:t>Identity verification (right claimant?), tax withholding (settlements are taxable), anti-fraud (fake claimants), regulatory reporting. All map to existing Stripe products.</a:t>
            </a:r>
          </a:p>
        </p:txBody>
      </p:sp>
      <p:sp>
        <p:nvSpPr>
          <p:cNvPr id="359" name="Text 21"/>
          <p:cNvSpPr txBox="1"/>
          <p:nvPr/>
        </p:nvSpPr>
        <p:spPr>
          <a:xfrm>
            <a:off x="4846319" y="2974829"/>
            <a:ext cx="3520442" cy="1402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100">
                <a:solidFill>
                  <a:srgbClr val="1A1F36"/>
                </a:solidFill>
              </a:defRPr>
            </a:pPr>
            <a:r>
              <a:t>Global Reach</a:t>
            </a:r>
            <a:r>
              <a:rPr sz="1000">
                <a:solidFill>
                  <a:srgbClr val="10B981"/>
                </a:solidFill>
              </a:rPr>
              <a:t>    Medium</a:t>
            </a:r>
          </a:p>
        </p:txBody>
      </p:sp>
      <p:sp>
        <p:nvSpPr>
          <p:cNvPr id="360" name="Text 22"/>
          <p:cNvSpPr txBox="1"/>
          <p:nvPr/>
        </p:nvSpPr>
        <p:spPr>
          <a:xfrm>
            <a:off x="4846319" y="3398889"/>
            <a:ext cx="3520442" cy="46255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900">
                <a:solidFill>
                  <a:srgbClr val="525F7F"/>
                </a:solidFill>
              </a:defRPr>
            </a:lvl1pPr>
          </a:lstStyle>
          <a:p>
            <a:pPr/>
            <a:r>
              <a:t>Primarily US and UK market — common-law jurisdictions generate most mass tort settlements. Deep-US play rather than global, but very large domestically.</a:t>
            </a:r>
          </a:p>
        </p:txBody>
      </p:sp>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6F9FC"/>
        </a:solidFill>
      </p:bgPr>
    </p:bg>
    <p:spTree>
      <p:nvGrpSpPr>
        <p:cNvPr id="1" name=""/>
        <p:cNvGrpSpPr/>
        <p:nvPr/>
      </p:nvGrpSpPr>
      <p:grpSpPr>
        <a:xfrm>
          <a:off x="0" y="0"/>
          <a:ext cx="0" cy="0"/>
          <a:chOff x="0" y="0"/>
          <a:chExt cx="0" cy="0"/>
        </a:xfrm>
      </p:grpSpPr>
      <p:sp>
        <p:nvSpPr>
          <p:cNvPr id="362" name="Text 1"/>
          <p:cNvSpPr txBox="1"/>
          <p:nvPr/>
        </p:nvSpPr>
        <p:spPr>
          <a:xfrm>
            <a:off x="640079" y="298450"/>
            <a:ext cx="7863842"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200">
                <a:solidFill>
                  <a:srgbClr val="1A1F36"/>
                </a:solidFill>
                <a:latin typeface="Georgia"/>
                <a:ea typeface="Georgia"/>
                <a:cs typeface="Georgia"/>
                <a:sym typeface="Georgia"/>
              </a:defRPr>
            </a:lvl1pPr>
          </a:lstStyle>
          <a:p>
            <a:pPr/>
            <a:r>
              <a:t>Research Procurement</a:t>
            </a:r>
          </a:p>
        </p:txBody>
      </p:sp>
      <p:sp>
        <p:nvSpPr>
          <p:cNvPr id="363" name="Text 4"/>
          <p:cNvSpPr txBox="1"/>
          <p:nvPr/>
        </p:nvSpPr>
        <p:spPr>
          <a:xfrm>
            <a:off x="502919" y="4919761"/>
            <a:ext cx="8138162" cy="19601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800">
                <a:solidFill>
                  <a:srgbClr val="8898AA"/>
                </a:solidFill>
              </a:defRPr>
            </a:lvl1pPr>
          </a:lstStyle>
          <a:p>
            <a:pPr/>
            <a:r>
              <a:t>Stripe GTM Research  |  Cowork Mode Demo  |  February 2026</a:t>
            </a:r>
          </a:p>
        </p:txBody>
      </p:sp>
      <p:sp>
        <p:nvSpPr>
          <p:cNvPr id="364" name="Text 5"/>
          <p:cNvSpPr txBox="1"/>
          <p:nvPr/>
        </p:nvSpPr>
        <p:spPr>
          <a:xfrm>
            <a:off x="7818119" y="4789083"/>
            <a:ext cx="100584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8898AA"/>
                </a:solidFill>
              </a:defRPr>
            </a:lvl1pPr>
          </a:lstStyle>
          <a:p>
            <a:pPr/>
            <a:r>
              <a:t>25 / 34</a:t>
            </a:r>
          </a:p>
        </p:txBody>
      </p:sp>
      <p:sp>
        <p:nvSpPr>
          <p:cNvPr id="365" name="Text 6"/>
          <p:cNvSpPr txBox="1"/>
          <p:nvPr/>
        </p:nvSpPr>
        <p:spPr>
          <a:xfrm>
            <a:off x="640079" y="973127"/>
            <a:ext cx="786384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200">
                <a:solidFill>
                  <a:srgbClr val="635BFF"/>
                </a:solidFill>
              </a:defRPr>
            </a:lvl1pPr>
          </a:lstStyle>
          <a:p>
            <a:pPr/>
            <a:r>
              <a:t>The $700B wedge into academic institutions</a:t>
            </a:r>
          </a:p>
        </p:txBody>
      </p:sp>
      <p:sp>
        <p:nvSpPr>
          <p:cNvPr id="366" name="Text 9"/>
          <p:cNvSpPr txBox="1"/>
          <p:nvPr/>
        </p:nvSpPr>
        <p:spPr>
          <a:xfrm>
            <a:off x="822959" y="1511789"/>
            <a:ext cx="3520442" cy="1402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100">
                <a:solidFill>
                  <a:srgbClr val="1A1F36"/>
                </a:solidFill>
              </a:defRPr>
            </a:pPr>
            <a:r>
              <a:t>API-First Fit</a:t>
            </a:r>
            <a:r>
              <a:rPr sz="1000">
                <a:solidFill>
                  <a:srgbClr val="635BFF"/>
                </a:solidFill>
              </a:rPr>
              <a:t>    High</a:t>
            </a:r>
          </a:p>
        </p:txBody>
      </p:sp>
      <p:sp>
        <p:nvSpPr>
          <p:cNvPr id="367" name="Text 10"/>
          <p:cNvSpPr txBox="1"/>
          <p:nvPr/>
        </p:nvSpPr>
        <p:spPr>
          <a:xfrm>
            <a:off x="822959" y="1935849"/>
            <a:ext cx="3520442" cy="46255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900">
                <a:solidFill>
                  <a:srgbClr val="525F7F"/>
                </a:solidFill>
              </a:defRPr>
            </a:lvl1pPr>
          </a:lstStyle>
          <a:p>
            <a:pPr/>
            <a:r>
              <a:t>Lab procurement is API-shaped: catalog lookup → budget check → purchase order → payment → grant reconciliation. Each step is a discrete API call replacing legacy procurement systems.</a:t>
            </a:r>
          </a:p>
        </p:txBody>
      </p:sp>
      <p:sp>
        <p:nvSpPr>
          <p:cNvPr id="368" name="Text 13"/>
          <p:cNvSpPr txBox="1"/>
          <p:nvPr/>
        </p:nvSpPr>
        <p:spPr>
          <a:xfrm>
            <a:off x="4846319" y="1511789"/>
            <a:ext cx="3520442" cy="1402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100">
                <a:solidFill>
                  <a:srgbClr val="1A1F36"/>
                </a:solidFill>
              </a:defRPr>
            </a:pPr>
            <a:r>
              <a:t>Developer Adoption</a:t>
            </a:r>
            <a:r>
              <a:rPr sz="1000">
                <a:solidFill>
                  <a:srgbClr val="0A9396"/>
                </a:solidFill>
              </a:rPr>
              <a:t>    High</a:t>
            </a:r>
          </a:p>
        </p:txBody>
      </p:sp>
      <p:sp>
        <p:nvSpPr>
          <p:cNvPr id="369" name="Text 14"/>
          <p:cNvSpPr txBox="1"/>
          <p:nvPr/>
        </p:nvSpPr>
        <p:spPr>
          <a:xfrm>
            <a:off x="4846319" y="1935849"/>
            <a:ext cx="3520442" cy="46255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900">
                <a:solidFill>
                  <a:srgbClr val="525F7F"/>
                </a:solidFill>
              </a:defRPr>
            </a:lvl1pPr>
          </a:lstStyle>
          <a:p>
            <a:pPr/>
            <a:r>
              <a:t>Researchers aren't developers but behave like them — technical, impatient with bureaucracy, adopt tools bottom-up. PI uses it, department notices, university IT integrates.</a:t>
            </a:r>
          </a:p>
        </p:txBody>
      </p:sp>
      <p:sp>
        <p:nvSpPr>
          <p:cNvPr id="370" name="Text 17"/>
          <p:cNvSpPr txBox="1"/>
          <p:nvPr/>
        </p:nvSpPr>
        <p:spPr>
          <a:xfrm>
            <a:off x="822959" y="2974829"/>
            <a:ext cx="3520442" cy="1402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100">
                <a:solidFill>
                  <a:srgbClr val="1A1F36"/>
                </a:solidFill>
              </a:defRPr>
            </a:pPr>
            <a:r>
              <a:t>Compliance Leverage</a:t>
            </a:r>
            <a:r>
              <a:rPr sz="1000">
                <a:solidFill>
                  <a:srgbClr val="F59E0B"/>
                </a:solidFill>
              </a:rPr>
              <a:t>    Medium</a:t>
            </a:r>
          </a:p>
        </p:txBody>
      </p:sp>
      <p:sp>
        <p:nvSpPr>
          <p:cNvPr id="371" name="Text 18"/>
          <p:cNvSpPr txBox="1"/>
          <p:nvPr/>
        </p:nvSpPr>
        <p:spPr>
          <a:xfrm>
            <a:off x="822959" y="3398889"/>
            <a:ext cx="3520442" cy="46255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900">
                <a:solidFill>
                  <a:srgbClr val="525F7F"/>
                </a:solidFill>
              </a:defRPr>
            </a:lvl1pPr>
          </a:lstStyle>
          <a:p>
            <a:pPr/>
            <a:r>
              <a:t>Grant compliance (NSF, NIH, DoD rules on allowable expenses) is specialized. New domain for Stripe but leverages existing spending controls and reporting infrastructure.</a:t>
            </a:r>
          </a:p>
        </p:txBody>
      </p:sp>
      <p:sp>
        <p:nvSpPr>
          <p:cNvPr id="372" name="Text 21"/>
          <p:cNvSpPr txBox="1"/>
          <p:nvPr/>
        </p:nvSpPr>
        <p:spPr>
          <a:xfrm>
            <a:off x="4846319" y="2974829"/>
            <a:ext cx="3520442" cy="1402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100">
                <a:solidFill>
                  <a:srgbClr val="1A1F36"/>
                </a:solidFill>
              </a:defRPr>
            </a:pPr>
            <a:r>
              <a:t>Global Reach</a:t>
            </a:r>
            <a:r>
              <a:rPr sz="1000">
                <a:solidFill>
                  <a:srgbClr val="10B981"/>
                </a:solidFill>
              </a:rPr>
              <a:t>    Medium-High</a:t>
            </a:r>
          </a:p>
        </p:txBody>
      </p:sp>
      <p:sp>
        <p:nvSpPr>
          <p:cNvPr id="373" name="Text 22"/>
          <p:cNvSpPr txBox="1"/>
          <p:nvPr/>
        </p:nvSpPr>
        <p:spPr>
          <a:xfrm>
            <a:off x="4846319" y="3398889"/>
            <a:ext cx="3520442" cy="46255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900">
                <a:solidFill>
                  <a:srgbClr val="525F7F"/>
                </a:solidFill>
              </a:defRPr>
            </a:lvl1pPr>
          </a:lstStyle>
          <a:p>
            <a:pPr/>
            <a:r>
              <a:t>Research is global — Singapore lab buys reagents from German supplier. Multi-currency and Bridge rails help. But initial market is US universities (~60% of global R&amp;D spend).</a:t>
            </a:r>
          </a:p>
        </p:txBody>
      </p:sp>
    </p:spTree>
  </p:cSld>
  <p:clrMapOvr>
    <a:masterClrMapping/>
  </p:clrMapOvr>
  <p:transition xmlns:p14="http://schemas.microsoft.com/office/powerpoint/2010/main" spd="med" advClick="1"/>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6F9FC"/>
        </a:solidFill>
      </p:bgPr>
    </p:bg>
    <p:spTree>
      <p:nvGrpSpPr>
        <p:cNvPr id="1" name=""/>
        <p:cNvGrpSpPr/>
        <p:nvPr/>
      </p:nvGrpSpPr>
      <p:grpSpPr>
        <a:xfrm>
          <a:off x="0" y="0"/>
          <a:ext cx="0" cy="0"/>
          <a:chOff x="0" y="0"/>
          <a:chExt cx="0" cy="0"/>
        </a:xfrm>
      </p:grpSpPr>
      <p:sp>
        <p:nvSpPr>
          <p:cNvPr id="375" name="Text 1"/>
          <p:cNvSpPr txBox="1"/>
          <p:nvPr/>
        </p:nvSpPr>
        <p:spPr>
          <a:xfrm>
            <a:off x="640079" y="298450"/>
            <a:ext cx="7863842"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200">
                <a:solidFill>
                  <a:srgbClr val="1A1F36"/>
                </a:solidFill>
                <a:latin typeface="Georgia"/>
                <a:ea typeface="Georgia"/>
                <a:cs typeface="Georgia"/>
                <a:sym typeface="Georgia"/>
              </a:defRPr>
            </a:lvl1pPr>
          </a:lstStyle>
          <a:p>
            <a:pPr/>
            <a:r>
              <a:t>The Treasurer API</a:t>
            </a:r>
          </a:p>
        </p:txBody>
      </p:sp>
      <p:sp>
        <p:nvSpPr>
          <p:cNvPr id="376" name="Text 4"/>
          <p:cNvSpPr txBox="1"/>
          <p:nvPr/>
        </p:nvSpPr>
        <p:spPr>
          <a:xfrm>
            <a:off x="502919" y="4919761"/>
            <a:ext cx="8138162" cy="19601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800">
                <a:solidFill>
                  <a:srgbClr val="8898AA"/>
                </a:solidFill>
              </a:defRPr>
            </a:lvl1pPr>
          </a:lstStyle>
          <a:p>
            <a:pPr/>
            <a:r>
              <a:t>Stripe GTM Research  |  Cowork Mode Demo  |  February 2026</a:t>
            </a:r>
          </a:p>
        </p:txBody>
      </p:sp>
      <p:sp>
        <p:nvSpPr>
          <p:cNvPr id="377" name="Text 5"/>
          <p:cNvSpPr txBox="1"/>
          <p:nvPr/>
        </p:nvSpPr>
        <p:spPr>
          <a:xfrm>
            <a:off x="7818119" y="4789083"/>
            <a:ext cx="100584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8898AA"/>
                </a:solidFill>
              </a:defRPr>
            </a:lvl1pPr>
          </a:lstStyle>
          <a:p>
            <a:pPr/>
            <a:r>
              <a:t>26 / 34</a:t>
            </a:r>
          </a:p>
        </p:txBody>
      </p:sp>
      <p:sp>
        <p:nvSpPr>
          <p:cNvPr id="378" name="Text 6"/>
          <p:cNvSpPr txBox="1"/>
          <p:nvPr/>
        </p:nvSpPr>
        <p:spPr>
          <a:xfrm>
            <a:off x="640079" y="973127"/>
            <a:ext cx="786384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200">
                <a:solidFill>
                  <a:srgbClr val="635BFF"/>
                </a:solidFill>
              </a:defRPr>
            </a:lvl1pPr>
          </a:lstStyle>
          <a:p>
            <a:pPr/>
            <a:r>
              <a:t>Financial infrastructure for non-business entities</a:t>
            </a:r>
          </a:p>
        </p:txBody>
      </p:sp>
      <p:sp>
        <p:nvSpPr>
          <p:cNvPr id="379" name="Text 9"/>
          <p:cNvSpPr txBox="1"/>
          <p:nvPr/>
        </p:nvSpPr>
        <p:spPr>
          <a:xfrm>
            <a:off x="822959" y="1511789"/>
            <a:ext cx="3520442" cy="1402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100">
                <a:solidFill>
                  <a:srgbClr val="1A1F36"/>
                </a:solidFill>
              </a:defRPr>
            </a:pPr>
            <a:r>
              <a:t>API-First Fit</a:t>
            </a:r>
            <a:r>
              <a:rPr sz="1000">
                <a:solidFill>
                  <a:srgbClr val="635BFF"/>
                </a:solidFill>
              </a:rPr>
              <a:t>    Medium</a:t>
            </a:r>
          </a:p>
        </p:txBody>
      </p:sp>
      <p:sp>
        <p:nvSpPr>
          <p:cNvPr id="380" name="Text 10"/>
          <p:cNvSpPr txBox="1"/>
          <p:nvPr/>
        </p:nvSpPr>
        <p:spPr>
          <a:xfrm>
            <a:off x="822959" y="1935849"/>
            <a:ext cx="3520442" cy="46255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900">
                <a:solidFill>
                  <a:srgbClr val="525F7F"/>
                </a:solidFill>
              </a:defRPr>
            </a:lvl1pPr>
          </a:lstStyle>
          <a:p>
            <a:pPr/>
            <a:r>
              <a:t>End users (church treasurers, HOA boards) aren't developers. But the builders serving them ARE — church management SaaS, HOA apps. Stripe powers the platform layer via Connect.</a:t>
            </a:r>
          </a:p>
        </p:txBody>
      </p:sp>
      <p:sp>
        <p:nvSpPr>
          <p:cNvPr id="381" name="Text 13"/>
          <p:cNvSpPr txBox="1"/>
          <p:nvPr/>
        </p:nvSpPr>
        <p:spPr>
          <a:xfrm>
            <a:off x="4846319" y="1511789"/>
            <a:ext cx="3520442" cy="1402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100">
                <a:solidFill>
                  <a:srgbClr val="1A1F36"/>
                </a:solidFill>
              </a:defRPr>
            </a:pPr>
            <a:r>
              <a:t>Developer Adoption</a:t>
            </a:r>
            <a:r>
              <a:rPr sz="1000">
                <a:solidFill>
                  <a:srgbClr val="0A9396"/>
                </a:solidFill>
              </a:rPr>
              <a:t>    Moderate-High</a:t>
            </a:r>
          </a:p>
        </p:txBody>
      </p:sp>
      <p:sp>
        <p:nvSpPr>
          <p:cNvPr id="382" name="Text 14"/>
          <p:cNvSpPr txBox="1"/>
          <p:nvPr/>
        </p:nvSpPr>
        <p:spPr>
          <a:xfrm>
            <a:off x="4846319" y="1935849"/>
            <a:ext cx="3520442" cy="46255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900">
                <a:solidFill>
                  <a:srgbClr val="525F7F"/>
                </a:solidFill>
              </a:defRPr>
            </a:lvl1pPr>
          </a:lstStyle>
          <a:p>
            <a:pPr/>
            <a:r>
              <a:t>Adoption through platforms serving these entities (Breeze, AppFolio, RunSignUp). Classic Connect play: Stripe doesn't need the end user to be a developer.</a:t>
            </a:r>
          </a:p>
        </p:txBody>
      </p:sp>
      <p:sp>
        <p:nvSpPr>
          <p:cNvPr id="383" name="Text 17"/>
          <p:cNvSpPr txBox="1"/>
          <p:nvPr/>
        </p:nvSpPr>
        <p:spPr>
          <a:xfrm>
            <a:off x="822959" y="2974829"/>
            <a:ext cx="3520442" cy="1402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100">
                <a:solidFill>
                  <a:srgbClr val="1A1F36"/>
                </a:solidFill>
              </a:defRPr>
            </a:pPr>
            <a:r>
              <a:t>Compliance Leverage</a:t>
            </a:r>
            <a:r>
              <a:rPr sz="1000">
                <a:solidFill>
                  <a:srgbClr val="F59E0B"/>
                </a:solidFill>
              </a:rPr>
              <a:t>    Medium</a:t>
            </a:r>
          </a:p>
        </p:txBody>
      </p:sp>
      <p:sp>
        <p:nvSpPr>
          <p:cNvPr id="384" name="Text 18"/>
          <p:cNvSpPr txBox="1"/>
          <p:nvPr/>
        </p:nvSpPr>
        <p:spPr>
          <a:xfrm>
            <a:off x="822959" y="3398889"/>
            <a:ext cx="3520442" cy="46255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900">
                <a:solidFill>
                  <a:srgbClr val="525F7F"/>
                </a:solidFill>
              </a:defRPr>
            </a:lvl1pPr>
          </a:lstStyle>
          <a:p>
            <a:pPr/>
            <a:r>
              <a:t>Lighter requirements (501(c)(3) reporting, charitable solicitation rules, HOA fiduciary). Stripe's trustworthiness matters more than deep compliance — these entities need a provider they don't have to worry about.</a:t>
            </a:r>
          </a:p>
        </p:txBody>
      </p:sp>
      <p:sp>
        <p:nvSpPr>
          <p:cNvPr id="385" name="Text 21"/>
          <p:cNvSpPr txBox="1"/>
          <p:nvPr/>
        </p:nvSpPr>
        <p:spPr>
          <a:xfrm>
            <a:off x="4846319" y="2974829"/>
            <a:ext cx="3520442" cy="1402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100">
                <a:solidFill>
                  <a:srgbClr val="1A1F36"/>
                </a:solidFill>
              </a:defRPr>
            </a:pPr>
            <a:r>
              <a:t>Global Reach</a:t>
            </a:r>
            <a:r>
              <a:rPr sz="1000">
                <a:solidFill>
                  <a:srgbClr val="10B981"/>
                </a:solidFill>
              </a:rPr>
              <a:t>    Low-Medium</a:t>
            </a:r>
          </a:p>
        </p:txBody>
      </p:sp>
      <p:sp>
        <p:nvSpPr>
          <p:cNvPr id="386" name="Text 22"/>
          <p:cNvSpPr txBox="1"/>
          <p:nvPr/>
        </p:nvSpPr>
        <p:spPr>
          <a:xfrm>
            <a:off x="4846319" y="3398889"/>
            <a:ext cx="3520442" cy="46255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900">
                <a:solidFill>
                  <a:srgbClr val="525F7F"/>
                </a:solidFill>
              </a:defRPr>
            </a:lvl1pPr>
          </a:lstStyle>
          <a:p>
            <a:pPr/>
            <a:r>
              <a:t>Community orgs are mostly local. But religious organizations with global missions, diaspora groups, and NGOs with local chapters DO need global reach. Secondary benefit.</a:t>
            </a:r>
          </a:p>
        </p:txBody>
      </p:sp>
    </p:spTree>
  </p:cSld>
  <p:clrMapOvr>
    <a:masterClrMapping/>
  </p:clrMapOvr>
  <p:transition xmlns:p14="http://schemas.microsoft.com/office/powerpoint/2010/main" spd="med" advClick="1"/>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6F9FC"/>
        </a:solidFill>
      </p:bgPr>
    </p:bg>
    <p:spTree>
      <p:nvGrpSpPr>
        <p:cNvPr id="1" name=""/>
        <p:cNvGrpSpPr/>
        <p:nvPr/>
      </p:nvGrpSpPr>
      <p:grpSpPr>
        <a:xfrm>
          <a:off x="0" y="0"/>
          <a:ext cx="0" cy="0"/>
          <a:chOff x="0" y="0"/>
          <a:chExt cx="0" cy="0"/>
        </a:xfrm>
      </p:grpSpPr>
      <p:sp>
        <p:nvSpPr>
          <p:cNvPr id="388" name="Text 1"/>
          <p:cNvSpPr txBox="1"/>
          <p:nvPr/>
        </p:nvSpPr>
        <p:spPr>
          <a:xfrm>
            <a:off x="640079" y="298450"/>
            <a:ext cx="7863842"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200">
                <a:solidFill>
                  <a:srgbClr val="1A1F36"/>
                </a:solidFill>
                <a:latin typeface="Georgia"/>
                <a:ea typeface="Georgia"/>
                <a:cs typeface="Georgia"/>
                <a:sym typeface="Georgia"/>
              </a:defRPr>
            </a:lvl1pPr>
          </a:lstStyle>
          <a:p>
            <a:pPr/>
            <a:r>
              <a:t>Final Ranking: Structural Fit Assessment</a:t>
            </a:r>
          </a:p>
        </p:txBody>
      </p:sp>
      <p:sp>
        <p:nvSpPr>
          <p:cNvPr id="389" name="Text 4"/>
          <p:cNvSpPr txBox="1"/>
          <p:nvPr/>
        </p:nvSpPr>
        <p:spPr>
          <a:xfrm>
            <a:off x="502919" y="4919761"/>
            <a:ext cx="8138162" cy="19601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800">
                <a:solidFill>
                  <a:srgbClr val="8898AA"/>
                </a:solidFill>
              </a:defRPr>
            </a:lvl1pPr>
          </a:lstStyle>
          <a:p>
            <a:pPr/>
            <a:r>
              <a:t>Stripe GTM Research  |  Cowork Mode Demo  |  February 2026</a:t>
            </a:r>
          </a:p>
        </p:txBody>
      </p:sp>
      <p:sp>
        <p:nvSpPr>
          <p:cNvPr id="390" name="Text 5"/>
          <p:cNvSpPr txBox="1"/>
          <p:nvPr/>
        </p:nvSpPr>
        <p:spPr>
          <a:xfrm>
            <a:off x="7818119" y="4789083"/>
            <a:ext cx="100584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8898AA"/>
                </a:solidFill>
              </a:defRPr>
            </a:lvl1pPr>
          </a:lstStyle>
          <a:p>
            <a:pPr/>
            <a:r>
              <a:t>27 / 34</a:t>
            </a:r>
          </a:p>
        </p:txBody>
      </p:sp>
      <p:sp>
        <p:nvSpPr>
          <p:cNvPr id="391" name="Text 7"/>
          <p:cNvSpPr txBox="1"/>
          <p:nvPr/>
        </p:nvSpPr>
        <p:spPr>
          <a:xfrm>
            <a:off x="685800" y="1085763"/>
            <a:ext cx="320041"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900">
                <a:solidFill>
                  <a:srgbClr val="FFFFFF"/>
                </a:solidFill>
              </a:defRPr>
            </a:lvl1pPr>
          </a:lstStyle>
          <a:p>
            <a:pPr/>
            <a:r>
              <a:t>#</a:t>
            </a:r>
          </a:p>
        </p:txBody>
      </p:sp>
      <p:sp>
        <p:nvSpPr>
          <p:cNvPr id="392" name="Text 9"/>
          <p:cNvSpPr txBox="1"/>
          <p:nvPr/>
        </p:nvSpPr>
        <p:spPr>
          <a:xfrm>
            <a:off x="1097280" y="1085763"/>
            <a:ext cx="2286001"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900">
                <a:solidFill>
                  <a:srgbClr val="FFFFFF"/>
                </a:solidFill>
              </a:defRPr>
            </a:lvl1pPr>
          </a:lstStyle>
          <a:p>
            <a:pPr/>
            <a:r>
              <a:t>Opportunity</a:t>
            </a:r>
          </a:p>
        </p:txBody>
      </p:sp>
      <p:sp>
        <p:nvSpPr>
          <p:cNvPr id="393" name="Text 11"/>
          <p:cNvSpPr txBox="1"/>
          <p:nvPr/>
        </p:nvSpPr>
        <p:spPr>
          <a:xfrm>
            <a:off x="3474719" y="1085763"/>
            <a:ext cx="100584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900">
                <a:solidFill>
                  <a:srgbClr val="FFFFFF"/>
                </a:solidFill>
              </a:defRPr>
            </a:lvl1pPr>
          </a:lstStyle>
          <a:p>
            <a:pPr/>
            <a:r>
              <a:t>API-First</a:t>
            </a:r>
          </a:p>
        </p:txBody>
      </p:sp>
      <p:sp>
        <p:nvSpPr>
          <p:cNvPr id="394" name="Text 13"/>
          <p:cNvSpPr txBox="1"/>
          <p:nvPr/>
        </p:nvSpPr>
        <p:spPr>
          <a:xfrm>
            <a:off x="4571999" y="1085763"/>
            <a:ext cx="1005841"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900">
                <a:solidFill>
                  <a:srgbClr val="FFFFFF"/>
                </a:solidFill>
              </a:defRPr>
            </a:lvl1pPr>
          </a:lstStyle>
          <a:p>
            <a:pPr/>
            <a:r>
              <a:t>Dev Adopt</a:t>
            </a:r>
          </a:p>
        </p:txBody>
      </p:sp>
      <p:sp>
        <p:nvSpPr>
          <p:cNvPr id="395" name="Text 15"/>
          <p:cNvSpPr txBox="1"/>
          <p:nvPr/>
        </p:nvSpPr>
        <p:spPr>
          <a:xfrm>
            <a:off x="5669279" y="1085763"/>
            <a:ext cx="1005841"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900">
                <a:solidFill>
                  <a:srgbClr val="FFFFFF"/>
                </a:solidFill>
              </a:defRPr>
            </a:lvl1pPr>
          </a:lstStyle>
          <a:p>
            <a:pPr/>
            <a:r>
              <a:t>Compliance</a:t>
            </a:r>
          </a:p>
        </p:txBody>
      </p:sp>
      <p:sp>
        <p:nvSpPr>
          <p:cNvPr id="396" name="Text 17"/>
          <p:cNvSpPr txBox="1"/>
          <p:nvPr/>
        </p:nvSpPr>
        <p:spPr>
          <a:xfrm>
            <a:off x="6766560" y="1085763"/>
            <a:ext cx="1005841"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900">
                <a:solidFill>
                  <a:srgbClr val="FFFFFF"/>
                </a:solidFill>
              </a:defRPr>
            </a:lvl1pPr>
          </a:lstStyle>
          <a:p>
            <a:pPr/>
            <a:r>
              <a:t>Global</a:t>
            </a:r>
          </a:p>
        </p:txBody>
      </p:sp>
      <p:sp>
        <p:nvSpPr>
          <p:cNvPr id="397" name="Text 19"/>
          <p:cNvSpPr txBox="1"/>
          <p:nvPr/>
        </p:nvSpPr>
        <p:spPr>
          <a:xfrm>
            <a:off x="640080" y="1513839"/>
            <a:ext cx="41148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900">
                <a:solidFill>
                  <a:srgbClr val="1A1F36"/>
                </a:solidFill>
              </a:defRPr>
            </a:lvl1pPr>
          </a:lstStyle>
          <a:p>
            <a:pPr/>
            <a:r>
              <a:t>1</a:t>
            </a:r>
          </a:p>
        </p:txBody>
      </p:sp>
      <p:sp>
        <p:nvSpPr>
          <p:cNvPr id="398" name="Text 21"/>
          <p:cNvSpPr txBox="1"/>
          <p:nvPr/>
        </p:nvSpPr>
        <p:spPr>
          <a:xfrm>
            <a:off x="1051560" y="1546904"/>
            <a:ext cx="237744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1A1F36"/>
                </a:solidFill>
              </a:defRPr>
            </a:lvl1pPr>
          </a:lstStyle>
          <a:p>
            <a:pPr/>
            <a:r>
              <a:t>Contractor Payment Compliance</a:t>
            </a:r>
          </a:p>
        </p:txBody>
      </p:sp>
      <p:sp>
        <p:nvSpPr>
          <p:cNvPr id="399" name="Text 23"/>
          <p:cNvSpPr txBox="1"/>
          <p:nvPr/>
        </p:nvSpPr>
        <p:spPr>
          <a:xfrm>
            <a:off x="3428999" y="1513839"/>
            <a:ext cx="109728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900">
                <a:solidFill>
                  <a:srgbClr val="10B981"/>
                </a:solidFill>
              </a:defRPr>
            </a:lvl1pPr>
          </a:lstStyle>
          <a:p>
            <a:pPr/>
            <a:r>
              <a:t>Very High</a:t>
            </a:r>
          </a:p>
        </p:txBody>
      </p:sp>
      <p:sp>
        <p:nvSpPr>
          <p:cNvPr id="400" name="Text 25"/>
          <p:cNvSpPr txBox="1"/>
          <p:nvPr/>
        </p:nvSpPr>
        <p:spPr>
          <a:xfrm>
            <a:off x="4526279" y="1513839"/>
            <a:ext cx="109728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900">
                <a:solidFill>
                  <a:srgbClr val="10B981"/>
                </a:solidFill>
              </a:defRPr>
            </a:lvl1pPr>
          </a:lstStyle>
          <a:p>
            <a:pPr/>
            <a:r>
              <a:t>Very High</a:t>
            </a:r>
          </a:p>
        </p:txBody>
      </p:sp>
      <p:sp>
        <p:nvSpPr>
          <p:cNvPr id="401" name="Text 27"/>
          <p:cNvSpPr txBox="1"/>
          <p:nvPr/>
        </p:nvSpPr>
        <p:spPr>
          <a:xfrm>
            <a:off x="5623559" y="1513839"/>
            <a:ext cx="109728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900">
                <a:solidFill>
                  <a:srgbClr val="10B981"/>
                </a:solidFill>
              </a:defRPr>
            </a:lvl1pPr>
          </a:lstStyle>
          <a:p>
            <a:pPr/>
            <a:r>
              <a:t>Very High</a:t>
            </a:r>
          </a:p>
        </p:txBody>
      </p:sp>
      <p:sp>
        <p:nvSpPr>
          <p:cNvPr id="402" name="Text 29"/>
          <p:cNvSpPr txBox="1"/>
          <p:nvPr/>
        </p:nvSpPr>
        <p:spPr>
          <a:xfrm>
            <a:off x="6720840" y="1513839"/>
            <a:ext cx="109728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900">
                <a:solidFill>
                  <a:srgbClr val="10B981"/>
                </a:solidFill>
              </a:defRPr>
            </a:lvl1pPr>
          </a:lstStyle>
          <a:p>
            <a:pPr/>
            <a:r>
              <a:t>Very High</a:t>
            </a:r>
          </a:p>
        </p:txBody>
      </p:sp>
      <p:sp>
        <p:nvSpPr>
          <p:cNvPr id="403" name="Text 31"/>
          <p:cNvSpPr txBox="1"/>
          <p:nvPr/>
        </p:nvSpPr>
        <p:spPr>
          <a:xfrm>
            <a:off x="640080" y="1925319"/>
            <a:ext cx="41148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900">
                <a:solidFill>
                  <a:srgbClr val="1A1F36"/>
                </a:solidFill>
              </a:defRPr>
            </a:lvl1pPr>
          </a:lstStyle>
          <a:p>
            <a:pPr/>
            <a:r>
              <a:t>2</a:t>
            </a:r>
          </a:p>
        </p:txBody>
      </p:sp>
      <p:sp>
        <p:nvSpPr>
          <p:cNvPr id="404" name="Text 33"/>
          <p:cNvSpPr txBox="1"/>
          <p:nvPr/>
        </p:nvSpPr>
        <p:spPr>
          <a:xfrm>
            <a:off x="1051560" y="1958384"/>
            <a:ext cx="237744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1A1F36"/>
                </a:solidFill>
              </a:defRPr>
            </a:lvl1pPr>
          </a:lstStyle>
          <a:p>
            <a:pPr/>
            <a:r>
              <a:t>Compliance Intelligence</a:t>
            </a:r>
          </a:p>
        </p:txBody>
      </p:sp>
      <p:sp>
        <p:nvSpPr>
          <p:cNvPr id="405" name="Text 35"/>
          <p:cNvSpPr txBox="1"/>
          <p:nvPr/>
        </p:nvSpPr>
        <p:spPr>
          <a:xfrm>
            <a:off x="3428999" y="1925319"/>
            <a:ext cx="109728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900">
                <a:solidFill>
                  <a:srgbClr val="10B981"/>
                </a:solidFill>
              </a:defRPr>
            </a:lvl1pPr>
          </a:lstStyle>
          <a:p>
            <a:pPr/>
            <a:r>
              <a:t>Very High</a:t>
            </a:r>
          </a:p>
        </p:txBody>
      </p:sp>
      <p:sp>
        <p:nvSpPr>
          <p:cNvPr id="406" name="Text 37"/>
          <p:cNvSpPr txBox="1"/>
          <p:nvPr/>
        </p:nvSpPr>
        <p:spPr>
          <a:xfrm>
            <a:off x="4526279" y="1925319"/>
            <a:ext cx="109728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0A9396"/>
                </a:solidFill>
              </a:defRPr>
            </a:lvl1pPr>
          </a:lstStyle>
          <a:p>
            <a:pPr/>
            <a:r>
              <a:t>High</a:t>
            </a:r>
          </a:p>
        </p:txBody>
      </p:sp>
      <p:sp>
        <p:nvSpPr>
          <p:cNvPr id="407" name="Text 39"/>
          <p:cNvSpPr txBox="1"/>
          <p:nvPr/>
        </p:nvSpPr>
        <p:spPr>
          <a:xfrm>
            <a:off x="5623559" y="1925319"/>
            <a:ext cx="109728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900">
                <a:solidFill>
                  <a:srgbClr val="10B981"/>
                </a:solidFill>
              </a:defRPr>
            </a:lvl1pPr>
          </a:lstStyle>
          <a:p>
            <a:pPr/>
            <a:r>
              <a:t>Very High</a:t>
            </a:r>
          </a:p>
        </p:txBody>
      </p:sp>
      <p:sp>
        <p:nvSpPr>
          <p:cNvPr id="408" name="Text 41"/>
          <p:cNvSpPr txBox="1"/>
          <p:nvPr/>
        </p:nvSpPr>
        <p:spPr>
          <a:xfrm>
            <a:off x="6720840" y="1925319"/>
            <a:ext cx="109728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900">
                <a:solidFill>
                  <a:srgbClr val="10B981"/>
                </a:solidFill>
              </a:defRPr>
            </a:lvl1pPr>
          </a:lstStyle>
          <a:p>
            <a:pPr/>
            <a:r>
              <a:t>Very High</a:t>
            </a:r>
          </a:p>
        </p:txBody>
      </p:sp>
      <p:sp>
        <p:nvSpPr>
          <p:cNvPr id="409" name="Text 43"/>
          <p:cNvSpPr txBox="1"/>
          <p:nvPr/>
        </p:nvSpPr>
        <p:spPr>
          <a:xfrm>
            <a:off x="640080" y="2336800"/>
            <a:ext cx="41148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900">
                <a:solidFill>
                  <a:srgbClr val="1A1F36"/>
                </a:solidFill>
              </a:defRPr>
            </a:lvl1pPr>
          </a:lstStyle>
          <a:p>
            <a:pPr/>
            <a:r>
              <a:t>3</a:t>
            </a:r>
          </a:p>
        </p:txBody>
      </p:sp>
      <p:sp>
        <p:nvSpPr>
          <p:cNvPr id="410" name="Text 45"/>
          <p:cNvSpPr txBox="1"/>
          <p:nvPr/>
        </p:nvSpPr>
        <p:spPr>
          <a:xfrm>
            <a:off x="1051560" y="2369864"/>
            <a:ext cx="237744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1A1F36"/>
                </a:solidFill>
              </a:defRPr>
            </a:lvl1pPr>
          </a:lstStyle>
          <a:p>
            <a:pPr/>
            <a:r>
              <a:t>Programmable Escrow</a:t>
            </a:r>
          </a:p>
        </p:txBody>
      </p:sp>
      <p:sp>
        <p:nvSpPr>
          <p:cNvPr id="411" name="Text 47"/>
          <p:cNvSpPr txBox="1"/>
          <p:nvPr/>
        </p:nvSpPr>
        <p:spPr>
          <a:xfrm>
            <a:off x="3428999" y="2336800"/>
            <a:ext cx="109728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900">
                <a:solidFill>
                  <a:srgbClr val="10B981"/>
                </a:solidFill>
              </a:defRPr>
            </a:lvl1pPr>
          </a:lstStyle>
          <a:p>
            <a:pPr/>
            <a:r>
              <a:t>Very High</a:t>
            </a:r>
          </a:p>
        </p:txBody>
      </p:sp>
      <p:sp>
        <p:nvSpPr>
          <p:cNvPr id="412" name="Text 49"/>
          <p:cNvSpPr txBox="1"/>
          <p:nvPr/>
        </p:nvSpPr>
        <p:spPr>
          <a:xfrm>
            <a:off x="4526279" y="2336800"/>
            <a:ext cx="109728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900">
                <a:solidFill>
                  <a:srgbClr val="10B981"/>
                </a:solidFill>
              </a:defRPr>
            </a:lvl1pPr>
          </a:lstStyle>
          <a:p>
            <a:pPr/>
            <a:r>
              <a:t>Very High</a:t>
            </a:r>
          </a:p>
        </p:txBody>
      </p:sp>
      <p:sp>
        <p:nvSpPr>
          <p:cNvPr id="413" name="Text 51"/>
          <p:cNvSpPr txBox="1"/>
          <p:nvPr/>
        </p:nvSpPr>
        <p:spPr>
          <a:xfrm>
            <a:off x="5623559" y="2336800"/>
            <a:ext cx="109728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0A9396"/>
                </a:solidFill>
              </a:defRPr>
            </a:lvl1pPr>
          </a:lstStyle>
          <a:p>
            <a:pPr/>
            <a:r>
              <a:t>High</a:t>
            </a:r>
          </a:p>
        </p:txBody>
      </p:sp>
      <p:sp>
        <p:nvSpPr>
          <p:cNvPr id="414" name="Text 53"/>
          <p:cNvSpPr txBox="1"/>
          <p:nvPr/>
        </p:nvSpPr>
        <p:spPr>
          <a:xfrm>
            <a:off x="6720840" y="2336800"/>
            <a:ext cx="109728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0A9396"/>
                </a:solidFill>
              </a:defRPr>
            </a:lvl1pPr>
          </a:lstStyle>
          <a:p>
            <a:pPr/>
            <a:r>
              <a:t>High</a:t>
            </a:r>
          </a:p>
        </p:txBody>
      </p:sp>
      <p:sp>
        <p:nvSpPr>
          <p:cNvPr id="415" name="Text 55"/>
          <p:cNvSpPr txBox="1"/>
          <p:nvPr/>
        </p:nvSpPr>
        <p:spPr>
          <a:xfrm>
            <a:off x="640080" y="2748279"/>
            <a:ext cx="41148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900">
                <a:solidFill>
                  <a:srgbClr val="1A1F36"/>
                </a:solidFill>
              </a:defRPr>
            </a:lvl1pPr>
          </a:lstStyle>
          <a:p>
            <a:pPr/>
            <a:r>
              <a:t>4</a:t>
            </a:r>
          </a:p>
        </p:txBody>
      </p:sp>
      <p:sp>
        <p:nvSpPr>
          <p:cNvPr id="416" name="Text 57"/>
          <p:cNvSpPr txBox="1"/>
          <p:nvPr/>
        </p:nvSpPr>
        <p:spPr>
          <a:xfrm>
            <a:off x="1051560" y="2781344"/>
            <a:ext cx="237744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1A1F36"/>
                </a:solidFill>
              </a:defRPr>
            </a:lvl1pPr>
          </a:lstStyle>
          <a:p>
            <a:pPr/>
            <a:r>
              <a:t>Litigation Settlement</a:t>
            </a:r>
          </a:p>
        </p:txBody>
      </p:sp>
      <p:sp>
        <p:nvSpPr>
          <p:cNvPr id="417" name="Text 59"/>
          <p:cNvSpPr txBox="1"/>
          <p:nvPr/>
        </p:nvSpPr>
        <p:spPr>
          <a:xfrm>
            <a:off x="3428999" y="2748279"/>
            <a:ext cx="109728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0A9396"/>
                </a:solidFill>
              </a:defRPr>
            </a:lvl1pPr>
          </a:lstStyle>
          <a:p>
            <a:pPr/>
            <a:r>
              <a:t>High</a:t>
            </a:r>
          </a:p>
        </p:txBody>
      </p:sp>
      <p:sp>
        <p:nvSpPr>
          <p:cNvPr id="418" name="Text 61"/>
          <p:cNvSpPr txBox="1"/>
          <p:nvPr/>
        </p:nvSpPr>
        <p:spPr>
          <a:xfrm>
            <a:off x="4526279" y="2748279"/>
            <a:ext cx="109728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59E0B"/>
                </a:solidFill>
              </a:defRPr>
            </a:lvl1pPr>
          </a:lstStyle>
          <a:p>
            <a:pPr/>
            <a:r>
              <a:t>Moderate</a:t>
            </a:r>
          </a:p>
        </p:txBody>
      </p:sp>
      <p:sp>
        <p:nvSpPr>
          <p:cNvPr id="419" name="Text 63"/>
          <p:cNvSpPr txBox="1"/>
          <p:nvPr/>
        </p:nvSpPr>
        <p:spPr>
          <a:xfrm>
            <a:off x="5623559" y="2748279"/>
            <a:ext cx="109728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900">
                <a:solidFill>
                  <a:srgbClr val="10B981"/>
                </a:solidFill>
              </a:defRPr>
            </a:lvl1pPr>
          </a:lstStyle>
          <a:p>
            <a:pPr/>
            <a:r>
              <a:t>Very High</a:t>
            </a:r>
          </a:p>
        </p:txBody>
      </p:sp>
      <p:sp>
        <p:nvSpPr>
          <p:cNvPr id="420" name="Text 65"/>
          <p:cNvSpPr txBox="1"/>
          <p:nvPr/>
        </p:nvSpPr>
        <p:spPr>
          <a:xfrm>
            <a:off x="6720840" y="2748279"/>
            <a:ext cx="109728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59E0B"/>
                </a:solidFill>
              </a:defRPr>
            </a:lvl1pPr>
          </a:lstStyle>
          <a:p>
            <a:pPr/>
            <a:r>
              <a:t>Medium</a:t>
            </a:r>
          </a:p>
        </p:txBody>
      </p:sp>
      <p:sp>
        <p:nvSpPr>
          <p:cNvPr id="421" name="Text 67"/>
          <p:cNvSpPr txBox="1"/>
          <p:nvPr/>
        </p:nvSpPr>
        <p:spPr>
          <a:xfrm>
            <a:off x="640080" y="3159760"/>
            <a:ext cx="41148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900">
                <a:solidFill>
                  <a:srgbClr val="1A1F36"/>
                </a:solidFill>
              </a:defRPr>
            </a:lvl1pPr>
          </a:lstStyle>
          <a:p>
            <a:pPr/>
            <a:r>
              <a:t>5</a:t>
            </a:r>
          </a:p>
        </p:txBody>
      </p:sp>
      <p:sp>
        <p:nvSpPr>
          <p:cNvPr id="422" name="Text 69"/>
          <p:cNvSpPr txBox="1"/>
          <p:nvPr/>
        </p:nvSpPr>
        <p:spPr>
          <a:xfrm>
            <a:off x="1051560" y="3192824"/>
            <a:ext cx="237744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1A1F36"/>
                </a:solidFill>
              </a:defRPr>
            </a:lvl1pPr>
          </a:lstStyle>
          <a:p>
            <a:pPr/>
            <a:r>
              <a:t>Research Procurement</a:t>
            </a:r>
          </a:p>
        </p:txBody>
      </p:sp>
      <p:sp>
        <p:nvSpPr>
          <p:cNvPr id="423" name="Text 71"/>
          <p:cNvSpPr txBox="1"/>
          <p:nvPr/>
        </p:nvSpPr>
        <p:spPr>
          <a:xfrm>
            <a:off x="3428999" y="3159760"/>
            <a:ext cx="109728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0A9396"/>
                </a:solidFill>
              </a:defRPr>
            </a:lvl1pPr>
          </a:lstStyle>
          <a:p>
            <a:pPr/>
            <a:r>
              <a:t>High</a:t>
            </a:r>
          </a:p>
        </p:txBody>
      </p:sp>
      <p:sp>
        <p:nvSpPr>
          <p:cNvPr id="424" name="Text 73"/>
          <p:cNvSpPr txBox="1"/>
          <p:nvPr/>
        </p:nvSpPr>
        <p:spPr>
          <a:xfrm>
            <a:off x="4526279" y="3159760"/>
            <a:ext cx="109728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0A9396"/>
                </a:solidFill>
              </a:defRPr>
            </a:lvl1pPr>
          </a:lstStyle>
          <a:p>
            <a:pPr/>
            <a:r>
              <a:t>High</a:t>
            </a:r>
          </a:p>
        </p:txBody>
      </p:sp>
      <p:sp>
        <p:nvSpPr>
          <p:cNvPr id="425" name="Text 75"/>
          <p:cNvSpPr txBox="1"/>
          <p:nvPr/>
        </p:nvSpPr>
        <p:spPr>
          <a:xfrm>
            <a:off x="5623559" y="3159760"/>
            <a:ext cx="109728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59E0B"/>
                </a:solidFill>
              </a:defRPr>
            </a:lvl1pPr>
          </a:lstStyle>
          <a:p>
            <a:pPr/>
            <a:r>
              <a:t>Medium</a:t>
            </a:r>
          </a:p>
        </p:txBody>
      </p:sp>
      <p:sp>
        <p:nvSpPr>
          <p:cNvPr id="426" name="Text 77"/>
          <p:cNvSpPr txBox="1"/>
          <p:nvPr/>
        </p:nvSpPr>
        <p:spPr>
          <a:xfrm>
            <a:off x="6720840" y="3159760"/>
            <a:ext cx="109728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59E0B"/>
                </a:solidFill>
              </a:defRPr>
            </a:lvl1pPr>
          </a:lstStyle>
          <a:p>
            <a:pPr/>
            <a:r>
              <a:t>Med-High</a:t>
            </a:r>
          </a:p>
        </p:txBody>
      </p:sp>
      <p:sp>
        <p:nvSpPr>
          <p:cNvPr id="427" name="Text 79"/>
          <p:cNvSpPr txBox="1"/>
          <p:nvPr/>
        </p:nvSpPr>
        <p:spPr>
          <a:xfrm>
            <a:off x="640080" y="3571239"/>
            <a:ext cx="41148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900">
                <a:solidFill>
                  <a:srgbClr val="1A1F36"/>
                </a:solidFill>
              </a:defRPr>
            </a:lvl1pPr>
          </a:lstStyle>
          <a:p>
            <a:pPr/>
            <a:r>
              <a:t>6</a:t>
            </a:r>
          </a:p>
        </p:txBody>
      </p:sp>
      <p:sp>
        <p:nvSpPr>
          <p:cNvPr id="428" name="Text 81"/>
          <p:cNvSpPr txBox="1"/>
          <p:nvPr/>
        </p:nvSpPr>
        <p:spPr>
          <a:xfrm>
            <a:off x="1051560" y="3604304"/>
            <a:ext cx="237744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1A1F36"/>
                </a:solidFill>
              </a:defRPr>
            </a:lvl1pPr>
          </a:lstStyle>
          <a:p>
            <a:pPr/>
            <a:r>
              <a:t>Treasurer API</a:t>
            </a:r>
          </a:p>
        </p:txBody>
      </p:sp>
      <p:sp>
        <p:nvSpPr>
          <p:cNvPr id="429" name="Text 83"/>
          <p:cNvSpPr txBox="1"/>
          <p:nvPr/>
        </p:nvSpPr>
        <p:spPr>
          <a:xfrm>
            <a:off x="3428999" y="3571239"/>
            <a:ext cx="109728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59E0B"/>
                </a:solidFill>
              </a:defRPr>
            </a:lvl1pPr>
          </a:lstStyle>
          <a:p>
            <a:pPr/>
            <a:r>
              <a:t>Medium</a:t>
            </a:r>
          </a:p>
        </p:txBody>
      </p:sp>
      <p:sp>
        <p:nvSpPr>
          <p:cNvPr id="430" name="Text 85"/>
          <p:cNvSpPr txBox="1"/>
          <p:nvPr/>
        </p:nvSpPr>
        <p:spPr>
          <a:xfrm>
            <a:off x="4526279" y="3571239"/>
            <a:ext cx="109728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59E0B"/>
                </a:solidFill>
              </a:defRPr>
            </a:lvl1pPr>
          </a:lstStyle>
          <a:p>
            <a:pPr/>
            <a:r>
              <a:t>Mod-High</a:t>
            </a:r>
          </a:p>
        </p:txBody>
      </p:sp>
      <p:sp>
        <p:nvSpPr>
          <p:cNvPr id="431" name="Text 87"/>
          <p:cNvSpPr txBox="1"/>
          <p:nvPr/>
        </p:nvSpPr>
        <p:spPr>
          <a:xfrm>
            <a:off x="5623559" y="3571239"/>
            <a:ext cx="109728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59E0B"/>
                </a:solidFill>
              </a:defRPr>
            </a:lvl1pPr>
          </a:lstStyle>
          <a:p>
            <a:pPr/>
            <a:r>
              <a:t>Medium</a:t>
            </a:r>
          </a:p>
        </p:txBody>
      </p:sp>
      <p:sp>
        <p:nvSpPr>
          <p:cNvPr id="432" name="Text 89"/>
          <p:cNvSpPr txBox="1"/>
          <p:nvPr/>
        </p:nvSpPr>
        <p:spPr>
          <a:xfrm>
            <a:off x="6720840" y="3571239"/>
            <a:ext cx="109728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8898AA"/>
                </a:solidFill>
              </a:defRPr>
            </a:lvl1pPr>
          </a:lstStyle>
          <a:p>
            <a:pPr/>
            <a:r>
              <a:t>Low-Med</a:t>
            </a:r>
          </a:p>
        </p:txBody>
      </p:sp>
      <p:sp>
        <p:nvSpPr>
          <p:cNvPr id="433" name="Text 91"/>
          <p:cNvSpPr txBox="1"/>
          <p:nvPr/>
        </p:nvSpPr>
        <p:spPr>
          <a:xfrm>
            <a:off x="960119" y="4100874"/>
            <a:ext cx="7223762" cy="3936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b="1" sz="1000">
                <a:solidFill>
                  <a:srgbClr val="635BFF"/>
                </a:solidFill>
              </a:defRPr>
            </a:pPr>
            <a:r>
              <a:t>Top 2: </a:t>
            </a:r>
            <a:r>
              <a:rPr b="0">
                <a:solidFill>
                  <a:srgbClr val="FFFFFF"/>
                </a:solidFill>
              </a:rPr>
              <a:t>Contractor Payment Compliance (strongest on all 4 dimensions) and Compliance Intelligence (purest data moat, upsell to existing base). Programmable Escrow is the most “Stripe-like” — a horizontal primitive, not a vertical product.</a:t>
            </a:r>
          </a:p>
        </p:txBody>
      </p:sp>
    </p:spTree>
  </p:cSld>
  <p:clrMapOvr>
    <a:masterClrMapping/>
  </p:clrMapOvr>
  <p:transition xmlns:p14="http://schemas.microsoft.com/office/powerpoint/2010/main" spd="med" advClick="1"/>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A1F36"/>
        </a:solidFill>
      </p:bgPr>
    </p:bg>
    <p:spTree>
      <p:nvGrpSpPr>
        <p:cNvPr id="1" name=""/>
        <p:cNvGrpSpPr/>
        <p:nvPr/>
      </p:nvGrpSpPr>
      <p:grpSpPr>
        <a:xfrm>
          <a:off x="0" y="0"/>
          <a:ext cx="0" cy="0"/>
          <a:chOff x="0" y="0"/>
          <a:chExt cx="0" cy="0"/>
        </a:xfrm>
      </p:grpSpPr>
      <p:sp>
        <p:nvSpPr>
          <p:cNvPr id="435" name="Text 0"/>
          <p:cNvSpPr txBox="1"/>
          <p:nvPr/>
        </p:nvSpPr>
        <p:spPr>
          <a:xfrm>
            <a:off x="640079" y="403859"/>
            <a:ext cx="7863842"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600">
                <a:solidFill>
                  <a:srgbClr val="FFFFFF"/>
                </a:solidFill>
                <a:latin typeface="Georgia"/>
                <a:ea typeface="Georgia"/>
                <a:cs typeface="Georgia"/>
                <a:sym typeface="Georgia"/>
              </a:defRPr>
            </a:lvl1pPr>
          </a:lstStyle>
          <a:p>
            <a:pPr/>
            <a:r>
              <a:t>How This Was Built</a:t>
            </a:r>
          </a:p>
        </p:txBody>
      </p:sp>
      <p:sp>
        <p:nvSpPr>
          <p:cNvPr id="436" name="Text 1"/>
          <p:cNvSpPr txBox="1"/>
          <p:nvPr/>
        </p:nvSpPr>
        <p:spPr>
          <a:xfrm>
            <a:off x="640079" y="876739"/>
            <a:ext cx="7863842"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8898AA"/>
                </a:solidFill>
              </a:defRPr>
            </a:lvl1pPr>
          </a:lstStyle>
          <a:p>
            <a:pPr/>
            <a:r>
              <a:t>A Claude Cowork Mode case study</a:t>
            </a:r>
          </a:p>
        </p:txBody>
      </p:sp>
      <p:sp>
        <p:nvSpPr>
          <p:cNvPr id="437" name="Text 3"/>
          <p:cNvSpPr txBox="1"/>
          <p:nvPr/>
        </p:nvSpPr>
        <p:spPr>
          <a:xfrm>
            <a:off x="822960" y="1523922"/>
            <a:ext cx="201168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635BFF"/>
                </a:solidFill>
              </a:defRPr>
            </a:lvl1pPr>
          </a:lstStyle>
          <a:p>
            <a:pPr/>
            <a:r>
              <a:t>PDF Read</a:t>
            </a:r>
          </a:p>
        </p:txBody>
      </p:sp>
      <p:sp>
        <p:nvSpPr>
          <p:cNvPr id="438" name="Text 4"/>
          <p:cNvSpPr txBox="1"/>
          <p:nvPr/>
        </p:nvSpPr>
        <p:spPr>
          <a:xfrm>
            <a:off x="2926079" y="1523922"/>
            <a:ext cx="5394962"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E3E8EE"/>
                </a:solidFill>
              </a:defRPr>
            </a:lvl1pPr>
          </a:lstStyle>
          <a:p>
            <a:pPr/>
            <a:r>
              <a:t>Ingested the Stripe writing assignment prompt</a:t>
            </a:r>
          </a:p>
        </p:txBody>
      </p:sp>
      <p:sp>
        <p:nvSpPr>
          <p:cNvPr id="439" name="Text 6"/>
          <p:cNvSpPr txBox="1"/>
          <p:nvPr/>
        </p:nvSpPr>
        <p:spPr>
          <a:xfrm>
            <a:off x="822960" y="2072562"/>
            <a:ext cx="201168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635BFF"/>
                </a:solidFill>
              </a:defRPr>
            </a:lvl1pPr>
          </a:lstStyle>
          <a:p>
            <a:pPr/>
            <a:r>
              <a:t>Parallel Web Agents</a:t>
            </a:r>
          </a:p>
        </p:txBody>
      </p:sp>
      <p:sp>
        <p:nvSpPr>
          <p:cNvPr id="440" name="Text 7"/>
          <p:cNvSpPr txBox="1"/>
          <p:nvPr/>
        </p:nvSpPr>
        <p:spPr>
          <a:xfrm>
            <a:off x="2926079" y="2072562"/>
            <a:ext cx="5394962"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E3E8EE"/>
                </a:solidFill>
              </a:defRPr>
            </a:lvl1pPr>
          </a:lstStyle>
          <a:p>
            <a:pPr/>
            <a:r>
              <a:t>3 research agents ran simultaneously across 40+ sources</a:t>
            </a:r>
          </a:p>
        </p:txBody>
      </p:sp>
      <p:sp>
        <p:nvSpPr>
          <p:cNvPr id="441" name="Text 9"/>
          <p:cNvSpPr txBox="1"/>
          <p:nvPr/>
        </p:nvSpPr>
        <p:spPr>
          <a:xfrm>
            <a:off x="822960" y="2621202"/>
            <a:ext cx="201168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635BFF"/>
                </a:solidFill>
              </a:defRPr>
            </a:lvl1pPr>
          </a:lstStyle>
          <a:p>
            <a:pPr/>
            <a:r>
              <a:t>Chrome Automation</a:t>
            </a:r>
          </a:p>
        </p:txBody>
      </p:sp>
      <p:sp>
        <p:nvSpPr>
          <p:cNvPr id="442" name="Text 10"/>
          <p:cNvSpPr txBox="1"/>
          <p:nvPr/>
        </p:nvSpPr>
        <p:spPr>
          <a:xfrm>
            <a:off x="2926079" y="2621202"/>
            <a:ext cx="5394962"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E3E8EE"/>
                </a:solidFill>
              </a:defRPr>
            </a:lvl1pPr>
          </a:lstStyle>
          <a:p>
            <a:pPr/>
            <a:r>
              <a:t>Extracted transcripts from Dwarkesh, Sessions 2025, Retool Summit</a:t>
            </a:r>
          </a:p>
        </p:txBody>
      </p:sp>
      <p:sp>
        <p:nvSpPr>
          <p:cNvPr id="443" name="Text 12"/>
          <p:cNvSpPr txBox="1"/>
          <p:nvPr/>
        </p:nvSpPr>
        <p:spPr>
          <a:xfrm>
            <a:off x="822960" y="3169842"/>
            <a:ext cx="201168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635BFF"/>
                </a:solidFill>
              </a:defRPr>
            </a:lvl1pPr>
          </a:lstStyle>
          <a:p>
            <a:pPr/>
            <a:r>
              <a:t>MCP Brain Tools</a:t>
            </a:r>
          </a:p>
        </p:txBody>
      </p:sp>
      <p:sp>
        <p:nvSpPr>
          <p:cNvPr id="444" name="Text 13"/>
          <p:cNvSpPr txBox="1"/>
          <p:nvPr/>
        </p:nvSpPr>
        <p:spPr>
          <a:xfrm>
            <a:off x="2926079" y="3169842"/>
            <a:ext cx="5394962"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E3E8EE"/>
                </a:solidFill>
              </a:defRPr>
            </a:lvl1pPr>
          </a:lstStyle>
          <a:p>
            <a:pPr/>
            <a:r>
              <a:t>Saved persistent research notes via Git Brain</a:t>
            </a:r>
          </a:p>
        </p:txBody>
      </p:sp>
      <p:sp>
        <p:nvSpPr>
          <p:cNvPr id="445" name="Text 15"/>
          <p:cNvSpPr txBox="1"/>
          <p:nvPr/>
        </p:nvSpPr>
        <p:spPr>
          <a:xfrm>
            <a:off x="822960" y="3718481"/>
            <a:ext cx="2011680"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635BFF"/>
                </a:solidFill>
              </a:defRPr>
            </a:lvl1pPr>
          </a:lstStyle>
          <a:p>
            <a:pPr/>
            <a:r>
              <a:t>Synthesis &amp; Scoring</a:t>
            </a:r>
          </a:p>
        </p:txBody>
      </p:sp>
      <p:sp>
        <p:nvSpPr>
          <p:cNvPr id="446" name="Text 16"/>
          <p:cNvSpPr txBox="1"/>
          <p:nvPr/>
        </p:nvSpPr>
        <p:spPr>
          <a:xfrm>
            <a:off x="2926079" y="3718481"/>
            <a:ext cx="5394962"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E3E8EE"/>
                </a:solidFill>
              </a:defRPr>
            </a:lvl1pPr>
          </a:lstStyle>
          <a:p>
            <a:pPr/>
            <a:r>
              <a:t>Cross-referenced all research into consensus matrix</a:t>
            </a:r>
          </a:p>
        </p:txBody>
      </p:sp>
      <p:sp>
        <p:nvSpPr>
          <p:cNvPr id="447" name="Text 18"/>
          <p:cNvSpPr txBox="1"/>
          <p:nvPr/>
        </p:nvSpPr>
        <p:spPr>
          <a:xfrm>
            <a:off x="822960" y="4267122"/>
            <a:ext cx="201168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635BFF"/>
                </a:solidFill>
              </a:defRPr>
            </a:lvl1pPr>
          </a:lstStyle>
          <a:p>
            <a:pPr/>
            <a:r>
              <a:t>Iterative Prompting</a:t>
            </a:r>
          </a:p>
        </p:txBody>
      </p:sp>
      <p:sp>
        <p:nvSpPr>
          <p:cNvPr id="448" name="Text 19"/>
          <p:cNvSpPr txBox="1"/>
          <p:nvPr/>
        </p:nvSpPr>
        <p:spPr>
          <a:xfrm>
            <a:off x="2926079" y="4267122"/>
            <a:ext cx="5394962"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E3E8EE"/>
                </a:solidFill>
              </a:defRPr>
            </a:lvl1pPr>
          </a:lstStyle>
          <a:p>
            <a:pPr/>
            <a:r>
              <a:t>6 conversational turns from research → scoring → this deck</a:t>
            </a:r>
          </a:p>
        </p:txBody>
      </p:sp>
      <p:sp>
        <p:nvSpPr>
          <p:cNvPr id="449" name="Text 20"/>
          <p:cNvSpPr txBox="1"/>
          <p:nvPr/>
        </p:nvSpPr>
        <p:spPr>
          <a:xfrm>
            <a:off x="685799" y="4310687"/>
            <a:ext cx="7772402"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1200">
                <a:solidFill>
                  <a:srgbClr val="0A9396"/>
                </a:solidFill>
              </a:defRPr>
            </a:lvl1pPr>
          </a:lstStyle>
          <a:p>
            <a:pPr/>
            <a:r>
              <a:t>Total elapsed time: ~20 minutes from first prompt to final deliverable.</a:t>
            </a:r>
          </a:p>
        </p:txBody>
      </p:sp>
      <p:sp>
        <p:nvSpPr>
          <p:cNvPr id="450" name="Text 21"/>
          <p:cNvSpPr txBox="1"/>
          <p:nvPr/>
        </p:nvSpPr>
        <p:spPr>
          <a:xfrm>
            <a:off x="7818119" y="4789083"/>
            <a:ext cx="100584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8898AA"/>
                </a:solidFill>
              </a:defRPr>
            </a:lvl1pPr>
          </a:lstStyle>
          <a:p>
            <a:pPr/>
            <a:r>
              <a:t>28 / 34</a:t>
            </a:r>
          </a:p>
        </p:txBody>
      </p:sp>
    </p:spTree>
  </p:cSld>
  <p:clrMapOvr>
    <a:masterClrMapping/>
  </p:clrMapOvr>
  <p:transition xmlns:p14="http://schemas.microsoft.com/office/powerpoint/2010/main" spd="med" advClick="1"/>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A1F36"/>
        </a:solidFill>
      </p:bgPr>
    </p:bg>
    <p:spTree>
      <p:nvGrpSpPr>
        <p:cNvPr id="1" name=""/>
        <p:cNvGrpSpPr/>
        <p:nvPr/>
      </p:nvGrpSpPr>
      <p:grpSpPr>
        <a:xfrm>
          <a:off x="0" y="0"/>
          <a:ext cx="0" cy="0"/>
          <a:chOff x="0" y="0"/>
          <a:chExt cx="0" cy="0"/>
        </a:xfrm>
      </p:grpSpPr>
      <p:sp>
        <p:nvSpPr>
          <p:cNvPr id="452" name="Text 0"/>
          <p:cNvSpPr txBox="1"/>
          <p:nvPr/>
        </p:nvSpPr>
        <p:spPr>
          <a:xfrm>
            <a:off x="640079" y="1551240"/>
            <a:ext cx="7863842"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800" sz="1400">
                <a:solidFill>
                  <a:srgbClr val="635BFF"/>
                </a:solidFill>
              </a:defRPr>
            </a:lvl1pPr>
          </a:lstStyle>
          <a:p>
            <a:pPr/>
            <a:r>
              <a:t>APPENDIX</a:t>
            </a:r>
          </a:p>
        </p:txBody>
      </p:sp>
      <p:sp>
        <p:nvSpPr>
          <p:cNvPr id="453" name="Text 1"/>
          <p:cNvSpPr txBox="1"/>
          <p:nvPr/>
        </p:nvSpPr>
        <p:spPr>
          <a:xfrm>
            <a:off x="640079" y="2057399"/>
            <a:ext cx="7863842"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200">
                <a:solidFill>
                  <a:srgbClr val="FFFFFF"/>
                </a:solidFill>
                <a:latin typeface="Georgia"/>
                <a:ea typeface="Georgia"/>
                <a:cs typeface="Georgia"/>
                <a:sym typeface="Georgia"/>
              </a:defRPr>
            </a:lvl1pPr>
          </a:lstStyle>
          <a:p>
            <a:pPr/>
            <a:r>
              <a:t>Research Assets &amp; Sources</a:t>
            </a:r>
          </a:p>
        </p:txBody>
      </p:sp>
      <p:sp>
        <p:nvSpPr>
          <p:cNvPr id="454" name="Text 2"/>
          <p:cNvSpPr txBox="1"/>
          <p:nvPr/>
        </p:nvSpPr>
        <p:spPr>
          <a:xfrm>
            <a:off x="640079" y="2831400"/>
            <a:ext cx="7863842"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8898AA"/>
                </a:solidFill>
              </a:defRPr>
            </a:lvl1pPr>
          </a:lstStyle>
          <a:p>
            <a:pPr/>
            <a:r>
              <a:t>Full reference documents saved to your workspace folder</a:t>
            </a:r>
          </a:p>
        </p:txBody>
      </p:sp>
      <p:sp>
        <p:nvSpPr>
          <p:cNvPr id="455" name="Text 3"/>
          <p:cNvSpPr txBox="1"/>
          <p:nvPr/>
        </p:nvSpPr>
        <p:spPr>
          <a:xfrm>
            <a:off x="7818119" y="4789083"/>
            <a:ext cx="100584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8898AA"/>
                </a:solidFill>
              </a:defRPr>
            </a:lvl1pPr>
          </a:lstStyle>
          <a:p>
            <a:pPr/>
            <a:r>
              <a:t>29 / 34</a:t>
            </a:r>
          </a:p>
        </p:txBody>
      </p:sp>
    </p:spTree>
  </p:cSld>
  <p:clrMapOvr>
    <a:masterClrMapping/>
  </p:clrMapOvr>
  <p:transition xmlns:p14="http://schemas.microsoft.com/office/powerpoint/2010/main" spd="med" advClick="1"/>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6F9FC"/>
        </a:solidFill>
      </p:bgPr>
    </p:bg>
    <p:spTree>
      <p:nvGrpSpPr>
        <p:cNvPr id="1" name=""/>
        <p:cNvGrpSpPr/>
        <p:nvPr/>
      </p:nvGrpSpPr>
      <p:grpSpPr>
        <a:xfrm>
          <a:off x="0" y="0"/>
          <a:ext cx="0" cy="0"/>
          <a:chOff x="0" y="0"/>
          <a:chExt cx="0" cy="0"/>
        </a:xfrm>
      </p:grpSpPr>
      <p:sp>
        <p:nvSpPr>
          <p:cNvPr id="457" name="Text 1"/>
          <p:cNvSpPr txBox="1"/>
          <p:nvPr/>
        </p:nvSpPr>
        <p:spPr>
          <a:xfrm>
            <a:off x="640079" y="298450"/>
            <a:ext cx="7863842"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200">
                <a:solidFill>
                  <a:srgbClr val="1A1F36"/>
                </a:solidFill>
                <a:latin typeface="Georgia"/>
                <a:ea typeface="Georgia"/>
                <a:cs typeface="Georgia"/>
                <a:sym typeface="Georgia"/>
              </a:defRPr>
            </a:lvl1pPr>
          </a:lstStyle>
          <a:p>
            <a:pPr/>
            <a:r>
              <a:t>Appendix A: Primary Sources Consulted</a:t>
            </a:r>
          </a:p>
        </p:txBody>
      </p:sp>
      <p:sp>
        <p:nvSpPr>
          <p:cNvPr id="458" name="Text 4"/>
          <p:cNvSpPr txBox="1"/>
          <p:nvPr/>
        </p:nvSpPr>
        <p:spPr>
          <a:xfrm>
            <a:off x="502919" y="4919761"/>
            <a:ext cx="8138162" cy="19601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800">
                <a:solidFill>
                  <a:srgbClr val="8898AA"/>
                </a:solidFill>
              </a:defRPr>
            </a:lvl1pPr>
          </a:lstStyle>
          <a:p>
            <a:pPr/>
            <a:r>
              <a:t>Stripe GTM Research  |  Cowork Mode Demo  |  February 2026</a:t>
            </a:r>
          </a:p>
        </p:txBody>
      </p:sp>
      <p:sp>
        <p:nvSpPr>
          <p:cNvPr id="459" name="Text 5"/>
          <p:cNvSpPr txBox="1"/>
          <p:nvPr/>
        </p:nvSpPr>
        <p:spPr>
          <a:xfrm>
            <a:off x="7818119" y="4789083"/>
            <a:ext cx="100584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8898AA"/>
                </a:solidFill>
              </a:defRPr>
            </a:lvl1pPr>
          </a:lstStyle>
          <a:p>
            <a:pPr/>
            <a:r>
              <a:t>30 / 34</a:t>
            </a:r>
          </a:p>
        </p:txBody>
      </p:sp>
      <p:sp>
        <p:nvSpPr>
          <p:cNvPr id="460" name="Text 7"/>
          <p:cNvSpPr txBox="1"/>
          <p:nvPr/>
        </p:nvSpPr>
        <p:spPr>
          <a:xfrm>
            <a:off x="822960" y="1295322"/>
            <a:ext cx="18288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1A1F36"/>
                </a:solidFill>
              </a:defRPr>
            </a:lvl1pPr>
          </a:lstStyle>
          <a:p>
            <a:pPr/>
            <a:r>
              <a:t>Stripe Official</a:t>
            </a:r>
          </a:p>
        </p:txBody>
      </p:sp>
      <p:sp>
        <p:nvSpPr>
          <p:cNvPr id="461" name="Text 8"/>
          <p:cNvSpPr txBox="1"/>
          <p:nvPr/>
        </p:nvSpPr>
        <p:spPr>
          <a:xfrm>
            <a:off x="2743199" y="1223921"/>
            <a:ext cx="5577842" cy="27707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20000"/>
              </a:lnSpc>
              <a:defRPr sz="900">
                <a:solidFill>
                  <a:srgbClr val="525F7F"/>
                </a:solidFill>
              </a:defRPr>
            </a:lvl1pPr>
          </a:lstStyle>
          <a:p>
            <a:pPr/>
            <a:r>
              <a:t>Sessions 2025 keynote &amp; AMA, Annual Letters (2023, 2024), Newsroom, Product docs, Atlas guides, Operating Principles page, Stripe Press catalog</a:t>
            </a:r>
          </a:p>
        </p:txBody>
      </p:sp>
      <p:sp>
        <p:nvSpPr>
          <p:cNvPr id="462" name="Text 10"/>
          <p:cNvSpPr txBox="1"/>
          <p:nvPr/>
        </p:nvSpPr>
        <p:spPr>
          <a:xfrm>
            <a:off x="822960" y="2026842"/>
            <a:ext cx="18288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1A1F36"/>
                </a:solidFill>
              </a:defRPr>
            </a:lvl1pPr>
          </a:lstStyle>
          <a:p>
            <a:pPr/>
            <a:r>
              <a:t>Claire Hughes Johnson</a:t>
            </a:r>
          </a:p>
        </p:txBody>
      </p:sp>
      <p:sp>
        <p:nvSpPr>
          <p:cNvPr id="463" name="Text 11"/>
          <p:cNvSpPr txBox="1"/>
          <p:nvPr/>
        </p:nvSpPr>
        <p:spPr>
          <a:xfrm>
            <a:off x="2743199" y="1955441"/>
            <a:ext cx="5577842" cy="27707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20000"/>
              </a:lnSpc>
              <a:defRPr sz="900">
                <a:solidFill>
                  <a:srgbClr val="525F7F"/>
                </a:solidFill>
              </a:defRPr>
            </a:lvl1pPr>
          </a:lstStyle>
          <a:p>
            <a:pPr/>
            <a:r>
              <a:t>Scaling People (2023), First Round Review interviews, High Growth Handbook, Lenny's Newsletter, McKinsey Author Talks, Fortune op-ed</a:t>
            </a:r>
          </a:p>
        </p:txBody>
      </p:sp>
      <p:sp>
        <p:nvSpPr>
          <p:cNvPr id="464" name="Text 13"/>
          <p:cNvSpPr txBox="1"/>
          <p:nvPr/>
        </p:nvSpPr>
        <p:spPr>
          <a:xfrm>
            <a:off x="822960" y="2758362"/>
            <a:ext cx="18288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1A1F36"/>
                </a:solidFill>
              </a:defRPr>
            </a:lvl1pPr>
          </a:lstStyle>
          <a:p>
            <a:pPr/>
            <a:r>
              <a:t>Patrick Collison</a:t>
            </a:r>
          </a:p>
        </p:txBody>
      </p:sp>
      <p:sp>
        <p:nvSpPr>
          <p:cNvPr id="465" name="Text 14"/>
          <p:cNvSpPr txBox="1"/>
          <p:nvPr/>
        </p:nvSpPr>
        <p:spPr>
          <a:xfrm>
            <a:off x="2743199" y="2686961"/>
            <a:ext cx="5577842" cy="27707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20000"/>
              </a:lnSpc>
              <a:defRPr sz="900">
                <a:solidFill>
                  <a:srgbClr val="525F7F"/>
                </a:solidFill>
              </a:defRPr>
            </a:lvl1pPr>
          </a:lstStyle>
          <a:p>
            <a:pPr/>
            <a:r>
              <a:t>Dwarkesh Podcast (Feb 2024), Knowledge Project / Farnam Street, UC Berkeley Haas Culture Kit, Retool Summit (Oct 2025), patrickcollison.com</a:t>
            </a:r>
          </a:p>
        </p:txBody>
      </p:sp>
      <p:sp>
        <p:nvSpPr>
          <p:cNvPr id="466" name="Text 16"/>
          <p:cNvSpPr txBox="1"/>
          <p:nvPr/>
        </p:nvSpPr>
        <p:spPr>
          <a:xfrm>
            <a:off x="822960" y="3489882"/>
            <a:ext cx="18288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1A1F36"/>
                </a:solidFill>
              </a:defRPr>
            </a:lvl1pPr>
          </a:lstStyle>
          <a:p>
            <a:pPr/>
            <a:r>
              <a:t>John Collison</a:t>
            </a:r>
          </a:p>
        </p:txBody>
      </p:sp>
      <p:sp>
        <p:nvSpPr>
          <p:cNvPr id="467" name="Text 17"/>
          <p:cNvSpPr txBox="1"/>
          <p:nvPr/>
        </p:nvSpPr>
        <p:spPr>
          <a:xfrm>
            <a:off x="2743199" y="3493516"/>
            <a:ext cx="557784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20000"/>
              </a:lnSpc>
              <a:defRPr sz="900">
                <a:solidFill>
                  <a:srgbClr val="525F7F"/>
                </a:solidFill>
              </a:defRPr>
            </a:lvl1pPr>
          </a:lstStyle>
          <a:p>
            <a:pPr/>
            <a:r>
              <a:t>CNBC Squawk Box (Feb 2025), Bloomberg Money Stuff (Oct 2024), Kleiner Perkins interview, Cheeky Pint podcast (host)</a:t>
            </a:r>
          </a:p>
        </p:txBody>
      </p:sp>
      <p:sp>
        <p:nvSpPr>
          <p:cNvPr id="468" name="Text 19"/>
          <p:cNvSpPr txBox="1"/>
          <p:nvPr/>
        </p:nvSpPr>
        <p:spPr>
          <a:xfrm>
            <a:off x="822960" y="4221402"/>
            <a:ext cx="182880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1A1F36"/>
                </a:solidFill>
              </a:defRPr>
            </a:lvl1pPr>
          </a:lstStyle>
          <a:p>
            <a:pPr/>
            <a:r>
              <a:t>Secondary Analysis</a:t>
            </a:r>
          </a:p>
        </p:txBody>
      </p:sp>
      <p:sp>
        <p:nvSpPr>
          <p:cNvPr id="469" name="Text 20"/>
          <p:cNvSpPr txBox="1"/>
          <p:nvPr/>
        </p:nvSpPr>
        <p:spPr>
          <a:xfrm>
            <a:off x="2743199" y="4150001"/>
            <a:ext cx="5577842" cy="27707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20000"/>
              </a:lnSpc>
              <a:defRPr sz="900">
                <a:solidFill>
                  <a:srgbClr val="525F7F"/>
                </a:solidFill>
              </a:defRPr>
            </a:lvl1pPr>
          </a:lstStyle>
          <a:p>
            <a:pPr/>
            <a:r>
              <a:t>Slab (writing culture), Pragmatic Engineer, Graham Mann, Tomasz Tunguz, Steve Cheney, SaaStr, OpenView, The Strategy Story</a:t>
            </a:r>
          </a:p>
        </p:txBody>
      </p:sp>
    </p:spTree>
  </p:cSld>
  <p:clrMapOvr>
    <a:masterClrMapping/>
  </p:clrMapOvr>
  <p:transition xmlns:p14="http://schemas.microsoft.com/office/powerpoint/2010/main" spd="med" advClick="1"/>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6F9FC"/>
        </a:solidFill>
      </p:bgPr>
    </p:bg>
    <p:spTree>
      <p:nvGrpSpPr>
        <p:cNvPr id="1" name=""/>
        <p:cNvGrpSpPr/>
        <p:nvPr/>
      </p:nvGrpSpPr>
      <p:grpSpPr>
        <a:xfrm>
          <a:off x="0" y="0"/>
          <a:ext cx="0" cy="0"/>
          <a:chOff x="0" y="0"/>
          <a:chExt cx="0" cy="0"/>
        </a:xfrm>
      </p:grpSpPr>
      <p:sp>
        <p:nvSpPr>
          <p:cNvPr id="471" name="Text 1"/>
          <p:cNvSpPr txBox="1"/>
          <p:nvPr/>
        </p:nvSpPr>
        <p:spPr>
          <a:xfrm>
            <a:off x="640079" y="298450"/>
            <a:ext cx="7863842"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200">
                <a:solidFill>
                  <a:srgbClr val="1A1F36"/>
                </a:solidFill>
                <a:latin typeface="Georgia"/>
                <a:ea typeface="Georgia"/>
                <a:cs typeface="Georgia"/>
                <a:sym typeface="Georgia"/>
              </a:defRPr>
            </a:lvl1pPr>
          </a:lstStyle>
          <a:p>
            <a:pPr/>
            <a:r>
              <a:t>Appendix B: Reference Documents Delivered</a:t>
            </a:r>
          </a:p>
        </p:txBody>
      </p:sp>
      <p:sp>
        <p:nvSpPr>
          <p:cNvPr id="472" name="Text 4"/>
          <p:cNvSpPr txBox="1"/>
          <p:nvPr/>
        </p:nvSpPr>
        <p:spPr>
          <a:xfrm>
            <a:off x="502919" y="4919761"/>
            <a:ext cx="8138162" cy="19601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800">
                <a:solidFill>
                  <a:srgbClr val="8898AA"/>
                </a:solidFill>
              </a:defRPr>
            </a:lvl1pPr>
          </a:lstStyle>
          <a:p>
            <a:pPr/>
            <a:r>
              <a:t>Stripe GTM Research  |  Cowork Mode Demo  |  February 2026</a:t>
            </a:r>
          </a:p>
        </p:txBody>
      </p:sp>
      <p:sp>
        <p:nvSpPr>
          <p:cNvPr id="473" name="Text 5"/>
          <p:cNvSpPr txBox="1"/>
          <p:nvPr/>
        </p:nvSpPr>
        <p:spPr>
          <a:xfrm>
            <a:off x="7818119" y="4789083"/>
            <a:ext cx="100584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8898AA"/>
                </a:solidFill>
              </a:defRPr>
            </a:lvl1pPr>
          </a:lstStyle>
          <a:p>
            <a:pPr/>
            <a:r>
              <a:t>31 / 34</a:t>
            </a:r>
          </a:p>
        </p:txBody>
      </p:sp>
      <p:sp>
        <p:nvSpPr>
          <p:cNvPr id="474" name="Text 8"/>
          <p:cNvSpPr txBox="1"/>
          <p:nvPr/>
        </p:nvSpPr>
        <p:spPr>
          <a:xfrm>
            <a:off x="868680" y="1170432"/>
            <a:ext cx="7452360" cy="27957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100">
                <a:solidFill>
                  <a:srgbClr val="1A1F36"/>
                </a:solidFill>
                <a:latin typeface="Consolas"/>
                <a:ea typeface="Consolas"/>
                <a:cs typeface="Consolas"/>
                <a:sym typeface="Consolas"/>
              </a:defRPr>
            </a:pPr>
            <a:r>
              <a:t>01_stripe_memo_culture_and_mental_models.md</a:t>
            </a:r>
          </a:p>
          <a:p>
            <a:pPr>
              <a:defRPr sz="900">
                <a:solidFill>
                  <a:srgbClr val="525F7F"/>
                </a:solidFill>
              </a:defRPr>
            </a:pPr>
            <a:r>
              <a:t>~900 lines  —  Memo formats, Trapdoor framework, writing culture, CHJ frameworks, operating principles, templates</a:t>
            </a:r>
          </a:p>
        </p:txBody>
      </p:sp>
      <p:sp>
        <p:nvSpPr>
          <p:cNvPr id="475" name="Text 11"/>
          <p:cNvSpPr txBox="1"/>
          <p:nvPr/>
        </p:nvSpPr>
        <p:spPr>
          <a:xfrm>
            <a:off x="868680" y="2084832"/>
            <a:ext cx="7452360" cy="27957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100">
                <a:solidFill>
                  <a:srgbClr val="1A1F36"/>
                </a:solidFill>
                <a:latin typeface="Consolas"/>
                <a:ea typeface="Consolas"/>
                <a:cs typeface="Consolas"/>
                <a:sym typeface="Consolas"/>
              </a:defRPr>
            </a:pPr>
            <a:r>
              <a:t>02_stripe_business_map.md</a:t>
            </a:r>
          </a:p>
          <a:p>
            <a:pPr>
              <a:defRPr sz="900">
                <a:solidFill>
                  <a:srgbClr val="525F7F"/>
                </a:solidFill>
              </a:defRPr>
            </a:pPr>
            <a:r>
              <a:t>~715 lines  —  30+ products across 4 tiers: core, side, nascent, infrastructure. Includes gaps analysis.</a:t>
            </a:r>
          </a:p>
        </p:txBody>
      </p:sp>
      <p:sp>
        <p:nvSpPr>
          <p:cNvPr id="476" name="Text 14"/>
          <p:cNvSpPr txBox="1"/>
          <p:nvPr/>
        </p:nvSpPr>
        <p:spPr>
          <a:xfrm>
            <a:off x="868680" y="2999232"/>
            <a:ext cx="7452360" cy="27957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100">
                <a:solidFill>
                  <a:srgbClr val="1A1F36"/>
                </a:solidFill>
                <a:latin typeface="Consolas"/>
                <a:ea typeface="Consolas"/>
                <a:cs typeface="Consolas"/>
                <a:sym typeface="Consolas"/>
              </a:defRPr>
            </a:pPr>
            <a:r>
              <a:t>03_collison_strategic_vision_and_transcripts.md</a:t>
            </a:r>
          </a:p>
          <a:p>
            <a:pPr>
              <a:defRPr sz="900">
                <a:solidFill>
                  <a:srgbClr val="525F7F"/>
                </a:solidFill>
              </a:defRPr>
            </a:pPr>
            <a:r>
              <a:t>~600 lines  —  Primary source extracts from 7+ interviews/keynotes with strategic quotes and themes</a:t>
            </a:r>
          </a:p>
        </p:txBody>
      </p:sp>
      <p:sp>
        <p:nvSpPr>
          <p:cNvPr id="477" name="Text 17"/>
          <p:cNvSpPr txBox="1"/>
          <p:nvPr/>
        </p:nvSpPr>
        <p:spPr>
          <a:xfrm>
            <a:off x="868680" y="3913632"/>
            <a:ext cx="7452360" cy="27957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100">
                <a:solidFill>
                  <a:srgbClr val="1A1F36"/>
                </a:solidFill>
                <a:latin typeface="Consolas"/>
                <a:ea typeface="Consolas"/>
                <a:cs typeface="Consolas"/>
                <a:sym typeface="Consolas"/>
              </a:defRPr>
            </a:pPr>
            <a:r>
              <a:t>04_obvious_customer_segment_growth_opportunities.md</a:t>
            </a:r>
          </a:p>
          <a:p>
            <a:pPr>
              <a:defRPr sz="900">
                <a:solidFill>
                  <a:srgbClr val="525F7F"/>
                </a:solidFill>
              </a:defRPr>
            </a:pPr>
            <a:r>
              <a:t>~400 lines  —  10 consensus opportunities scored 7–10/10 with Stripe activity levels and verdicts</a:t>
            </a:r>
          </a:p>
        </p:txBody>
      </p:sp>
      <p:sp>
        <p:nvSpPr>
          <p:cNvPr id="478" name="Text 18"/>
          <p:cNvSpPr txBox="1"/>
          <p:nvPr/>
        </p:nvSpPr>
        <p:spPr>
          <a:xfrm>
            <a:off x="685799" y="4276265"/>
            <a:ext cx="7772402" cy="2257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1100">
                <a:solidFill>
                  <a:srgbClr val="8898AA"/>
                </a:solidFill>
              </a:defRPr>
            </a:lvl1pPr>
          </a:lstStyle>
          <a:p>
            <a:pPr/>
            <a:r>
              <a:t>All files saved to your workspace folder alongside this presentation.</a:t>
            </a:r>
          </a:p>
        </p:txBody>
      </p:sp>
    </p:spTree>
  </p:cSld>
  <p:clrMapOvr>
    <a:masterClrMapping/>
  </p:clrMapOvr>
  <p:transition xmlns:p14="http://schemas.microsoft.com/office/powerpoint/2010/main" spd="med" advClick="1"/>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A1F36"/>
        </a:solidFill>
      </p:bgPr>
    </p:bg>
    <p:spTree>
      <p:nvGrpSpPr>
        <p:cNvPr id="1" name=""/>
        <p:cNvGrpSpPr/>
        <p:nvPr/>
      </p:nvGrpSpPr>
      <p:grpSpPr>
        <a:xfrm>
          <a:off x="0" y="0"/>
          <a:ext cx="0" cy="0"/>
          <a:chOff x="0" y="0"/>
          <a:chExt cx="0" cy="0"/>
        </a:xfrm>
      </p:grpSpPr>
      <p:sp>
        <p:nvSpPr>
          <p:cNvPr id="480" name="Text 0"/>
          <p:cNvSpPr txBox="1"/>
          <p:nvPr/>
        </p:nvSpPr>
        <p:spPr>
          <a:xfrm>
            <a:off x="640079" y="346710"/>
            <a:ext cx="7863842"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rgbClr val="FFFFFF"/>
                </a:solidFill>
                <a:latin typeface="Georgia"/>
                <a:ea typeface="Georgia"/>
                <a:cs typeface="Georgia"/>
                <a:sym typeface="Georgia"/>
              </a:defRPr>
            </a:lvl1pPr>
          </a:lstStyle>
          <a:p>
            <a:pPr/>
            <a:r>
              <a:t>Appendix C: Key Quotes for the Writing Assignment</a:t>
            </a:r>
          </a:p>
        </p:txBody>
      </p:sp>
      <p:sp>
        <p:nvSpPr>
          <p:cNvPr id="481" name="Text 2"/>
          <p:cNvSpPr txBox="1"/>
          <p:nvPr/>
        </p:nvSpPr>
        <p:spPr>
          <a:xfrm>
            <a:off x="868679" y="952753"/>
            <a:ext cx="6126482" cy="39878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0000"/>
              </a:lnSpc>
              <a:defRPr i="1" sz="1000">
                <a:solidFill>
                  <a:srgbClr val="F6F9FC"/>
                </a:solidFill>
                <a:latin typeface="Georgia"/>
                <a:ea typeface="Georgia"/>
                <a:cs typeface="Georgia"/>
                <a:sym typeface="Georgia"/>
              </a:defRPr>
            </a:lvl1pPr>
          </a:lstStyle>
          <a:p>
            <a:pPr/>
            <a:r>
              <a:t>“There are not one, but two, gale-force tailwinds, well off the Beaufort scale, dramatically reshaping the economic landscape around us: AI and stablecoins.”</a:t>
            </a:r>
          </a:p>
        </p:txBody>
      </p:sp>
      <p:sp>
        <p:nvSpPr>
          <p:cNvPr id="482" name="Text 3"/>
          <p:cNvSpPr txBox="1"/>
          <p:nvPr/>
        </p:nvSpPr>
        <p:spPr>
          <a:xfrm>
            <a:off x="7178039" y="990635"/>
            <a:ext cx="1097281" cy="3230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800">
                <a:solidFill>
                  <a:srgbClr val="8898AA"/>
                </a:solidFill>
              </a:defRPr>
            </a:lvl1pPr>
          </a:lstStyle>
          <a:p>
            <a:pPr/>
            <a:r>
              <a:t>Patrick Collison, Sessions 2025</a:t>
            </a:r>
          </a:p>
        </p:txBody>
      </p:sp>
      <p:sp>
        <p:nvSpPr>
          <p:cNvPr id="483" name="Text 5"/>
          <p:cNvSpPr txBox="1"/>
          <p:nvPr/>
        </p:nvSpPr>
        <p:spPr>
          <a:xfrm>
            <a:off x="868679" y="1694942"/>
            <a:ext cx="6126482"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0000"/>
              </a:lnSpc>
              <a:defRPr i="1" sz="1000">
                <a:solidFill>
                  <a:srgbClr val="F6F9FC"/>
                </a:solidFill>
                <a:latin typeface="Georgia"/>
                <a:ea typeface="Georgia"/>
                <a:cs typeface="Georgia"/>
                <a:sym typeface="Georgia"/>
              </a:defRPr>
            </a:lvl1pPr>
          </a:lstStyle>
          <a:p>
            <a:pPr/>
            <a:r>
              <a:t>“Stablecoins are room-temperature superconductors for financial services.”</a:t>
            </a:r>
          </a:p>
        </p:txBody>
      </p:sp>
      <p:sp>
        <p:nvSpPr>
          <p:cNvPr id="484" name="Text 6"/>
          <p:cNvSpPr txBox="1"/>
          <p:nvPr/>
        </p:nvSpPr>
        <p:spPr>
          <a:xfrm>
            <a:off x="7178039" y="1649003"/>
            <a:ext cx="1097281" cy="3230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800">
                <a:solidFill>
                  <a:srgbClr val="8898AA"/>
                </a:solidFill>
              </a:defRPr>
            </a:lvl1pPr>
          </a:lstStyle>
          <a:p>
            <a:pPr/>
            <a:r>
              <a:t>Patrick Collison, 2024 Annual Letter</a:t>
            </a:r>
          </a:p>
        </p:txBody>
      </p:sp>
      <p:sp>
        <p:nvSpPr>
          <p:cNvPr id="485" name="Text 8"/>
          <p:cNvSpPr txBox="1"/>
          <p:nvPr/>
        </p:nvSpPr>
        <p:spPr>
          <a:xfrm>
            <a:off x="868679" y="2353310"/>
            <a:ext cx="6126482"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0000"/>
              </a:lnSpc>
              <a:defRPr i="1" sz="1000">
                <a:solidFill>
                  <a:srgbClr val="F6F9FC"/>
                </a:solidFill>
                <a:latin typeface="Georgia"/>
                <a:ea typeface="Georgia"/>
                <a:cs typeface="Georgia"/>
                <a:sym typeface="Georgia"/>
              </a:defRPr>
            </a:lvl1pPr>
          </a:lstStyle>
          <a:p>
            <a:pPr/>
            <a:r>
              <a:t>“Increase the GDP of the internet is our mission statement but also, importantly, our strategy.”</a:t>
            </a:r>
          </a:p>
        </p:txBody>
      </p:sp>
      <p:sp>
        <p:nvSpPr>
          <p:cNvPr id="486" name="Text 9"/>
          <p:cNvSpPr txBox="1"/>
          <p:nvPr/>
        </p:nvSpPr>
        <p:spPr>
          <a:xfrm>
            <a:off x="7178039" y="2370871"/>
            <a:ext cx="1097281" cy="1960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800">
                <a:solidFill>
                  <a:srgbClr val="8898AA"/>
                </a:solidFill>
              </a:defRPr>
            </a:lvl1pPr>
          </a:lstStyle>
          <a:p>
            <a:pPr/>
            <a:r>
              <a:t>Patrick Collison</a:t>
            </a:r>
          </a:p>
        </p:txBody>
      </p:sp>
      <p:sp>
        <p:nvSpPr>
          <p:cNvPr id="487" name="Text 11"/>
          <p:cNvSpPr txBox="1"/>
          <p:nvPr/>
        </p:nvSpPr>
        <p:spPr>
          <a:xfrm>
            <a:off x="868679" y="3011678"/>
            <a:ext cx="6126482"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0000"/>
              </a:lnSpc>
              <a:defRPr i="1" sz="1000">
                <a:solidFill>
                  <a:srgbClr val="F6F9FC"/>
                </a:solidFill>
                <a:latin typeface="Georgia"/>
                <a:ea typeface="Georgia"/>
                <a:cs typeface="Georgia"/>
                <a:sym typeface="Georgia"/>
              </a:defRPr>
            </a:lvl1pPr>
          </a:lstStyle>
          <a:p>
            <a:pPr/>
            <a:r>
              <a:t>“If you can make twice as many decisions at half the precision, that’s often better.”</a:t>
            </a:r>
          </a:p>
        </p:txBody>
      </p:sp>
      <p:sp>
        <p:nvSpPr>
          <p:cNvPr id="488" name="Text 12"/>
          <p:cNvSpPr txBox="1"/>
          <p:nvPr/>
        </p:nvSpPr>
        <p:spPr>
          <a:xfrm>
            <a:off x="7178039" y="2965739"/>
            <a:ext cx="1097281" cy="3230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800">
                <a:solidFill>
                  <a:srgbClr val="8898AA"/>
                </a:solidFill>
              </a:defRPr>
            </a:lvl1pPr>
          </a:lstStyle>
          <a:p>
            <a:pPr/>
            <a:r>
              <a:t>Patrick Collison, Knowledge Project</a:t>
            </a:r>
          </a:p>
        </p:txBody>
      </p:sp>
      <p:sp>
        <p:nvSpPr>
          <p:cNvPr id="489" name="Text 14"/>
          <p:cNvSpPr txBox="1"/>
          <p:nvPr/>
        </p:nvSpPr>
        <p:spPr>
          <a:xfrm>
            <a:off x="868679" y="3670046"/>
            <a:ext cx="6126482"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0000"/>
              </a:lnSpc>
              <a:defRPr i="1" sz="1000">
                <a:solidFill>
                  <a:srgbClr val="F6F9FC"/>
                </a:solidFill>
                <a:latin typeface="Georgia"/>
                <a:ea typeface="Georgia"/>
                <a:cs typeface="Georgia"/>
                <a:sym typeface="Georgia"/>
              </a:defRPr>
            </a:lvl1pPr>
          </a:lstStyle>
          <a:p>
            <a:pPr/>
            <a:r>
              <a:t>“Not distributing decision-making is a secret killer of companies.”</a:t>
            </a:r>
          </a:p>
        </p:txBody>
      </p:sp>
      <p:sp>
        <p:nvSpPr>
          <p:cNvPr id="490" name="Text 15"/>
          <p:cNvSpPr txBox="1"/>
          <p:nvPr/>
        </p:nvSpPr>
        <p:spPr>
          <a:xfrm>
            <a:off x="7178039" y="3687607"/>
            <a:ext cx="1097281" cy="1960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800">
                <a:solidFill>
                  <a:srgbClr val="8898AA"/>
                </a:solidFill>
              </a:defRPr>
            </a:lvl1pPr>
          </a:lstStyle>
          <a:p>
            <a:pPr/>
            <a:r>
              <a:t>Claire Hughes Johnson</a:t>
            </a:r>
          </a:p>
        </p:txBody>
      </p:sp>
      <p:sp>
        <p:nvSpPr>
          <p:cNvPr id="491" name="Text 17"/>
          <p:cNvSpPr txBox="1"/>
          <p:nvPr/>
        </p:nvSpPr>
        <p:spPr>
          <a:xfrm>
            <a:off x="868679" y="4328414"/>
            <a:ext cx="6126482"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0000"/>
              </a:lnSpc>
              <a:defRPr i="1" sz="1000">
                <a:solidFill>
                  <a:srgbClr val="F6F9FC"/>
                </a:solidFill>
                <a:latin typeface="Georgia"/>
                <a:ea typeface="Georgia"/>
                <a:cs typeface="Georgia"/>
                <a:sym typeface="Georgia"/>
              </a:defRPr>
            </a:lvl1pPr>
          </a:lstStyle>
          <a:p>
            <a:pPr/>
            <a:r>
              <a:t>“One person can now build a financial business in one evening.”</a:t>
            </a:r>
          </a:p>
        </p:txBody>
      </p:sp>
      <p:sp>
        <p:nvSpPr>
          <p:cNvPr id="492" name="Text 18"/>
          <p:cNvSpPr txBox="1"/>
          <p:nvPr/>
        </p:nvSpPr>
        <p:spPr>
          <a:xfrm>
            <a:off x="7178039" y="4282475"/>
            <a:ext cx="1097281" cy="3230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800">
                <a:solidFill>
                  <a:srgbClr val="8898AA"/>
                </a:solidFill>
              </a:defRPr>
            </a:lvl1pPr>
          </a:lstStyle>
          <a:p>
            <a:pPr/>
            <a:r>
              <a:t>Patrick Collison, Sessions 2025</a:t>
            </a:r>
          </a:p>
        </p:txBody>
      </p:sp>
      <p:sp>
        <p:nvSpPr>
          <p:cNvPr id="493" name="Text 19"/>
          <p:cNvSpPr txBox="1"/>
          <p:nvPr/>
        </p:nvSpPr>
        <p:spPr>
          <a:xfrm>
            <a:off x="685799" y="4594904"/>
            <a:ext cx="7772402"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1000">
                <a:solidFill>
                  <a:srgbClr val="635BFF"/>
                </a:solidFill>
              </a:defRPr>
            </a:lvl1pPr>
          </a:lstStyle>
          <a:p>
            <a:pPr/>
            <a:r>
              <a:t>Use these quotes to anchor your memo in Stripe's own language and frameworks.</a:t>
            </a:r>
          </a:p>
        </p:txBody>
      </p:sp>
      <p:sp>
        <p:nvSpPr>
          <p:cNvPr id="494" name="Text 20"/>
          <p:cNvSpPr txBox="1"/>
          <p:nvPr/>
        </p:nvSpPr>
        <p:spPr>
          <a:xfrm>
            <a:off x="7818119" y="4789083"/>
            <a:ext cx="100584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8898AA"/>
                </a:solidFill>
              </a:defRPr>
            </a:lvl1pPr>
          </a:lstStyle>
          <a:p>
            <a:pPr/>
            <a:r>
              <a:t>32 / 34</a:t>
            </a:r>
          </a:p>
        </p:txBody>
      </p:sp>
    </p:spTree>
  </p:cSld>
  <p:clrMapOvr>
    <a:masterClrMapping/>
  </p:clrMapOvr>
  <p:transition xmlns:p14="http://schemas.microsoft.com/office/powerpoint/2010/main" spd="med" advClick="1"/>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6F9FC"/>
        </a:solidFill>
      </p:bgPr>
    </p:bg>
    <p:spTree>
      <p:nvGrpSpPr>
        <p:cNvPr id="1" name=""/>
        <p:cNvGrpSpPr/>
        <p:nvPr/>
      </p:nvGrpSpPr>
      <p:grpSpPr>
        <a:xfrm>
          <a:off x="0" y="0"/>
          <a:ext cx="0" cy="0"/>
          <a:chOff x="0" y="0"/>
          <a:chExt cx="0" cy="0"/>
        </a:xfrm>
      </p:grpSpPr>
      <p:sp>
        <p:nvSpPr>
          <p:cNvPr id="496" name="Text 1"/>
          <p:cNvSpPr txBox="1"/>
          <p:nvPr/>
        </p:nvSpPr>
        <p:spPr>
          <a:xfrm>
            <a:off x="640079" y="298450"/>
            <a:ext cx="7863842"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200">
                <a:solidFill>
                  <a:srgbClr val="1A1F36"/>
                </a:solidFill>
                <a:latin typeface="Georgia"/>
                <a:ea typeface="Georgia"/>
                <a:cs typeface="Georgia"/>
                <a:sym typeface="Georgia"/>
              </a:defRPr>
            </a:lvl1pPr>
          </a:lstStyle>
          <a:p>
            <a:pPr/>
            <a:r>
              <a:t>Next Steps for the Writing Assignment</a:t>
            </a:r>
          </a:p>
        </p:txBody>
      </p:sp>
      <p:sp>
        <p:nvSpPr>
          <p:cNvPr id="497" name="Text 4"/>
          <p:cNvSpPr txBox="1"/>
          <p:nvPr/>
        </p:nvSpPr>
        <p:spPr>
          <a:xfrm>
            <a:off x="502919" y="4919761"/>
            <a:ext cx="8138162" cy="19601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800">
                <a:solidFill>
                  <a:srgbClr val="8898AA"/>
                </a:solidFill>
              </a:defRPr>
            </a:lvl1pPr>
          </a:lstStyle>
          <a:p>
            <a:pPr/>
            <a:r>
              <a:t>Stripe GTM Research  |  Cowork Mode Demo  |  February 2026</a:t>
            </a:r>
          </a:p>
        </p:txBody>
      </p:sp>
      <p:sp>
        <p:nvSpPr>
          <p:cNvPr id="498" name="Text 5"/>
          <p:cNvSpPr txBox="1"/>
          <p:nvPr/>
        </p:nvSpPr>
        <p:spPr>
          <a:xfrm>
            <a:off x="7818119" y="4789083"/>
            <a:ext cx="100584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8898AA"/>
                </a:solidFill>
              </a:defRPr>
            </a:lvl1pPr>
          </a:lstStyle>
          <a:p>
            <a:pPr/>
            <a:r>
              <a:t>33 / 34</a:t>
            </a:r>
          </a:p>
        </p:txBody>
      </p:sp>
      <p:sp>
        <p:nvSpPr>
          <p:cNvPr id="499" name="Text 6"/>
          <p:cNvSpPr txBox="1"/>
          <p:nvPr/>
        </p:nvSpPr>
        <p:spPr>
          <a:xfrm>
            <a:off x="640080" y="1051560"/>
            <a:ext cx="457201"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635BFF"/>
                </a:solidFill>
                <a:latin typeface="Georgia"/>
                <a:ea typeface="Georgia"/>
                <a:cs typeface="Georgia"/>
                <a:sym typeface="Georgia"/>
              </a:defRPr>
            </a:lvl1pPr>
          </a:lstStyle>
          <a:p>
            <a:pPr/>
            <a:r>
              <a:t>01</a:t>
            </a:r>
          </a:p>
        </p:txBody>
      </p:sp>
      <p:sp>
        <p:nvSpPr>
          <p:cNvPr id="500" name="Text 7"/>
          <p:cNvSpPr txBox="1"/>
          <p:nvPr/>
        </p:nvSpPr>
        <p:spPr>
          <a:xfrm>
            <a:off x="1280160" y="1051560"/>
            <a:ext cx="7315201" cy="3402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300">
                <a:solidFill>
                  <a:srgbClr val="1A1F36"/>
                </a:solidFill>
              </a:defRPr>
            </a:pPr>
            <a:r>
              <a:t>Choose your opportunity</a:t>
            </a:r>
          </a:p>
          <a:p>
            <a:pPr>
              <a:defRPr sz="1000">
                <a:solidFill>
                  <a:srgbClr val="525F7F"/>
                </a:solidFill>
              </a:defRPr>
            </a:pPr>
            <a:r>
              <a:t>Contractor Payment Compliance and Compliance Intelligence scored highest. Programmable Escrow is the most “Stripe-like.”</a:t>
            </a:r>
          </a:p>
        </p:txBody>
      </p:sp>
      <p:sp>
        <p:nvSpPr>
          <p:cNvPr id="501" name="Text 9"/>
          <p:cNvSpPr txBox="1"/>
          <p:nvPr/>
        </p:nvSpPr>
        <p:spPr>
          <a:xfrm>
            <a:off x="640080" y="1764792"/>
            <a:ext cx="457201"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635BFF"/>
                </a:solidFill>
                <a:latin typeface="Georgia"/>
                <a:ea typeface="Georgia"/>
                <a:cs typeface="Georgia"/>
                <a:sym typeface="Georgia"/>
              </a:defRPr>
            </a:lvl1pPr>
          </a:lstStyle>
          <a:p>
            <a:pPr/>
            <a:r>
              <a:t>02</a:t>
            </a:r>
          </a:p>
        </p:txBody>
      </p:sp>
      <p:sp>
        <p:nvSpPr>
          <p:cNvPr id="502" name="Text 10"/>
          <p:cNvSpPr txBox="1"/>
          <p:nvPr/>
        </p:nvSpPr>
        <p:spPr>
          <a:xfrm>
            <a:off x="1280160" y="1764792"/>
            <a:ext cx="7315201" cy="3402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300">
                <a:solidFill>
                  <a:srgbClr val="1A1F36"/>
                </a:solidFill>
              </a:defRPr>
            </a:pPr>
            <a:r>
              <a:t>Write in Stripe's memo format</a:t>
            </a:r>
          </a:p>
          <a:p>
            <a:pPr>
              <a:defRPr sz="1000">
                <a:solidFill>
                  <a:srgbClr val="525F7F"/>
                </a:solidFill>
              </a:defRPr>
            </a:pPr>
            <a:r>
              <a:t>Problem Statement → Proposed Solution → Open Questions → Supporting Context. Narrative prose, not slides.</a:t>
            </a:r>
          </a:p>
        </p:txBody>
      </p:sp>
      <p:sp>
        <p:nvSpPr>
          <p:cNvPr id="503" name="Text 12"/>
          <p:cNvSpPr txBox="1"/>
          <p:nvPr/>
        </p:nvSpPr>
        <p:spPr>
          <a:xfrm>
            <a:off x="640080" y="2478023"/>
            <a:ext cx="457201"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635BFF"/>
                </a:solidFill>
                <a:latin typeface="Georgia"/>
                <a:ea typeface="Georgia"/>
                <a:cs typeface="Georgia"/>
                <a:sym typeface="Georgia"/>
              </a:defRPr>
            </a:lvl1pPr>
          </a:lstStyle>
          <a:p>
            <a:pPr/>
            <a:r>
              <a:t>03</a:t>
            </a:r>
          </a:p>
        </p:txBody>
      </p:sp>
      <p:sp>
        <p:nvSpPr>
          <p:cNvPr id="504" name="Text 13"/>
          <p:cNvSpPr txBox="1"/>
          <p:nvPr/>
        </p:nvSpPr>
        <p:spPr>
          <a:xfrm>
            <a:off x="1280160" y="2478023"/>
            <a:ext cx="7315201" cy="3402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300">
                <a:solidFill>
                  <a:srgbClr val="1A1F36"/>
                </a:solidFill>
              </a:defRPr>
            </a:pPr>
            <a:r>
              <a:t>Apply the Trapdoor framework</a:t>
            </a:r>
          </a:p>
          <a:p>
            <a:pPr>
              <a:defRPr sz="1000">
                <a:solidFill>
                  <a:srgbClr val="525F7F"/>
                </a:solidFill>
              </a:defRPr>
            </a:pPr>
            <a:r>
              <a:t>Frame your recommendation's reversibility and impact. Show you understand how Stripe evaluates bets.</a:t>
            </a:r>
          </a:p>
        </p:txBody>
      </p:sp>
      <p:sp>
        <p:nvSpPr>
          <p:cNvPr id="505" name="Text 15"/>
          <p:cNvSpPr txBox="1"/>
          <p:nvPr/>
        </p:nvSpPr>
        <p:spPr>
          <a:xfrm>
            <a:off x="640080" y="3191255"/>
            <a:ext cx="457201"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635BFF"/>
                </a:solidFill>
                <a:latin typeface="Georgia"/>
                <a:ea typeface="Georgia"/>
                <a:cs typeface="Georgia"/>
                <a:sym typeface="Georgia"/>
              </a:defRPr>
            </a:lvl1pPr>
          </a:lstStyle>
          <a:p>
            <a:pPr/>
            <a:r>
              <a:t>04</a:t>
            </a:r>
          </a:p>
        </p:txBody>
      </p:sp>
      <p:sp>
        <p:nvSpPr>
          <p:cNvPr id="506" name="Text 16"/>
          <p:cNvSpPr txBox="1"/>
          <p:nvPr/>
        </p:nvSpPr>
        <p:spPr>
          <a:xfrm>
            <a:off x="1280160" y="3191255"/>
            <a:ext cx="7315201" cy="3402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300">
                <a:solidFill>
                  <a:srgbClr val="1A1F36"/>
                </a:solidFill>
              </a:defRPr>
            </a:pPr>
            <a:r>
              <a:t>Stress-test against the exclusion zone</a:t>
            </a:r>
          </a:p>
          <a:p>
            <a:pPr>
              <a:defRPr sz="1000">
                <a:solidFill>
                  <a:srgbClr val="525F7F"/>
                </a:solidFill>
              </a:defRPr>
            </a:pPr>
            <a:r>
              <a:t>If a Stripe PM would say “that’s already Q3 roadmap,” go back to step 1.</a:t>
            </a:r>
          </a:p>
        </p:txBody>
      </p:sp>
      <p:sp>
        <p:nvSpPr>
          <p:cNvPr id="507" name="Text 18"/>
          <p:cNvSpPr txBox="1"/>
          <p:nvPr/>
        </p:nvSpPr>
        <p:spPr>
          <a:xfrm>
            <a:off x="640080" y="3904488"/>
            <a:ext cx="457201"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635BFF"/>
                </a:solidFill>
                <a:latin typeface="Georgia"/>
                <a:ea typeface="Georgia"/>
                <a:cs typeface="Georgia"/>
                <a:sym typeface="Georgia"/>
              </a:defRPr>
            </a:lvl1pPr>
          </a:lstStyle>
          <a:p>
            <a:pPr/>
            <a:r>
              <a:t>05</a:t>
            </a:r>
          </a:p>
        </p:txBody>
      </p:sp>
      <p:sp>
        <p:nvSpPr>
          <p:cNvPr id="508" name="Text 19"/>
          <p:cNvSpPr txBox="1"/>
          <p:nvPr/>
        </p:nvSpPr>
        <p:spPr>
          <a:xfrm>
            <a:off x="1280160" y="3904488"/>
            <a:ext cx="7315201" cy="3402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300">
                <a:solidFill>
                  <a:srgbClr val="1A1F36"/>
                </a:solidFill>
              </a:defRPr>
            </a:pPr>
            <a:r>
              <a:t>Anchor in Collison language</a:t>
            </a:r>
          </a:p>
          <a:p>
            <a:pPr>
              <a:defRPr sz="1000">
                <a:solidFill>
                  <a:srgbClr val="525F7F"/>
                </a:solidFill>
              </a:defRPr>
            </a:pPr>
            <a:r>
              <a:t>Use “increase the GDP of the internet,” “remove friction,” and “enable activity that wouldn’t otherwise happen.”</a:t>
            </a:r>
          </a:p>
        </p:txBody>
      </p:sp>
    </p:spTree>
  </p:cSld>
  <p:clrMapOvr>
    <a:masterClrMapping/>
  </p:clrMapOvr>
  <p:transition xmlns:p14="http://schemas.microsoft.com/office/powerpoint/2010/main" spd="med" advClick="1"/>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A1F36"/>
        </a:solidFill>
      </p:bgPr>
    </p:bg>
    <p:spTree>
      <p:nvGrpSpPr>
        <p:cNvPr id="1" name=""/>
        <p:cNvGrpSpPr/>
        <p:nvPr/>
      </p:nvGrpSpPr>
      <p:grpSpPr>
        <a:xfrm>
          <a:off x="0" y="0"/>
          <a:ext cx="0" cy="0"/>
          <a:chOff x="0" y="0"/>
          <a:chExt cx="0" cy="0"/>
        </a:xfrm>
      </p:grpSpPr>
      <p:sp>
        <p:nvSpPr>
          <p:cNvPr id="510" name="Text 0"/>
          <p:cNvSpPr txBox="1"/>
          <p:nvPr/>
        </p:nvSpPr>
        <p:spPr>
          <a:xfrm>
            <a:off x="640079" y="1568450"/>
            <a:ext cx="7863842" cy="520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600">
                <a:solidFill>
                  <a:srgbClr val="FFFFFF"/>
                </a:solidFill>
                <a:latin typeface="Georgia"/>
                <a:ea typeface="Georgia"/>
                <a:cs typeface="Georgia"/>
                <a:sym typeface="Georgia"/>
              </a:defRPr>
            </a:lvl1pPr>
          </a:lstStyle>
          <a:p>
            <a:pPr/>
            <a:r>
              <a:t>Good luck to your friend.</a:t>
            </a:r>
          </a:p>
        </p:txBody>
      </p:sp>
      <p:sp>
        <p:nvSpPr>
          <p:cNvPr id="511" name="Text 2"/>
          <p:cNvSpPr txBox="1"/>
          <p:nvPr/>
        </p:nvSpPr>
        <p:spPr>
          <a:xfrm>
            <a:off x="640079" y="2831400"/>
            <a:ext cx="7863842"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8898AA"/>
                </a:solidFill>
              </a:defRPr>
            </a:lvl1pPr>
          </a:lstStyle>
          <a:p>
            <a:pPr/>
            <a:r>
              <a:t>Built with Claude Cowork  ·  February 2026</a:t>
            </a:r>
          </a:p>
        </p:txBody>
      </p:sp>
      <p:sp>
        <p:nvSpPr>
          <p:cNvPr id="512" name="Text 3"/>
          <p:cNvSpPr txBox="1"/>
          <p:nvPr/>
        </p:nvSpPr>
        <p:spPr>
          <a:xfrm>
            <a:off x="7818119" y="4789083"/>
            <a:ext cx="100584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8898AA"/>
                </a:solidFill>
              </a:defRPr>
            </a:lvl1pPr>
          </a:lstStyle>
          <a:p>
            <a:pPr/>
            <a:r>
              <a:t>34 / 34</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